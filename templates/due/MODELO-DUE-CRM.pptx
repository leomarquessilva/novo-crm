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4" r:id="rId2"/>
    <p:sldId id="904" r:id="rId3"/>
    <p:sldId id="833" r:id="rId4"/>
    <p:sldId id="905" r:id="rId5"/>
    <p:sldId id="954" r:id="rId6"/>
    <p:sldId id="947" r:id="rId7"/>
    <p:sldId id="449" r:id="rId8"/>
    <p:sldId id="937" r:id="rId9"/>
    <p:sldId id="942" r:id="rId10"/>
    <p:sldId id="943" r:id="rId11"/>
    <p:sldId id="944" r:id="rId12"/>
    <p:sldId id="945" r:id="rId13"/>
    <p:sldId id="509" r:id="rId14"/>
    <p:sldId id="918" r:id="rId15"/>
    <p:sldId id="931" r:id="rId16"/>
    <p:sldId id="955" r:id="rId32"/>
    <p:sldId id="263" r:id="rId17"/>
    <p:sldId id="935" r:id="rId18"/>
    <p:sldId id="406" r:id="rId19"/>
    <p:sldId id="928" r:id="rId20"/>
    <p:sldId id="407" r:id="rId21"/>
    <p:sldId id="936" r:id="rId22"/>
    <p:sldId id="951" r:id="rId23"/>
    <p:sldId id="952" r:id="rId24"/>
    <p:sldId id="286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E00256-800D-3799-93CC-7DFCD8F21AAF}" name="Renato Rossetti Vallim de Castro" initials="Rd" userId="S::renato@bpplaw.com.br::0a04a27b-66a2-4c78-a7ba-4dd60c8daad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8/10/relationships/authors" Target="authors.xml"/><Relationship Id="rId32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101F2E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1F2E"/>
              </a:solidFill>
              <a:ln w="9525" cap="flat" cmpd="sng" algn="ctr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093-4285-A1FC-61A5D609E77F}"/>
              </c:ext>
            </c:extLst>
          </c:dPt>
          <c:dPt>
            <c:idx val="1"/>
            <c:invertIfNegative val="0"/>
            <c:bubble3D val="0"/>
            <c:spPr>
              <a:solidFill>
                <a:srgbClr val="101F2E"/>
              </a:solidFill>
              <a:ln w="9525" cap="flat" cmpd="sng" algn="ctr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093-4285-A1FC-61A5D609E77F}"/>
              </c:ext>
            </c:extLst>
          </c:dPt>
          <c:dPt>
            <c:idx val="2"/>
            <c:invertIfNegative val="0"/>
            <c:bubble3D val="0"/>
            <c:spPr>
              <a:solidFill>
                <a:srgbClr val="101F2E"/>
              </a:solidFill>
              <a:ln w="9525" cap="flat" cmpd="sng" algn="ctr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8093-4285-A1FC-61A5D609E77F}"/>
              </c:ext>
            </c:extLst>
          </c:dPt>
          <c:dPt>
            <c:idx val="3"/>
            <c:invertIfNegative val="0"/>
            <c:bubble3D val="0"/>
            <c:spPr>
              <a:solidFill>
                <a:srgbClr val="101F2E"/>
              </a:solidFill>
              <a:ln w="9525" cap="flat" cmpd="sng" algn="ctr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8093-4285-A1FC-61A5D609E77F}"/>
              </c:ext>
            </c:extLst>
          </c:dPt>
          <c:dPt>
            <c:idx val="4"/>
            <c:invertIfNegative val="0"/>
            <c:bubble3D val="0"/>
            <c:spPr>
              <a:solidFill>
                <a:srgbClr val="101F2E"/>
              </a:solidFill>
              <a:ln w="9525" cap="flat" cmpd="sng" algn="ctr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8093-4285-A1FC-61A5D609E77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1D3957D-45A0-49BB-AC83-39A430542314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[VALOR]</a:t>
                    </a:fld>
                    <a:endParaRPr lang="pt-BR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093-4285-A1FC-61A5D609E77F}"/>
                </c:ext>
              </c:extLst>
            </c:dLbl>
            <c:dLbl>
              <c:idx val="3"/>
              <c:layout>
                <c:manualLayout>
                  <c:x val="-8.17563901943449E-2"/>
                  <c:y val="-6.174916419832137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093-4285-A1FC-61A5D609E77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highlight>
                      <a:srgbClr val="D5B170"/>
                    </a:highlight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Planilha1!$A$2:$A$6</c:f>
              <c:strCache>
                <c:ptCount val="5"/>
                <c:pt idx="0">
                  <c:v>EXECUCAO DE TITULO EXTRAJUDICIAL</c:v>
                </c:pt>
                <c:pt idx="1">
                  <c:v>INCIDENTE DE DESCONSIDERACAO DE PERSONALIDADE JURIDICA</c:v>
                </c:pt>
                <c:pt idx="2">
                  <c:v>AÇÃO DE COBRANÇA</c:v>
                </c:pt>
                <c:pt idx="3">
                  <c:v>CUMPRIMENTO DE SENTENCA</c:v>
                </c:pt>
                <c:pt idx="4">
                  <c:v>MONITORIA</c:v>
                </c:pt>
              </c:strCache>
            </c:strRef>
          </c:cat>
          <c:val>
            <c:numRef>
              <c:f>Planilha1!$B$2:$B$6</c:f>
              <c:numCache>
                <c:formatCode>_("R$"* #,##0.00_);_("R$"* \(#,##0.00\);_("R$"* "-"??_);_(@_)</c:formatCode>
                <c:ptCount val="5"/>
                <c:pt idx="0">
                  <c:v>5867.23</c:v>
                </c:pt>
                <c:pt idx="1">
                  <c:v>11182.39</c:v>
                </c:pt>
                <c:pt idx="2">
                  <c:v>60377.46</c:v>
                </c:pt>
                <c:pt idx="3">
                  <c:v>105268.2</c:v>
                </c:pt>
                <c:pt idx="4">
                  <c:v>206593.16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093-4285-A1FC-61A5D609E77F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Planilha1!$A$2:$A$6</c:f>
              <c:strCache>
                <c:ptCount val="5"/>
                <c:pt idx="0">
                  <c:v>EXECUCAO DE TITULO EXTRAJUDICIAL</c:v>
                </c:pt>
                <c:pt idx="1">
                  <c:v>INCIDENTE DE DESCONSIDERACAO DE PERSONALIDADE JURIDICA</c:v>
                </c:pt>
                <c:pt idx="2">
                  <c:v>AÇÃO DE COBRANÇA</c:v>
                </c:pt>
                <c:pt idx="3">
                  <c:v>CUMPRIMENTO DE SENTENCA</c:v>
                </c:pt>
                <c:pt idx="4">
                  <c:v>MONITORIA</c:v>
                </c:pt>
              </c:strCache>
            </c:strRef>
          </c:cat>
          <c:val>
            <c:numRef>
              <c:f>Planilha1!$C$2:$C$6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9A-4039-B8D0-C06A9EC0B25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-20"/>
        <c:axId val="1805855776"/>
        <c:axId val="1442875983"/>
      </c:barChart>
      <c:catAx>
        <c:axId val="18058557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442875983"/>
        <c:crosses val="autoZero"/>
        <c:auto val="1"/>
        <c:lblAlgn val="ctr"/>
        <c:lblOffset val="100"/>
        <c:noMultiLvlLbl val="0"/>
      </c:catAx>
      <c:valAx>
        <c:axId val="1442875983"/>
        <c:scaling>
          <c:orientation val="minMax"/>
        </c:scaling>
        <c:delete val="1"/>
        <c:axPos val="b"/>
        <c:numFmt formatCode="_(&quot;R$&quot;* #,##0.00_);_(&quot;R$&quot;* \(#,##0.00\);_(&quot;R$&quot;* &quot;-&quot;??_);_(@_)" sourceLinked="1"/>
        <c:majorTickMark val="none"/>
        <c:minorTickMark val="none"/>
        <c:tickLblPos val="nextTo"/>
        <c:crossAx val="1805855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6364761973676801E-2"/>
          <c:y val="0"/>
          <c:w val="0.41588235767063042"/>
          <c:h val="0.6389786743222915"/>
        </c:manualLayout>
      </c:layout>
      <c:doughnut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Vendas</c:v>
                </c:pt>
              </c:strCache>
            </c:strRef>
          </c:tx>
          <c:dPt>
            <c:idx val="0"/>
            <c:bubble3D val="0"/>
            <c:spPr>
              <a:solidFill>
                <a:srgbClr val="17446B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C38-432D-9E45-3203F7762EB6}"/>
              </c:ext>
            </c:extLst>
          </c:dPt>
          <c:dPt>
            <c:idx val="1"/>
            <c:bubble3D val="0"/>
            <c:spPr>
              <a:solidFill>
                <a:srgbClr val="2E78B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C38-432D-9E45-3203F7762EB6}"/>
              </c:ext>
            </c:extLst>
          </c:dPt>
          <c:dPt>
            <c:idx val="2"/>
            <c:bubble3D val="0"/>
            <c:spPr>
              <a:solidFill>
                <a:srgbClr val="7AAFD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C38-432D-9E45-3203F7762EB6}"/>
              </c:ext>
            </c:extLst>
          </c:dPt>
          <c:dPt>
            <c:idx val="3"/>
            <c:bubble3D val="0"/>
            <c:spPr>
              <a:solidFill>
                <a:srgbClr val="BDD1E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EC38-432D-9E45-3203F7762EB6}"/>
              </c:ext>
            </c:extLst>
          </c:dPt>
          <c:dPt>
            <c:idx val="4"/>
            <c:bubble3D val="0"/>
            <c:spPr>
              <a:solidFill>
                <a:srgbClr val="D3D8DE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EC38-432D-9E45-3203F7762EB6}"/>
              </c:ext>
            </c:extLst>
          </c:dPt>
          <c:dLbls>
            <c:numFmt formatCode="0%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Planilha1!$A$2:$A$6</c:f>
              <c:strCache>
                <c:ptCount val="5"/>
                <c:pt idx="0">
                  <c:v>Até R$ 50mil</c:v>
                </c:pt>
                <c:pt idx="1">
                  <c:v>R$ 50 mil a R$ 100 mil</c:v>
                </c:pt>
                <c:pt idx="2">
                  <c:v>R$ 100 mil a R$ 500 mil</c:v>
                </c:pt>
                <c:pt idx="3">
                  <c:v>R$ 500 mil a R$ 1 milhão</c:v>
                </c:pt>
                <c:pt idx="4">
                  <c:v>Acima de R$ 1 milhão</c:v>
                </c:pt>
              </c:strCache>
            </c:strRef>
          </c:cat>
          <c:val>
            <c:numRef>
              <c:f>Planilha1!$B$2:$B$6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38-432D-9E45-3203F7762EB6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9082168384370558"/>
          <c:y val="5.8271314912868327E-2"/>
          <c:w val="0.48956502063426977"/>
          <c:h val="0.547276707215407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101F2E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1F2E"/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3B9B-4FE8-A404-CD9A7CA0AEF8}"/>
              </c:ext>
            </c:extLst>
          </c:dPt>
          <c:dPt>
            <c:idx val="1"/>
            <c:invertIfNegative val="0"/>
            <c:bubble3D val="0"/>
            <c:spPr>
              <a:solidFill>
                <a:srgbClr val="101F2E"/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3B9B-4FE8-A404-CD9A7CA0AEF8}"/>
              </c:ext>
            </c:extLst>
          </c:dPt>
          <c:dPt>
            <c:idx val="2"/>
            <c:invertIfNegative val="0"/>
            <c:bubble3D val="0"/>
            <c:spPr>
              <a:solidFill>
                <a:srgbClr val="101F2E"/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3B9B-4FE8-A404-CD9A7CA0AEF8}"/>
              </c:ext>
            </c:extLst>
          </c:dPt>
          <c:dPt>
            <c:idx val="3"/>
            <c:invertIfNegative val="0"/>
            <c:bubble3D val="0"/>
            <c:spPr>
              <a:solidFill>
                <a:srgbClr val="101F2E"/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3B9B-4FE8-A404-CD9A7CA0AEF8}"/>
              </c:ext>
            </c:extLst>
          </c:dPt>
          <c:dPt>
            <c:idx val="4"/>
            <c:invertIfNegative val="0"/>
            <c:bubble3D val="0"/>
            <c:spPr>
              <a:solidFill>
                <a:srgbClr val="101F2E"/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3B9B-4FE8-A404-CD9A7CA0AEF8}"/>
              </c:ext>
            </c:extLst>
          </c:dPt>
          <c:dPt>
            <c:idx val="5"/>
            <c:invertIfNegative val="0"/>
            <c:bubble3D val="0"/>
            <c:spPr>
              <a:solidFill>
                <a:srgbClr val="101F2E"/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3B9B-4FE8-A404-CD9A7CA0AEF8}"/>
              </c:ext>
            </c:extLst>
          </c:dPt>
          <c:dLbls>
            <c:numFmt formatCode="#,##0,&quot;k&quot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101F2E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Planilha1!$A$2:$A$12</c:f>
              <c:numCache>
                <c:formatCode>General</c:formatCod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numCache>
            </c:numRef>
          </c:cat>
          <c:val>
            <c:numRef>
              <c:f>Planilha1!$B$2:$B$12</c:f>
              <c:numCache>
                <c:formatCode>"R$"#,##0_);[Red]\("R$"#,##0\)</c:formatCode>
                <c:ptCount val="11"/>
                <c:pt idx="0">
                  <c:v>60377.46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97594.55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7673.65</c:v>
                </c:pt>
                <c:pt idx="9">
                  <c:v>0</c:v>
                </c:pt>
                <c:pt idx="10">
                  <c:v>223642.78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B9B-4FE8-A404-CD9A7CA0AE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815234176"/>
        <c:axId val="1442895183"/>
      </c:barChart>
      <c:catAx>
        <c:axId val="1815234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442895183"/>
        <c:crosses val="autoZero"/>
        <c:auto val="1"/>
        <c:lblAlgn val="ctr"/>
        <c:lblOffset val="100"/>
        <c:noMultiLvlLbl val="0"/>
      </c:catAx>
      <c:valAx>
        <c:axId val="1442895183"/>
        <c:scaling>
          <c:orientation val="minMax"/>
          <c:max val="280000"/>
          <c:min val="0"/>
        </c:scaling>
        <c:delete val="1"/>
        <c:axPos val="l"/>
        <c:numFmt formatCode="&quot;R$ &quot;#,##0,&quot; mil&quot;;;" sourceLinked="0"/>
        <c:majorTickMark val="none"/>
        <c:minorTickMark val="none"/>
        <c:tickLblPos val="nextTo"/>
        <c:crossAx val="181523417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6364761973676801E-2"/>
          <c:y val="0"/>
          <c:w val="0.41588235767063042"/>
          <c:h val="0.6389786743222915"/>
        </c:manualLayout>
      </c:layout>
      <c:doughnut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Vendas</c:v>
                </c:pt>
              </c:strCache>
            </c:strRef>
          </c:tx>
          <c:dPt>
            <c:idx val="0"/>
            <c:bubble3D val="0"/>
            <c:spPr>
              <a:solidFill>
                <a:srgbClr val="17446B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D41-492F-B710-9C956A93C1B5}"/>
              </c:ext>
            </c:extLst>
          </c:dPt>
          <c:dPt>
            <c:idx val="1"/>
            <c:bubble3D val="0"/>
            <c:spPr>
              <a:solidFill>
                <a:srgbClr val="2E78B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D41-492F-B710-9C956A93C1B5}"/>
              </c:ext>
            </c:extLst>
          </c:dPt>
          <c:dPt>
            <c:idx val="2"/>
            <c:bubble3D val="0"/>
            <c:spPr>
              <a:solidFill>
                <a:srgbClr val="7AAFD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BD41-492F-B710-9C956A93C1B5}"/>
              </c:ext>
            </c:extLst>
          </c:dPt>
          <c:dPt>
            <c:idx val="3"/>
            <c:bubble3D val="0"/>
            <c:spPr>
              <a:solidFill>
                <a:srgbClr val="BDD1E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BD41-492F-B710-9C956A93C1B5}"/>
              </c:ext>
            </c:extLst>
          </c:dPt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rgbClr val="101F2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BD41-492F-B710-9C956A93C1B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Planilha1!$A$2:$A$5</c:f>
              <c:strCache>
                <c:ptCount val="4"/>
                <c:pt idx="0">
                  <c:v>Até 1 ano</c:v>
                </c:pt>
                <c:pt idx="1">
                  <c:v>De 1 a 3 anos</c:v>
                </c:pt>
                <c:pt idx="2">
                  <c:v>De 3 a 5 anos</c:v>
                </c:pt>
                <c:pt idx="3">
                  <c:v>Acima de 5 anos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D41-492F-B710-9C956A93C1B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5768618432690608"/>
          <c:y val="4.2859881917601199E-2"/>
          <c:w val="0.48956502063426977"/>
          <c:h val="0.547276707215407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101F2E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1">
                    <a:solidFill>
                      <a:srgbClr val="101F2E"/>
                    </a:solidFill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Adicional noturno</c:v>
              </c:pt>
              <c:pt idx="1">
                <c:v>Acidente</c:v>
              </c:pt>
              <c:pt idx="2">
                <c:v>Acúmulo função</c:v>
              </c:pt>
              <c:pt idx="3">
                <c:v>Periculosidade</c:v>
              </c:pt>
              <c:pt idx="4">
                <c:v>Insalubridade</c:v>
              </c:pt>
              <c:pt idx="5">
                <c:v>Dano moral</c:v>
              </c:pt>
              <c:pt idx="6">
                <c:v>Verbas rescisórias</c:v>
              </c:pt>
              <c:pt idx="7">
                <c:v>Multa 477 CLT</c:v>
              </c:pt>
              <c:pt idx="8">
                <c:v>Horas extras</c:v>
              </c:pt>
            </c:strLit>
          </c:cat>
          <c:val>
            <c:numLit>
              <c:formatCode>General</c:formatCode>
              <c:ptCount val="9"/>
              <c:pt idx="0">
                <c:v>7</c:v>
              </c:pt>
              <c:pt idx="1">
                <c:v>8</c:v>
              </c:pt>
              <c:pt idx="2">
                <c:v>9</c:v>
              </c:pt>
              <c:pt idx="3">
                <c:v>14</c:v>
              </c:pt>
              <c:pt idx="4">
                <c:v>30</c:v>
              </c:pt>
              <c:pt idx="5">
                <c:v>47</c:v>
              </c:pt>
              <c:pt idx="6">
                <c:v>54</c:v>
              </c:pt>
              <c:pt idx="7">
                <c:v>54</c:v>
              </c:pt>
              <c:pt idx="8">
                <c:v>61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D24-4148-B8B2-5A0FE05778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1C3C3"/>
            </a:solidFill>
          </a:ln>
        </c:spPr>
        <c:txPr>
          <a:bodyPr rot="0" vert="horz"/>
          <a:lstStyle/>
          <a:p>
            <a:pPr>
              <a:defRPr sz="1000" b="0">
                <a:solidFill>
                  <a:srgbClr val="101F2E"/>
                </a:solidFill>
                <a:latin typeface="Aptos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0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5370078740157481"/>
          <c:y val="0.06"/>
          <c:w val="0.80629921259842519"/>
          <c:h val="0.75252343457067861"/>
        </c:manualLayout>
      </c:layout>
      <c:lineChart>
        <c:grouping val="standard"/>
        <c:varyColors val="0"/>
        <c:ser>
          <c:idx val="0"/>
          <c:order val="0"/>
          <c:tx>
            <c:v>Processos</c:v>
          </c:tx>
          <c:spPr>
            <a:ln w="28575">
              <a:solidFill>
                <a:srgbClr val="101F2E"/>
              </a:solidFill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101F2E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B4F7-49C8-82D4-A4598F538E6F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101F2E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B4F7-49C8-82D4-A4598F538E6F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101F2E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B4F7-49C8-82D4-A4598F538E6F}"/>
              </c:ext>
            </c:extLst>
          </c:dPt>
          <c:dPt>
            <c:idx val="3"/>
            <c:marker>
              <c:symbol val="circle"/>
              <c:size val="7"/>
              <c:spPr>
                <a:solidFill>
                  <a:srgbClr val="101F2E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B4F7-49C8-82D4-A4598F538E6F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rgbClr val="101F2E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B4F7-49C8-82D4-A4598F538E6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01F2E"/>
                        </a:solidFill>
                        <a:latin typeface="Aptos"/>
                      </a:rPr>
                      <a:t>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4F7-49C8-82D4-A4598F538E6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01F2E"/>
                        </a:solidFill>
                        <a:latin typeface="Aptos"/>
                      </a:rPr>
                      <a:t>10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4F7-49C8-82D4-A4598F538E6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01F2E"/>
                        </a:solidFill>
                        <a:latin typeface="Aptos"/>
                      </a:rPr>
                      <a:t>41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4F7-49C8-82D4-A4598F538E6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01F2E"/>
                        </a:solidFill>
                        <a:latin typeface="Aptos"/>
                      </a:rPr>
                      <a:t>82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4F7-49C8-82D4-A4598F538E6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101F2E"/>
                        </a:solidFill>
                        <a:latin typeface="Aptos"/>
                      </a:rPr>
                      <a:t>48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4F7-49C8-82D4-A4598F538E6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</c:v>
              </c:pt>
              <c:pt idx="4">
                <c:v>2026</c:v>
              </c:pt>
            </c:strLit>
          </c:cat>
          <c:val>
            <c:numLit>
              <c:formatCode>General</c:formatCode>
              <c:ptCount val="5"/>
              <c:pt idx="0">
                <c:v>3</c:v>
              </c:pt>
              <c:pt idx="1">
                <c:v>10</c:v>
              </c:pt>
              <c:pt idx="2">
                <c:v>41</c:v>
              </c:pt>
              <c:pt idx="3">
                <c:v>82</c:v>
              </c:pt>
              <c:pt idx="4">
                <c:v>48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B4F7-49C8-82D4-A4598F538E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1C3C3"/>
            </a:solidFill>
          </a:ln>
        </c:spPr>
        <c:txPr>
          <a:bodyPr rot="0" vert="horz"/>
          <a:lstStyle/>
          <a:p>
            <a:pPr>
              <a:defRPr sz="1000" b="0">
                <a:solidFill>
                  <a:srgbClr val="101F2E"/>
                </a:solidFill>
                <a:latin typeface="Aptos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00"/>
          <c:min val="0"/>
        </c:scaling>
        <c:delete val="1"/>
        <c:axPos val="l"/>
        <c:numFmt formatCode="#,##0" sourceLinked="0"/>
        <c:majorTickMark val="none"/>
        <c:minorTickMark val="none"/>
        <c:tickLblPos val="nextTo"/>
        <c:crossAx val="1"/>
        <c:crosses val="autoZero"/>
        <c:crossBetween val="between"/>
        <c:majorUnit val="25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D768B-17DE-40A0-8F4C-BE719AB408AF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18315-A5FD-4628-A29E-D3A7E4D94E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46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4B35E-8B6E-1B01-B0A2-1592791C0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A9F081-191B-CED9-BC71-EC052F9AC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AB0BAD-1028-046A-C173-AE58EFDE4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D4E5-4011-434F-8D06-E5BE11B125E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6D6BF7-590E-5527-78AA-8F65522C7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2907EC-3852-871A-0C12-6ECF09F0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69-66EE-464C-9816-F3EB231F8F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9053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5FE5-C60E-0FEE-C007-A30ECC52E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8A44AF-4E74-BB03-ECB7-D6C12ABE3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A11D53-4A5C-B4BD-3219-C3B94694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D4E5-4011-434F-8D06-E5BE11B125E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76511F-8F16-5D6B-38B3-B52C97328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38E954-51B3-44B9-0D90-F4D9E5FCD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69-66EE-464C-9816-F3EB231F8F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132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83F7ED-830B-9D55-0C25-AEB08171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DC816C-4669-4F11-0AAF-436008E67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943419-1591-B8C9-82CF-B99F70081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D4E5-4011-434F-8D06-E5BE11B125E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A802F8-55BE-7126-2B6B-B6BDC1A65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2FD838-A499-CAC5-EBD9-4FF327A10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69-66EE-464C-9816-F3EB231F8F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632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2EA23-E271-2B10-9403-FFF290650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B90B73-0844-038F-3E17-0CDFB982DF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629D01-1900-2352-30D4-CAE8CA2AD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C2FA86-718B-FCAF-58E8-D730D032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D4E5-4011-434F-8D06-E5BE11B125E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FCF2BA-78A3-FEE2-5975-6DD3C76F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3A41C7-8971-DA81-0D8E-5CC05AD0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69-66EE-464C-9816-F3EB231F8F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6631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4666B-4266-49B5-6E1B-27ABDB988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E315AA-B1F3-CA8D-C91A-94C1E67D9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7560C7-A8F3-0CEC-AB72-C63A71367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E37FCFC-1EF7-9265-5AF6-B2DB0EE91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0157650-D56E-A52F-E485-25F43F5360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FF20571-7AAD-8365-9751-0D0CCD7BC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D4E5-4011-434F-8D06-E5BE11B125E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23318C-E5CB-D0CB-7EBE-13EB329AF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D96198F-3DDE-AD67-201E-1331381F1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69-66EE-464C-9816-F3EB231F8F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41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18AF1-BA5D-454D-D99F-C1509874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F83BA07-2901-23B9-11D6-EEA63D941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D4E5-4011-434F-8D06-E5BE11B125E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ECFDB08-B279-F44C-D854-1818B961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43A0FB6-0046-6E78-1344-ED9F1B96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69-66EE-464C-9816-F3EB231F8F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33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D82D236-3B20-2406-7FC6-46B2AF044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D4E5-4011-434F-8D06-E5BE11B125E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8C5F97C-F961-BB7D-E03B-00F00B4F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FA3FCA-8089-8E3A-ECCF-D56F01215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69-66EE-464C-9816-F3EB231F8F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3679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FA8EF-D40C-2080-ADE9-C570218C0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590321-9341-E4A4-D8D0-5B45EE704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76C0F16-FEB6-B86B-D554-D70C16067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0DA55F-371C-4614-B3E0-433FB5CA9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D4E5-4011-434F-8D06-E5BE11B125E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E757F5-1C2E-05D3-00B9-24A66DBA0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DD5CED-2AF2-2CE5-8A0D-E61F50E8D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69-66EE-464C-9816-F3EB231F8F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2585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19687-0424-F329-F2EF-23C1EDFBC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FFBFC1-F22C-5C49-BF7B-12E5C96DB69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0F1EB7-0EF1-66E7-7A88-A650DAEEB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0FA729-E23C-34AC-29AE-01D54D0A6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D4E5-4011-434F-8D06-E5BE11B125E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79D7B1-151D-5B25-7FA9-37E8A68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4C8E21-84DE-D5D1-51E4-82E3D730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69-66EE-464C-9816-F3EB231F8F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24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B5531-FAF1-7FB1-368F-CA10755E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8FD9D7E-3AF9-EC9B-2F83-FF86F67BB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922C5D-CBA8-B85A-7B91-8148B7762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D4E5-4011-434F-8D06-E5BE11B125E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35F0D0-AC88-3A75-7C5D-EECA83BFD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359D26-13F8-FC35-A09B-EE5F2EC63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69-66EE-464C-9816-F3EB231F8F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2776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9405D86-2C50-F04E-D8E1-298161091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F8E4A99-983D-BDF4-F50B-7423F3E31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8FE558-2F5E-8B51-7BB5-E7273A8E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D4E5-4011-434F-8D06-E5BE11B125E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E4B515-2C25-1C3E-C571-9A68093AE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E2B6F9-A79A-E71E-2620-39C812E9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0D069-66EE-464C-9816-F3EB231F8F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7313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CBE4092-EEC5-03CB-2F92-B57F3E8B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85EB3E-9E7D-043F-0D58-8BD375ABB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A5CF2E-8D34-853D-E1EE-AD63FED8D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3D4E5-4011-434F-8D06-E5BE11B125E2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898F56-2361-0A9D-1952-5DF207246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DA852-CBA1-1E38-251F-A8A3A942E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0D069-66EE-464C-9816-F3EB231F8F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029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" Target="slide3.xml"/><Relationship Id="rId9" Type="http://schemas.openxmlformats.org/officeDocument/2006/relationships/image" Target="../media/image9.svg"/><Relationship Id="rId10" Type="http://schemas.openxmlformats.org/officeDocument/2006/relationships/image" Target="../media/image10.svg"/><Relationship Id="rId11" Type="http://schemas.openxmlformats.org/officeDocument/2006/relationships/image" Target="../media/image11.svg"/><Relationship Id="rId12" Type="http://schemas.openxmlformats.org/officeDocument/2006/relationships/image" Target="../media/image12.svg"/><Relationship Id="rId13" Type="http://schemas.openxmlformats.org/officeDocument/2006/relationships/image" Target="../media/image13.svg"/><Relationship Id="rId14" Type="http://schemas.openxmlformats.org/officeDocument/2006/relationships/image" Target="../media/image1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jpeg"/><Relationship Id="rId12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image" Target="../media/image24.jpe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9" Type="http://schemas.openxmlformats.org/officeDocument/2006/relationships/image" Target="../media/image6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4" Type="http://schemas.openxmlformats.org/officeDocument/2006/relationships/slide" Target="slide18.xml"/><Relationship Id="rId5" Type="http://schemas.openxmlformats.org/officeDocument/2006/relationships/image" Target="../media/image29.svg"/><Relationship Id="rId6" Type="http://schemas.openxmlformats.org/officeDocument/2006/relationships/slide" Target="slide16.xml"/><Relationship Id="rId7" Type="http://schemas.openxmlformats.org/officeDocument/2006/relationships/image" Target="../media/image30.svg"/><Relationship Id="rId8" Type="http://schemas.openxmlformats.org/officeDocument/2006/relationships/slide" Target="slide21.xml"/><Relationship Id="rId9" Type="http://schemas.openxmlformats.org/officeDocument/2006/relationships/image" Target="../media/image31.svg"/><Relationship Id="rId10" Type="http://schemas.openxmlformats.org/officeDocument/2006/relationships/slide" Target="slide7.xml"/><Relationship Id="rId11" Type="http://schemas.openxmlformats.org/officeDocument/2006/relationships/image" Target="../media/image32.svg"/><Relationship Id="rId12" Type="http://schemas.openxmlformats.org/officeDocument/2006/relationships/image" Target="../media/image3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image" Target="../media/image37.svg"/><Relationship Id="rId8" Type="http://schemas.openxmlformats.org/officeDocument/2006/relationships/image" Target="../media/image38.svg"/><Relationship Id="rId9" Type="http://schemas.openxmlformats.org/officeDocument/2006/relationships/image" Target="../media/image39.svg"/><Relationship Id="rId10" Type="http://schemas.openxmlformats.org/officeDocument/2006/relationships/image" Target="../media/image40.svg"/><Relationship Id="rId11" Type="http://schemas.openxmlformats.org/officeDocument/2006/relationships/image" Target="../media/image41.svg"/><Relationship Id="rId12" Type="http://schemas.openxmlformats.org/officeDocument/2006/relationships/image" Target="../media/image42.svg"/><Relationship Id="rId13" Type="http://schemas.openxmlformats.org/officeDocument/2006/relationships/image" Target="../media/image43.svg"/><Relationship Id="rId14" Type="http://schemas.openxmlformats.org/officeDocument/2006/relationships/image" Target="../media/image44.svg"/><Relationship Id="rId15" Type="http://schemas.openxmlformats.org/officeDocument/2006/relationships/image" Target="../media/image45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7.svg"/><Relationship Id="rId4" Type="http://schemas.openxmlformats.org/officeDocument/2006/relationships/image" Target="../media/image45.svg"/><Relationship Id="rId5" Type="http://schemas.openxmlformats.org/officeDocument/2006/relationships/image" Target="../media/image43.svg"/><Relationship Id="rId6" Type="http://schemas.openxmlformats.org/officeDocument/2006/relationships/image" Target="../media/image40.svg"/><Relationship Id="rId7" Type="http://schemas.openxmlformats.org/officeDocument/2006/relationships/image" Target="../media/image48.svg"/><Relationship Id="rId8" Type="http://schemas.openxmlformats.org/officeDocument/2006/relationships/image" Target="../media/image49.svg"/><Relationship Id="rId9" Type="http://schemas.openxmlformats.org/officeDocument/2006/relationships/image" Target="../media/image37.svg"/><Relationship Id="rId10" Type="http://schemas.openxmlformats.org/officeDocument/2006/relationships/image" Target="../media/image39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svg"/><Relationship Id="rId3" Type="http://schemas.openxmlformats.org/officeDocument/2006/relationships/image" Target="../media/image45.svg"/><Relationship Id="rId4" Type="http://schemas.openxmlformats.org/officeDocument/2006/relationships/image" Target="../media/image43.svg"/><Relationship Id="rId5" Type="http://schemas.openxmlformats.org/officeDocument/2006/relationships/image" Target="../media/image44.svg"/><Relationship Id="rId6" Type="http://schemas.openxmlformats.org/officeDocument/2006/relationships/image" Target="../media/image40.svg"/><Relationship Id="rId7" Type="http://schemas.openxmlformats.org/officeDocument/2006/relationships/image" Target="../media/image49.svg"/><Relationship Id="rId8" Type="http://schemas.openxmlformats.org/officeDocument/2006/relationships/image" Target="../media/image37.svg"/><Relationship Id="rId9" Type="http://schemas.openxmlformats.org/officeDocument/2006/relationships/chart" Target="../charts/chart5.xml"/><Relationship Id="rId10" Type="http://schemas.openxmlformats.org/officeDocument/2006/relationships/chart" Target="../charts/char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3.svg"/><Relationship Id="rId4" Type="http://schemas.openxmlformats.org/officeDocument/2006/relationships/image" Target="../media/image37.svg"/><Relationship Id="rId5" Type="http://schemas.openxmlformats.org/officeDocument/2006/relationships/image" Target="../media/image39.svg"/><Relationship Id="rId6" Type="http://schemas.openxmlformats.org/officeDocument/2006/relationships/image" Target="../media/image52.svg"/><Relationship Id="rId7" Type="http://schemas.openxmlformats.org/officeDocument/2006/relationships/image" Target="../media/image53.svg"/><Relationship Id="rId8" Type="http://schemas.openxmlformats.org/officeDocument/2006/relationships/image" Target="../media/image54.svg"/><Relationship Id="rId9" Type="http://schemas.openxmlformats.org/officeDocument/2006/relationships/image" Target="../media/image55.svg"/><Relationship Id="rId10" Type="http://schemas.openxmlformats.org/officeDocument/2006/relationships/image" Target="../media/image47.svg"/><Relationship Id="rId11" Type="http://schemas.openxmlformats.org/officeDocument/2006/relationships/image" Target="../media/image49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svg"/><Relationship Id="rId3" Type="http://schemas.openxmlformats.org/officeDocument/2006/relationships/image" Target="../media/image31.svg"/><Relationship Id="rId4" Type="http://schemas.openxmlformats.org/officeDocument/2006/relationships/image" Target="../media/image29.svg"/><Relationship Id="rId5" Type="http://schemas.openxmlformats.org/officeDocument/2006/relationships/image" Target="../media/image30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9.svg"/><Relationship Id="rId4" Type="http://schemas.openxmlformats.org/officeDocument/2006/relationships/image" Target="../media/image33.svg"/><Relationship Id="rId5" Type="http://schemas.openxmlformats.org/officeDocument/2006/relationships/image" Target="../media/image56.svg"/><Relationship Id="rId6" Type="http://schemas.openxmlformats.org/officeDocument/2006/relationships/image" Target="../media/image32.svg"/><Relationship Id="rId7" Type="http://schemas.openxmlformats.org/officeDocument/2006/relationships/image" Target="../media/image31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svg"/><Relationship Id="rId3" Type="http://schemas.openxmlformats.org/officeDocument/2006/relationships/image" Target="../media/image45.svg"/><Relationship Id="rId4" Type="http://schemas.openxmlformats.org/officeDocument/2006/relationships/image" Target="../media/image43.svg"/><Relationship Id="rId5" Type="http://schemas.openxmlformats.org/officeDocument/2006/relationships/image" Target="../media/image40.svg"/><Relationship Id="rId6" Type="http://schemas.openxmlformats.org/officeDocument/2006/relationships/image" Target="../media/image48.svg"/><Relationship Id="rId7" Type="http://schemas.openxmlformats.org/officeDocument/2006/relationships/image" Target="../media/image49.svg"/><Relationship Id="rId8" Type="http://schemas.openxmlformats.org/officeDocument/2006/relationships/image" Target="../media/image37.svg"/><Relationship Id="rId9" Type="http://schemas.openxmlformats.org/officeDocument/2006/relationships/image" Target="../media/image3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CAPA">
            <a:extLst>
              <a:ext uri="{FF2B5EF4-FFF2-40B4-BE49-F238E27FC236}">
                <a16:creationId xmlns:a16="http://schemas.microsoft.com/office/drawing/2014/main" id="{4C68FF04-EFA0-EFBA-19C3-F1BE21543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5CACB96-18BE-5A84-B319-55EE52808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7A68B81-775A-3176-BAFC-B948A76332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653" y="1979556"/>
            <a:ext cx="3518695" cy="289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244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9318F-FE8A-6711-13E5-E5E6BCEFF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B81E74E9-AE7D-8137-F5CD-A66AABCC5640}"/>
              </a:ext>
            </a:extLst>
          </p:cNvPr>
          <p:cNvSpPr/>
          <p:nvPr/>
        </p:nvSpPr>
        <p:spPr>
          <a:xfrm>
            <a:off x="0" y="-12144"/>
            <a:ext cx="12192000" cy="6870144"/>
          </a:xfrm>
          <a:prstGeom prst="rect">
            <a:avLst/>
          </a:prstGeom>
          <a:solidFill>
            <a:srgbClr val="FC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pic>
        <p:nvPicPr>
          <p:cNvPr id="3" name="Espaço Reservado para Conteúdo 12">
            <a:extLst>
              <a:ext uri="{FF2B5EF4-FFF2-40B4-BE49-F238E27FC236}">
                <a16:creationId xmlns:a16="http://schemas.microsoft.com/office/drawing/2014/main" id="{FDA71A66-C5F2-8C21-A5CC-A5E1B92CC7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7" t="1560" r="3524" b="1716"/>
          <a:stretch>
            <a:fillRect/>
          </a:stretch>
        </p:blipFill>
        <p:spPr>
          <a:xfrm rot="5400000">
            <a:off x="2667001" y="-2679144"/>
            <a:ext cx="6858002" cy="12192003"/>
          </a:xfrm>
          <a:prstGeom prst="rect">
            <a:avLst/>
          </a:prstGeom>
        </p:spPr>
      </p:pic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0BAB9B2-02C9-35C4-C57F-0CF6559C0C97}"/>
              </a:ext>
            </a:extLst>
          </p:cNvPr>
          <p:cNvSpPr/>
          <p:nvPr/>
        </p:nvSpPr>
        <p:spPr>
          <a:xfrm>
            <a:off x="533248" y="1427418"/>
            <a:ext cx="4437337" cy="1020995"/>
          </a:xfrm>
          <a:prstGeom prst="roundRect">
            <a:avLst>
              <a:gd name="adj" fmla="val 29133"/>
            </a:avLst>
          </a:prstGeom>
          <a:solidFill>
            <a:srgbClr val="CA9C4A">
              <a:alpha val="11000"/>
            </a:srgbClr>
          </a:solidFill>
          <a:ln w="127">
            <a:gradFill>
              <a:gsLst>
                <a:gs pos="0">
                  <a:srgbClr val="FCF9F5">
                    <a:alpha val="0"/>
                  </a:srgbClr>
                </a:gs>
                <a:gs pos="100000">
                  <a:srgbClr val="FCF9F5">
                    <a:alpha val="1400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rgbClr val="101F2E"/>
                </a:solidFill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47DE9780-537C-39BB-D32D-5852A16B9BDA}"/>
              </a:ext>
            </a:extLst>
          </p:cNvPr>
          <p:cNvSpPr/>
          <p:nvPr/>
        </p:nvSpPr>
        <p:spPr>
          <a:xfrm>
            <a:off x="533248" y="2665385"/>
            <a:ext cx="4437337" cy="1020995"/>
          </a:xfrm>
          <a:prstGeom prst="roundRect">
            <a:avLst>
              <a:gd name="adj" fmla="val 29133"/>
            </a:avLst>
          </a:prstGeom>
          <a:solidFill>
            <a:srgbClr val="CA9C4A">
              <a:alpha val="11000"/>
            </a:srgbClr>
          </a:solidFill>
          <a:ln w="127">
            <a:gradFill>
              <a:gsLst>
                <a:gs pos="0">
                  <a:srgbClr val="FCF9F5">
                    <a:alpha val="0"/>
                  </a:srgbClr>
                </a:gs>
                <a:gs pos="100000">
                  <a:srgbClr val="FCF9F5">
                    <a:alpha val="1400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rgbClr val="101F2E"/>
                </a:solidFill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67BD55BC-F1B8-505B-A71D-B200751B7072}"/>
              </a:ext>
            </a:extLst>
          </p:cNvPr>
          <p:cNvSpPr/>
          <p:nvPr/>
        </p:nvSpPr>
        <p:spPr>
          <a:xfrm>
            <a:off x="533248" y="3894248"/>
            <a:ext cx="4437337" cy="1020995"/>
          </a:xfrm>
          <a:prstGeom prst="roundRect">
            <a:avLst>
              <a:gd name="adj" fmla="val 29133"/>
            </a:avLst>
          </a:prstGeom>
          <a:solidFill>
            <a:srgbClr val="CA9C4A">
              <a:alpha val="11000"/>
            </a:srgbClr>
          </a:solidFill>
          <a:ln w="127">
            <a:gradFill>
              <a:gsLst>
                <a:gs pos="0">
                  <a:srgbClr val="FCF9F5">
                    <a:alpha val="0"/>
                  </a:srgbClr>
                </a:gs>
                <a:gs pos="100000">
                  <a:srgbClr val="FCF9F5">
                    <a:alpha val="1400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rgbClr val="101F2E"/>
                </a:solidFill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64615563-691B-38CD-6AB5-346C57FE22F0}"/>
              </a:ext>
            </a:extLst>
          </p:cNvPr>
          <p:cNvSpPr/>
          <p:nvPr/>
        </p:nvSpPr>
        <p:spPr>
          <a:xfrm>
            <a:off x="533247" y="5123111"/>
            <a:ext cx="4437337" cy="1020995"/>
          </a:xfrm>
          <a:prstGeom prst="roundRect">
            <a:avLst>
              <a:gd name="adj" fmla="val 29133"/>
            </a:avLst>
          </a:prstGeom>
          <a:solidFill>
            <a:srgbClr val="CA9C4A">
              <a:alpha val="11000"/>
            </a:srgbClr>
          </a:solidFill>
          <a:ln w="127">
            <a:gradFill>
              <a:gsLst>
                <a:gs pos="0">
                  <a:srgbClr val="FCF9F5">
                    <a:alpha val="0"/>
                  </a:srgbClr>
                </a:gs>
                <a:gs pos="100000">
                  <a:srgbClr val="FCF9F5">
                    <a:alpha val="1400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rgbClr val="101F2E"/>
                </a:solidFill>
                <a:latin typeface="Aptos" panose="020B0004020202020204" pitchFamily="34" charset="0"/>
              </a:rPr>
              <a:t> </a:t>
            </a:r>
          </a:p>
        </p:txBody>
      </p:sp>
      <p:pic>
        <p:nvPicPr>
          <p:cNvPr id="7" name="Gráfico 6" descr="Maleta com preenchimento sólido">
            <a:extLst>
              <a:ext uri="{FF2B5EF4-FFF2-40B4-BE49-F238E27FC236}">
                <a16:creationId xmlns:a16="http://schemas.microsoft.com/office/drawing/2014/main" id="{6A6386B3-A2C1-0D5A-C280-97572E8EEF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556" y="5325995"/>
            <a:ext cx="570089" cy="570089"/>
          </a:xfrm>
          <a:prstGeom prst="rect">
            <a:avLst/>
          </a:prstGeom>
        </p:spPr>
      </p:pic>
      <p:pic>
        <p:nvPicPr>
          <p:cNvPr id="9" name="Gráfico 8" descr="Usuário com preenchimento sólido">
            <a:extLst>
              <a:ext uri="{FF2B5EF4-FFF2-40B4-BE49-F238E27FC236}">
                <a16:creationId xmlns:a16="http://schemas.microsoft.com/office/drawing/2014/main" id="{BA6E4616-F2D2-6F6A-B2FB-05A519BC0A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577" y="4031652"/>
            <a:ext cx="666045" cy="66604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23804AA-AACF-9CB5-B895-CAF0898BD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5554" y="2890838"/>
            <a:ext cx="570090" cy="57009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8D818F5-D446-B445-F2E4-7E2479725F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8864" y="1636997"/>
            <a:ext cx="570090" cy="570090"/>
          </a:xfrm>
          <a:prstGeom prst="rect">
            <a:avLst/>
          </a:prstGeom>
        </p:spPr>
      </p:pic>
      <p:sp>
        <p:nvSpPr>
          <p:cNvPr id="18" name="SLIDE_SOBRE">
            <a:extLst>
              <a:ext uri="{FF2B5EF4-FFF2-40B4-BE49-F238E27FC236}">
                <a16:creationId xmlns:a16="http://schemas.microsoft.com/office/drawing/2014/main" id="{A7116EB8-9D09-A7C3-09C6-7A7A09649114}"/>
              </a:ext>
            </a:extLst>
          </p:cNvPr>
          <p:cNvSpPr txBox="1"/>
          <p:nvPr/>
        </p:nvSpPr>
        <p:spPr>
          <a:xfrm>
            <a:off x="533248" y="181286"/>
            <a:ext cx="3841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3600">
                <a:solidFill>
                  <a:srgbClr val="FDFAF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pt-BR" b="1">
                <a:solidFill>
                  <a:srgbClr val="101F2E"/>
                </a:solidFill>
              </a:rPr>
              <a:t>Sobre o Escritório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0DA959F-23EA-00B6-4AD1-A670E22CA873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  <a:latin typeface="Aptos" panose="020B0004020202020204" pitchFamily="34" charset="0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BBD54EC-06F7-5AFC-A494-D71C91ED9678}"/>
              </a:ext>
            </a:extLst>
          </p:cNvPr>
          <p:cNvSpPr txBox="1"/>
          <p:nvPr/>
        </p:nvSpPr>
        <p:spPr>
          <a:xfrm>
            <a:off x="1323622" y="1568906"/>
            <a:ext cx="3258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00" b="1">
                <a:solidFill>
                  <a:srgbClr val="101F2E"/>
                </a:solidFill>
                <a:latin typeface="Aptos" panose="020B0004020202020204" pitchFamily="34" charset="0"/>
              </a:rPr>
              <a:t>R$ 3 Bilhões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B1228F8-075C-75CE-D6EC-0979953A0FB7}"/>
              </a:ext>
            </a:extLst>
          </p:cNvPr>
          <p:cNvSpPr txBox="1"/>
          <p:nvPr/>
        </p:nvSpPr>
        <p:spPr>
          <a:xfrm>
            <a:off x="1323622" y="1949839"/>
            <a:ext cx="2926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>
                <a:solidFill>
                  <a:srgbClr val="101F2E"/>
                </a:solidFill>
                <a:latin typeface="Aptos Light" panose="020B0004020202020204" pitchFamily="34" charset="0"/>
              </a:rPr>
              <a:t>Sob responsabilidade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97A7C2D-3E95-1D9F-9C48-C95D9E868F90}"/>
              </a:ext>
            </a:extLst>
          </p:cNvPr>
          <p:cNvSpPr txBox="1"/>
          <p:nvPr/>
        </p:nvSpPr>
        <p:spPr>
          <a:xfrm>
            <a:off x="1323622" y="2800750"/>
            <a:ext cx="3646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00" b="1">
                <a:solidFill>
                  <a:srgbClr val="101F2E"/>
                </a:solidFill>
                <a:latin typeface="Aptos" panose="020B0004020202020204" pitchFamily="34" charset="0"/>
              </a:rPr>
              <a:t>Mais de 8.000 processos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6BC3B72-72E1-CF42-69FB-31031C77281A}"/>
              </a:ext>
            </a:extLst>
          </p:cNvPr>
          <p:cNvSpPr txBox="1"/>
          <p:nvPr/>
        </p:nvSpPr>
        <p:spPr>
          <a:xfrm>
            <a:off x="1323622" y="3181683"/>
            <a:ext cx="2926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>
                <a:solidFill>
                  <a:srgbClr val="101F2E"/>
                </a:solidFill>
                <a:latin typeface="Aptos Light" panose="020B0004020202020204" pitchFamily="34" charset="0"/>
              </a:rPr>
              <a:t>Sob gestão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F839DBA-70FA-CCBF-5544-4041F73B1C6F}"/>
              </a:ext>
            </a:extLst>
          </p:cNvPr>
          <p:cNvSpPr txBox="1"/>
          <p:nvPr/>
        </p:nvSpPr>
        <p:spPr>
          <a:xfrm>
            <a:off x="1323622" y="4026654"/>
            <a:ext cx="3771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00" b="1">
                <a:solidFill>
                  <a:srgbClr val="101F2E"/>
                </a:solidFill>
                <a:latin typeface="Aptos" panose="020B0004020202020204" pitchFamily="34" charset="0"/>
              </a:rPr>
              <a:t>Mais de 60 colaboradores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A17C5EE-9C8E-87FD-D66B-A35A9A04E080}"/>
              </a:ext>
            </a:extLst>
          </p:cNvPr>
          <p:cNvSpPr txBox="1"/>
          <p:nvPr/>
        </p:nvSpPr>
        <p:spPr>
          <a:xfrm>
            <a:off x="1323622" y="4413642"/>
            <a:ext cx="379138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600">
                <a:solidFill>
                  <a:srgbClr val="101F2E"/>
                </a:solidFill>
                <a:latin typeface="Aptos Light"/>
              </a:rPr>
              <a:t>&gt;80%  pós graduados/especialistas</a:t>
            </a:r>
            <a:endParaRPr lang="pt-BR" sz="1600">
              <a:solidFill>
                <a:srgbClr val="101F2E"/>
              </a:solidFill>
              <a:latin typeface="Aptos Light" panose="020B0004020202020204" pitchFamily="34" charset="0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36C5DF6-4AE0-8885-C11E-790D1275E86C}"/>
              </a:ext>
            </a:extLst>
          </p:cNvPr>
          <p:cNvSpPr txBox="1"/>
          <p:nvPr/>
        </p:nvSpPr>
        <p:spPr>
          <a:xfrm>
            <a:off x="1323622" y="5252558"/>
            <a:ext cx="325847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300" b="1">
                <a:solidFill>
                  <a:srgbClr val="101F2E"/>
                </a:solidFill>
                <a:latin typeface="Aptos" panose="020B0004020202020204" pitchFamily="34" charset="0"/>
              </a:rPr>
              <a:t>+200 clientes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9FCE812A-3FAB-8262-DBF4-848F66972F53}"/>
              </a:ext>
            </a:extLst>
          </p:cNvPr>
          <p:cNvSpPr txBox="1"/>
          <p:nvPr/>
        </p:nvSpPr>
        <p:spPr>
          <a:xfrm>
            <a:off x="1323622" y="5633491"/>
            <a:ext cx="2926831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600">
                <a:solidFill>
                  <a:srgbClr val="101F2E"/>
                </a:solidFill>
                <a:latin typeface="Aptos Light"/>
              </a:rPr>
              <a:t>Aproximadamente</a:t>
            </a:r>
          </a:p>
        </p:txBody>
      </p:sp>
      <p:pic>
        <p:nvPicPr>
          <p:cNvPr id="57" name="Imagem 56">
            <a:extLst>
              <a:ext uri="{FF2B5EF4-FFF2-40B4-BE49-F238E27FC236}">
                <a16:creationId xmlns:a16="http://schemas.microsoft.com/office/drawing/2014/main" id="{E8DC341B-E596-421E-F7DC-898C0EBD11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027" y="2577711"/>
            <a:ext cx="1779532" cy="1466073"/>
          </a:xfrm>
          <a:prstGeom prst="rect">
            <a:avLst/>
          </a:prstGeom>
        </p:spPr>
      </p:pic>
      <p:sp>
        <p:nvSpPr>
          <p:cNvPr id="58" name="Elipse 57">
            <a:extLst>
              <a:ext uri="{FF2B5EF4-FFF2-40B4-BE49-F238E27FC236}">
                <a16:creationId xmlns:a16="http://schemas.microsoft.com/office/drawing/2014/main" id="{B558C0D1-0B53-8BFE-2E4D-2510F70110DF}"/>
              </a:ext>
            </a:extLst>
          </p:cNvPr>
          <p:cNvSpPr/>
          <p:nvPr/>
        </p:nvSpPr>
        <p:spPr>
          <a:xfrm>
            <a:off x="7275161" y="1817110"/>
            <a:ext cx="2906578" cy="2906578"/>
          </a:xfrm>
          <a:prstGeom prst="ellipse">
            <a:avLst/>
          </a:prstGeom>
          <a:noFill/>
          <a:ln>
            <a:gradFill>
              <a:gsLst>
                <a:gs pos="0">
                  <a:srgbClr val="D5B170">
                    <a:alpha val="77000"/>
                  </a:srgbClr>
                </a:gs>
                <a:gs pos="53000">
                  <a:schemeClr val="bg1">
                    <a:alpha val="36000"/>
                  </a:schemeClr>
                </a:gs>
                <a:gs pos="100000">
                  <a:srgbClr val="D5B170">
                    <a:alpha val="61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6DC505E2-C89B-A9A8-8163-920EAF65058D}"/>
              </a:ext>
            </a:extLst>
          </p:cNvPr>
          <p:cNvSpPr/>
          <p:nvPr/>
        </p:nvSpPr>
        <p:spPr>
          <a:xfrm>
            <a:off x="7259941" y="1589511"/>
            <a:ext cx="912259" cy="912259"/>
          </a:xfrm>
          <a:prstGeom prst="ellipse">
            <a:avLst/>
          </a:prstGeom>
          <a:solidFill>
            <a:srgbClr val="FCF9F5"/>
          </a:solidFill>
          <a:ln w="3175"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60" name="Elipse 59">
            <a:hlinkClick r:id="rId8" action="ppaction://hlinksldjump"/>
            <a:extLst>
              <a:ext uri="{FF2B5EF4-FFF2-40B4-BE49-F238E27FC236}">
                <a16:creationId xmlns:a16="http://schemas.microsoft.com/office/drawing/2014/main" id="{CF6E0449-623C-6E2A-F2EC-ABADB94E69C9}"/>
              </a:ext>
            </a:extLst>
          </p:cNvPr>
          <p:cNvSpPr/>
          <p:nvPr/>
        </p:nvSpPr>
        <p:spPr>
          <a:xfrm>
            <a:off x="6694702" y="2814270"/>
            <a:ext cx="912259" cy="912259"/>
          </a:xfrm>
          <a:prstGeom prst="ellipse">
            <a:avLst/>
          </a:prstGeom>
          <a:solidFill>
            <a:srgbClr val="FCF9F5"/>
          </a:solidFill>
          <a:ln w="3175"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573C7DD0-5F4F-B037-2F4E-2159176A7E54}"/>
              </a:ext>
            </a:extLst>
          </p:cNvPr>
          <p:cNvSpPr/>
          <p:nvPr/>
        </p:nvSpPr>
        <p:spPr>
          <a:xfrm>
            <a:off x="7086484" y="4033703"/>
            <a:ext cx="912259" cy="912259"/>
          </a:xfrm>
          <a:prstGeom prst="ellipse">
            <a:avLst/>
          </a:prstGeom>
          <a:solidFill>
            <a:srgbClr val="FCF9F5"/>
          </a:solidFill>
          <a:ln w="3175"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62" name="Elipse 61">
            <a:hlinkClick r:id="" action="ppaction://noaction"/>
            <a:extLst>
              <a:ext uri="{FF2B5EF4-FFF2-40B4-BE49-F238E27FC236}">
                <a16:creationId xmlns:a16="http://schemas.microsoft.com/office/drawing/2014/main" id="{B76B9871-D349-E4A6-194C-4E4F59886E89}"/>
              </a:ext>
            </a:extLst>
          </p:cNvPr>
          <p:cNvSpPr/>
          <p:nvPr/>
        </p:nvSpPr>
        <p:spPr>
          <a:xfrm>
            <a:off x="8302544" y="4488319"/>
            <a:ext cx="912259" cy="912259"/>
          </a:xfrm>
          <a:prstGeom prst="ellipse">
            <a:avLst/>
          </a:prstGeom>
          <a:solidFill>
            <a:srgbClr val="FCF9F5"/>
          </a:solidFill>
          <a:ln w="3175"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63" name="Elipse 62">
            <a:hlinkClick r:id="" action="ppaction://noaction"/>
            <a:extLst>
              <a:ext uri="{FF2B5EF4-FFF2-40B4-BE49-F238E27FC236}">
                <a16:creationId xmlns:a16="http://schemas.microsoft.com/office/drawing/2014/main" id="{3E252597-19C6-C1FA-0AC6-F54C2A633905}"/>
              </a:ext>
            </a:extLst>
          </p:cNvPr>
          <p:cNvSpPr/>
          <p:nvPr/>
        </p:nvSpPr>
        <p:spPr>
          <a:xfrm>
            <a:off x="9468531" y="4033703"/>
            <a:ext cx="912259" cy="912259"/>
          </a:xfrm>
          <a:prstGeom prst="ellipse">
            <a:avLst/>
          </a:prstGeom>
          <a:solidFill>
            <a:srgbClr val="FCF9F5"/>
          </a:solidFill>
          <a:ln w="3175"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30C2F36C-E76E-59F7-8118-60E59BDC6EF1}"/>
              </a:ext>
            </a:extLst>
          </p:cNvPr>
          <p:cNvSpPr/>
          <p:nvPr/>
        </p:nvSpPr>
        <p:spPr>
          <a:xfrm>
            <a:off x="9890606" y="2814270"/>
            <a:ext cx="912259" cy="912259"/>
          </a:xfrm>
          <a:prstGeom prst="ellipse">
            <a:avLst/>
          </a:prstGeom>
          <a:solidFill>
            <a:srgbClr val="FCF9F5"/>
          </a:solidFill>
          <a:ln w="3175"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CF5D9B5A-DD0F-B057-9F03-EF863F16321D}"/>
              </a:ext>
            </a:extLst>
          </p:cNvPr>
          <p:cNvSpPr/>
          <p:nvPr/>
        </p:nvSpPr>
        <p:spPr>
          <a:xfrm>
            <a:off x="9318851" y="1589511"/>
            <a:ext cx="912259" cy="912259"/>
          </a:xfrm>
          <a:prstGeom prst="ellipse">
            <a:avLst/>
          </a:prstGeom>
          <a:solidFill>
            <a:srgbClr val="FCF9F5"/>
          </a:solidFill>
          <a:ln w="3175"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pic>
        <p:nvPicPr>
          <p:cNvPr id="66" name="Gráfico 65" descr="Calculadora com preenchimento sólido">
            <a:extLst>
              <a:ext uri="{FF2B5EF4-FFF2-40B4-BE49-F238E27FC236}">
                <a16:creationId xmlns:a16="http://schemas.microsoft.com/office/drawing/2014/main" id="{BFA01C05-17CE-BF03-5759-FA0300E11C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42168" y="1793906"/>
            <a:ext cx="537659" cy="537659"/>
          </a:xfrm>
          <a:prstGeom prst="rect">
            <a:avLst/>
          </a:prstGeom>
        </p:spPr>
      </p:pic>
      <p:pic>
        <p:nvPicPr>
          <p:cNvPr id="67" name="Gráfico 66" descr="Maleta com preenchimento sólido">
            <a:extLst>
              <a:ext uri="{FF2B5EF4-FFF2-40B4-BE49-F238E27FC236}">
                <a16:creationId xmlns:a16="http://schemas.microsoft.com/office/drawing/2014/main" id="{1AA11232-68A9-4B2B-12F5-B39DB5393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1098" y="2983139"/>
            <a:ext cx="537659" cy="537659"/>
          </a:xfrm>
          <a:prstGeom prst="rect">
            <a:avLst/>
          </a:prstGeom>
        </p:spPr>
      </p:pic>
      <p:pic>
        <p:nvPicPr>
          <p:cNvPr id="68" name="Gráfico 67" descr="Dois Homens com preenchimento sólido">
            <a:hlinkClick r:id="" action="ppaction://noaction"/>
            <a:extLst>
              <a:ext uri="{FF2B5EF4-FFF2-40B4-BE49-F238E27FC236}">
                <a16:creationId xmlns:a16="http://schemas.microsoft.com/office/drawing/2014/main" id="{FD36E830-DC2A-749E-DE32-CAA85C3C6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5830" y="4224498"/>
            <a:ext cx="537659" cy="537659"/>
          </a:xfrm>
          <a:prstGeom prst="rect">
            <a:avLst/>
          </a:prstGeom>
        </p:spPr>
      </p:pic>
      <p:pic>
        <p:nvPicPr>
          <p:cNvPr id="69" name="Gráfico 68" descr="Peças de xadrez com preenchimento sólido">
            <a:hlinkClick r:id="" action="ppaction://noaction"/>
            <a:extLst>
              <a:ext uri="{FF2B5EF4-FFF2-40B4-BE49-F238E27FC236}">
                <a16:creationId xmlns:a16="http://schemas.microsoft.com/office/drawing/2014/main" id="{1121CE8B-B037-0C82-F776-972FBE459C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06157" y="4679045"/>
            <a:ext cx="537659" cy="537659"/>
          </a:xfrm>
          <a:prstGeom prst="rect">
            <a:avLst/>
          </a:prstGeom>
        </p:spPr>
      </p:pic>
      <p:pic>
        <p:nvPicPr>
          <p:cNvPr id="70" name="Gráfico 69" descr="Casa com preenchimento sólido">
            <a:extLst>
              <a:ext uri="{FF2B5EF4-FFF2-40B4-BE49-F238E27FC236}">
                <a16:creationId xmlns:a16="http://schemas.microsoft.com/office/drawing/2014/main" id="{E305CCC0-E65A-8F61-ED2B-EAB852813F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64287" y="4189971"/>
            <a:ext cx="537659" cy="537659"/>
          </a:xfrm>
          <a:prstGeom prst="rect">
            <a:avLst/>
          </a:prstGeom>
        </p:spPr>
      </p:pic>
      <p:pic>
        <p:nvPicPr>
          <p:cNvPr id="71" name="Gráfico 70" descr="Contrato com preenchimento sólido">
            <a:hlinkClick r:id="rId8" action="ppaction://hlinksldjump"/>
            <a:extLst>
              <a:ext uri="{FF2B5EF4-FFF2-40B4-BE49-F238E27FC236}">
                <a16:creationId xmlns:a16="http://schemas.microsoft.com/office/drawing/2014/main" id="{AD476784-BBE0-2DDD-45F9-63EFB55F45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82001" y="2982578"/>
            <a:ext cx="537659" cy="537659"/>
          </a:xfrm>
          <a:prstGeom prst="rect">
            <a:avLst/>
          </a:prstGeom>
        </p:spPr>
      </p:pic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3DEE0797-7F81-DABC-CEE4-24B9B4122D50}"/>
              </a:ext>
            </a:extLst>
          </p:cNvPr>
          <p:cNvCxnSpPr>
            <a:cxnSpLocks/>
          </p:cNvCxnSpPr>
          <p:nvPr/>
        </p:nvCxnSpPr>
        <p:spPr>
          <a:xfrm flipH="1">
            <a:off x="6169304" y="2333231"/>
            <a:ext cx="1232561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2C36237E-AB61-5CEF-E49D-6D849E52EB9D}"/>
              </a:ext>
            </a:extLst>
          </p:cNvPr>
          <p:cNvCxnSpPr>
            <a:cxnSpLocks/>
          </p:cNvCxnSpPr>
          <p:nvPr/>
        </p:nvCxnSpPr>
        <p:spPr>
          <a:xfrm flipH="1">
            <a:off x="5139251" y="3654197"/>
            <a:ext cx="1751448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E70E6C03-10F1-E864-1B8E-A2DF9F638C45}"/>
              </a:ext>
            </a:extLst>
          </p:cNvPr>
          <p:cNvCxnSpPr>
            <a:cxnSpLocks/>
          </p:cNvCxnSpPr>
          <p:nvPr/>
        </p:nvCxnSpPr>
        <p:spPr>
          <a:xfrm flipH="1">
            <a:off x="6014975" y="4929834"/>
            <a:ext cx="1442236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092F18C2-562B-E0D6-DB23-4BAA3A2C274C}"/>
              </a:ext>
            </a:extLst>
          </p:cNvPr>
          <p:cNvCxnSpPr>
            <a:cxnSpLocks/>
          </p:cNvCxnSpPr>
          <p:nvPr/>
        </p:nvCxnSpPr>
        <p:spPr>
          <a:xfrm flipH="1">
            <a:off x="7896082" y="6144106"/>
            <a:ext cx="1663421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2B174A62-E56C-9561-BA4D-C4C836C58174}"/>
              </a:ext>
            </a:extLst>
          </p:cNvPr>
          <p:cNvCxnSpPr>
            <a:cxnSpLocks/>
          </p:cNvCxnSpPr>
          <p:nvPr/>
        </p:nvCxnSpPr>
        <p:spPr>
          <a:xfrm flipH="1">
            <a:off x="10101098" y="4915136"/>
            <a:ext cx="1012054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>
            <a:extLst>
              <a:ext uri="{FF2B5EF4-FFF2-40B4-BE49-F238E27FC236}">
                <a16:creationId xmlns:a16="http://schemas.microsoft.com/office/drawing/2014/main" id="{A6E9ED04-8A74-D0CE-ACB7-DB75990915EE}"/>
              </a:ext>
            </a:extLst>
          </p:cNvPr>
          <p:cNvCxnSpPr>
            <a:cxnSpLocks/>
          </p:cNvCxnSpPr>
          <p:nvPr/>
        </p:nvCxnSpPr>
        <p:spPr>
          <a:xfrm flipH="1">
            <a:off x="10612203" y="3654197"/>
            <a:ext cx="1001898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023C4AB0-ACD2-4A03-7364-F8D7D8BCF525}"/>
              </a:ext>
            </a:extLst>
          </p:cNvPr>
          <p:cNvSpPr txBox="1"/>
          <p:nvPr/>
        </p:nvSpPr>
        <p:spPr>
          <a:xfrm>
            <a:off x="5679934" y="1709987"/>
            <a:ext cx="1662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>
                <a:solidFill>
                  <a:srgbClr val="101F2E"/>
                </a:solidFill>
              </a:rPr>
              <a:t>Reestruturação Empresarial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3638D221-CAB9-32E3-F7AD-95955727E4EF}"/>
              </a:ext>
            </a:extLst>
          </p:cNvPr>
          <p:cNvSpPr txBox="1"/>
          <p:nvPr/>
        </p:nvSpPr>
        <p:spPr>
          <a:xfrm>
            <a:off x="5125477" y="3069422"/>
            <a:ext cx="1864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>
                <a:solidFill>
                  <a:srgbClr val="101F2E"/>
                </a:solidFill>
              </a:rPr>
              <a:t>Societário e Contratos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3F2D9F71-D960-13EF-F4C0-0666A65E3FB8}"/>
              </a:ext>
            </a:extLst>
          </p:cNvPr>
          <p:cNvSpPr txBox="1"/>
          <p:nvPr/>
        </p:nvSpPr>
        <p:spPr>
          <a:xfrm>
            <a:off x="5428107" y="4256427"/>
            <a:ext cx="1898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>
                <a:solidFill>
                  <a:srgbClr val="101F2E"/>
                </a:solidFill>
              </a:rPr>
              <a:t>Estruturação Patrimonial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0D622A19-225C-10DB-75CE-78AD47B53E15}"/>
              </a:ext>
            </a:extLst>
          </p:cNvPr>
          <p:cNvSpPr txBox="1"/>
          <p:nvPr/>
        </p:nvSpPr>
        <p:spPr>
          <a:xfrm>
            <a:off x="7464074" y="5483390"/>
            <a:ext cx="25891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>
                <a:solidFill>
                  <a:srgbClr val="101F2E"/>
                </a:solidFill>
              </a:rPr>
              <a:t>Recuperação Estratégica de Créditos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CAEA9C8B-B2B3-BB49-F236-6E68DF200CEA}"/>
              </a:ext>
            </a:extLst>
          </p:cNvPr>
          <p:cNvSpPr txBox="1"/>
          <p:nvPr/>
        </p:nvSpPr>
        <p:spPr>
          <a:xfrm>
            <a:off x="10302544" y="4341735"/>
            <a:ext cx="810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>
                <a:solidFill>
                  <a:srgbClr val="101F2E"/>
                </a:solidFill>
              </a:rPr>
              <a:t>Cível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7A88E98C-C707-5602-6E21-4587C9005B7C}"/>
              </a:ext>
            </a:extLst>
          </p:cNvPr>
          <p:cNvSpPr txBox="1"/>
          <p:nvPr/>
        </p:nvSpPr>
        <p:spPr>
          <a:xfrm>
            <a:off x="10447630" y="3130391"/>
            <a:ext cx="174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>
                <a:solidFill>
                  <a:srgbClr val="101F2E"/>
                </a:solidFill>
              </a:rPr>
              <a:t>Trabalhista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8E035789-47F7-B573-9C8A-AB03E885AF69}"/>
              </a:ext>
            </a:extLst>
          </p:cNvPr>
          <p:cNvSpPr txBox="1"/>
          <p:nvPr/>
        </p:nvSpPr>
        <p:spPr>
          <a:xfrm>
            <a:off x="10066202" y="1875588"/>
            <a:ext cx="174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>
                <a:solidFill>
                  <a:srgbClr val="101F2E"/>
                </a:solidFill>
              </a:rPr>
              <a:t>Empresarial</a:t>
            </a:r>
          </a:p>
        </p:txBody>
      </p:sp>
      <p:pic>
        <p:nvPicPr>
          <p:cNvPr id="86" name="Gráfico 85" descr="Gráfico de barras com tendência ascendente com preenchimento sólido">
            <a:extLst>
              <a:ext uri="{FF2B5EF4-FFF2-40B4-BE49-F238E27FC236}">
                <a16:creationId xmlns:a16="http://schemas.microsoft.com/office/drawing/2014/main" id="{210212CC-0C91-BF10-38D9-DEBBB56A65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43885" y="1789528"/>
            <a:ext cx="514269" cy="514269"/>
          </a:xfrm>
          <a:prstGeom prst="rect">
            <a:avLst/>
          </a:prstGeom>
        </p:spPr>
      </p:pic>
      <p:cxnSp>
        <p:nvCxnSpPr>
          <p:cNvPr id="100" name="Conector reto 99">
            <a:extLst>
              <a:ext uri="{FF2B5EF4-FFF2-40B4-BE49-F238E27FC236}">
                <a16:creationId xmlns:a16="http://schemas.microsoft.com/office/drawing/2014/main" id="{07ACE6CA-A2E3-CFBA-DBB5-76AE6F3E16C0}"/>
              </a:ext>
            </a:extLst>
          </p:cNvPr>
          <p:cNvCxnSpPr>
            <a:cxnSpLocks/>
          </p:cNvCxnSpPr>
          <p:nvPr/>
        </p:nvCxnSpPr>
        <p:spPr>
          <a:xfrm flipH="1">
            <a:off x="10101098" y="2331565"/>
            <a:ext cx="1232561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888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AF71-9B98-45F8-F339-818EB5A55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27D8C9CE-7375-4137-4BD2-D835639AEFD4}"/>
              </a:ext>
            </a:extLst>
          </p:cNvPr>
          <p:cNvSpPr/>
          <p:nvPr/>
        </p:nvSpPr>
        <p:spPr>
          <a:xfrm>
            <a:off x="0" y="-12144"/>
            <a:ext cx="12192000" cy="6870144"/>
          </a:xfrm>
          <a:prstGeom prst="rect">
            <a:avLst/>
          </a:prstGeom>
          <a:solidFill>
            <a:srgbClr val="FC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pic>
        <p:nvPicPr>
          <p:cNvPr id="5" name="Espaço Reservado para Conteúdo 12">
            <a:extLst>
              <a:ext uri="{FF2B5EF4-FFF2-40B4-BE49-F238E27FC236}">
                <a16:creationId xmlns:a16="http://schemas.microsoft.com/office/drawing/2014/main" id="{F6BD8A75-9CCA-5F8C-26B6-2E3D813809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7" t="1560" r="3524" b="1716"/>
          <a:stretch>
            <a:fillRect/>
          </a:stretch>
        </p:blipFill>
        <p:spPr>
          <a:xfrm rot="5400000">
            <a:off x="2667001" y="-2679144"/>
            <a:ext cx="6858002" cy="12192003"/>
          </a:xfrm>
          <a:prstGeom prst="rect">
            <a:avLst/>
          </a:prstGeom>
        </p:spPr>
      </p:pic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B1910CEF-9B58-BA64-3E7E-6FA501BB2452}"/>
              </a:ext>
            </a:extLst>
          </p:cNvPr>
          <p:cNvSpPr/>
          <p:nvPr/>
        </p:nvSpPr>
        <p:spPr>
          <a:xfrm>
            <a:off x="3792191" y="1360614"/>
            <a:ext cx="4519716" cy="4212684"/>
          </a:xfrm>
          <a:custGeom>
            <a:avLst/>
            <a:gdLst>
              <a:gd name="csX0" fmla="*/ 2439492 w 4769744"/>
              <a:gd name="csY0" fmla="*/ 4387738 h 4445727"/>
              <a:gd name="csX1" fmla="*/ 1279286 w 4769744"/>
              <a:gd name="csY1" fmla="*/ 4014112 h 4445727"/>
              <a:gd name="csX2" fmla="*/ 1092473 w 4769744"/>
              <a:gd name="csY2" fmla="*/ 2499944 h 4445727"/>
              <a:gd name="csX3" fmla="*/ 187905 w 4769744"/>
              <a:gd name="csY3" fmla="*/ 1654370 h 4445727"/>
              <a:gd name="csX4" fmla="*/ 30589 w 4769744"/>
              <a:gd name="csY4" fmla="*/ 680976 h 4445727"/>
              <a:gd name="csX5" fmla="*/ 610692 w 4769744"/>
              <a:gd name="csY5" fmla="*/ 2550 h 4445727"/>
              <a:gd name="csX6" fmla="*/ 2233015 w 4769744"/>
              <a:gd name="csY6" fmla="*/ 445002 h 4445727"/>
              <a:gd name="csX7" fmla="*/ 4042150 w 4769744"/>
              <a:gd name="csY7" fmla="*/ 327015 h 4445727"/>
              <a:gd name="csX8" fmla="*/ 4769738 w 4769744"/>
              <a:gd name="csY8" fmla="*/ 1290576 h 4445727"/>
              <a:gd name="csX9" fmla="*/ 4051983 w 4769744"/>
              <a:gd name="csY9" fmla="*/ 2991557 h 4445727"/>
              <a:gd name="csX10" fmla="*/ 2439492 w 4769744"/>
              <a:gd name="csY10" fmla="*/ 4387738 h 4445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769744" h="4445727">
                <a:moveTo>
                  <a:pt x="2439492" y="4387738"/>
                </a:moveTo>
                <a:cubicBezTo>
                  <a:pt x="1977376" y="4558164"/>
                  <a:pt x="1503789" y="4328744"/>
                  <a:pt x="1279286" y="4014112"/>
                </a:cubicBezTo>
                <a:cubicBezTo>
                  <a:pt x="1054783" y="3699480"/>
                  <a:pt x="1274370" y="2893234"/>
                  <a:pt x="1092473" y="2499944"/>
                </a:cubicBezTo>
                <a:cubicBezTo>
                  <a:pt x="910576" y="2106654"/>
                  <a:pt x="364886" y="1957531"/>
                  <a:pt x="187905" y="1654370"/>
                </a:cubicBezTo>
                <a:cubicBezTo>
                  <a:pt x="10924" y="1351209"/>
                  <a:pt x="-39876" y="956279"/>
                  <a:pt x="30589" y="680976"/>
                </a:cubicBezTo>
                <a:cubicBezTo>
                  <a:pt x="101053" y="405673"/>
                  <a:pt x="243621" y="41879"/>
                  <a:pt x="610692" y="2550"/>
                </a:cubicBezTo>
                <a:cubicBezTo>
                  <a:pt x="977763" y="-36779"/>
                  <a:pt x="1661105" y="390924"/>
                  <a:pt x="2233015" y="445002"/>
                </a:cubicBezTo>
                <a:cubicBezTo>
                  <a:pt x="2804925" y="499080"/>
                  <a:pt x="3619363" y="186086"/>
                  <a:pt x="4042150" y="327015"/>
                </a:cubicBezTo>
                <a:cubicBezTo>
                  <a:pt x="4464937" y="467944"/>
                  <a:pt x="4768099" y="846486"/>
                  <a:pt x="4769738" y="1290576"/>
                </a:cubicBezTo>
                <a:cubicBezTo>
                  <a:pt x="4771377" y="1734666"/>
                  <a:pt x="4437080" y="2475363"/>
                  <a:pt x="4051983" y="2991557"/>
                </a:cubicBezTo>
                <a:cubicBezTo>
                  <a:pt x="3666886" y="3507751"/>
                  <a:pt x="2901608" y="4217312"/>
                  <a:pt x="2439492" y="4387738"/>
                </a:cubicBezTo>
                <a:close/>
              </a:path>
            </a:pathLst>
          </a:custGeom>
          <a:gradFill>
            <a:gsLst>
              <a:gs pos="9000">
                <a:srgbClr val="E8D5B2"/>
              </a:gs>
              <a:gs pos="57000">
                <a:srgbClr val="D5B170"/>
              </a:gs>
              <a:gs pos="100000">
                <a:srgbClr val="CA9C4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A04F6D1-E274-8D96-0C84-4255CC3F1C33}"/>
              </a:ext>
            </a:extLst>
          </p:cNvPr>
          <p:cNvSpPr/>
          <p:nvPr/>
        </p:nvSpPr>
        <p:spPr>
          <a:xfrm>
            <a:off x="675767" y="399833"/>
            <a:ext cx="57840" cy="485456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9" name="SLIDE_RECONHECIMENTOS">
            <a:extLst>
              <a:ext uri="{FF2B5EF4-FFF2-40B4-BE49-F238E27FC236}">
                <a16:creationId xmlns:a16="http://schemas.microsoft.com/office/drawing/2014/main" id="{0B3148E5-410C-A286-322E-D6DFF08985AC}"/>
              </a:ext>
            </a:extLst>
          </p:cNvPr>
          <p:cNvSpPr txBox="1"/>
          <p:nvPr/>
        </p:nvSpPr>
        <p:spPr>
          <a:xfrm>
            <a:off x="733607" y="346688"/>
            <a:ext cx="3652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Reconhecimentos</a:t>
            </a:r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1C73A4B9-BFAC-4C5D-817C-B86FF2816437}"/>
              </a:ext>
            </a:extLst>
          </p:cNvPr>
          <p:cNvSpPr/>
          <p:nvPr/>
        </p:nvSpPr>
        <p:spPr>
          <a:xfrm rot="1235428">
            <a:off x="6035178" y="1678417"/>
            <a:ext cx="121648" cy="1669361"/>
          </a:xfrm>
          <a:custGeom>
            <a:avLst/>
            <a:gdLst>
              <a:gd name="csX0" fmla="*/ 0 w 167591"/>
              <a:gd name="csY0" fmla="*/ 1582993 h 1582993"/>
              <a:gd name="csX1" fmla="*/ 167148 w 167591"/>
              <a:gd name="csY1" fmla="*/ 540774 h 1582993"/>
              <a:gd name="csX2" fmla="*/ 39329 w 167591"/>
              <a:gd name="csY2" fmla="*/ 0 h 15829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7591" h="1582993">
                <a:moveTo>
                  <a:pt x="0" y="1582993"/>
                </a:moveTo>
                <a:cubicBezTo>
                  <a:pt x="80296" y="1193799"/>
                  <a:pt x="160593" y="804606"/>
                  <a:pt x="167148" y="540774"/>
                </a:cubicBezTo>
                <a:cubicBezTo>
                  <a:pt x="173703" y="276942"/>
                  <a:pt x="106516" y="138471"/>
                  <a:pt x="39329" y="0"/>
                </a:cubicBezTo>
              </a:path>
            </a:pathLst>
          </a:custGeom>
          <a:noFill/>
          <a:ln w="57150">
            <a:solidFill>
              <a:srgbClr val="FC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CFA00BF2-1B38-204C-BDC3-FCE97BB9B15F}"/>
              </a:ext>
            </a:extLst>
          </p:cNvPr>
          <p:cNvSpPr/>
          <p:nvPr/>
        </p:nvSpPr>
        <p:spPr>
          <a:xfrm rot="875357">
            <a:off x="6447734" y="1665461"/>
            <a:ext cx="1355226" cy="1533833"/>
          </a:xfrm>
          <a:custGeom>
            <a:avLst/>
            <a:gdLst>
              <a:gd name="csX0" fmla="*/ 0 w 1355226"/>
              <a:gd name="csY0" fmla="*/ 1533833 h 1533833"/>
              <a:gd name="csX1" fmla="*/ 1179871 w 1355226"/>
              <a:gd name="csY1" fmla="*/ 707923 h 1533833"/>
              <a:gd name="csX2" fmla="*/ 1327355 w 1355226"/>
              <a:gd name="csY2" fmla="*/ 0 h 15338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55226" h="1533833">
                <a:moveTo>
                  <a:pt x="0" y="1533833"/>
                </a:moveTo>
                <a:cubicBezTo>
                  <a:pt x="479322" y="1248697"/>
                  <a:pt x="958645" y="963562"/>
                  <a:pt x="1179871" y="707923"/>
                </a:cubicBezTo>
                <a:cubicBezTo>
                  <a:pt x="1401097" y="452284"/>
                  <a:pt x="1364226" y="226142"/>
                  <a:pt x="1327355" y="0"/>
                </a:cubicBezTo>
              </a:path>
            </a:pathLst>
          </a:custGeom>
          <a:noFill/>
          <a:ln w="57150">
            <a:solidFill>
              <a:srgbClr val="FC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4EF525C4-3952-B41B-6BAF-10524975BC52}"/>
              </a:ext>
            </a:extLst>
          </p:cNvPr>
          <p:cNvSpPr/>
          <p:nvPr/>
        </p:nvSpPr>
        <p:spPr>
          <a:xfrm>
            <a:off x="6409278" y="2566555"/>
            <a:ext cx="2175281" cy="819568"/>
          </a:xfrm>
          <a:custGeom>
            <a:avLst/>
            <a:gdLst>
              <a:gd name="csX0" fmla="*/ 0 w 2074607"/>
              <a:gd name="csY0" fmla="*/ 757083 h 757083"/>
              <a:gd name="csX1" fmla="*/ 1533833 w 2074607"/>
              <a:gd name="csY1" fmla="*/ 550606 h 757083"/>
              <a:gd name="csX2" fmla="*/ 2074607 w 2074607"/>
              <a:gd name="csY2" fmla="*/ 0 h 7570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74607" h="757083">
                <a:moveTo>
                  <a:pt x="0" y="757083"/>
                </a:moveTo>
                <a:cubicBezTo>
                  <a:pt x="594032" y="716934"/>
                  <a:pt x="1188065" y="676786"/>
                  <a:pt x="1533833" y="550606"/>
                </a:cubicBezTo>
                <a:cubicBezTo>
                  <a:pt x="1879601" y="424425"/>
                  <a:pt x="1977104" y="212212"/>
                  <a:pt x="2074607" y="0"/>
                </a:cubicBezTo>
              </a:path>
            </a:pathLst>
          </a:custGeom>
          <a:noFill/>
          <a:ln w="57150">
            <a:solidFill>
              <a:srgbClr val="FC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E90494C9-F3D5-EDA4-CB2A-3DFE8C07937C}"/>
              </a:ext>
            </a:extLst>
          </p:cNvPr>
          <p:cNvSpPr/>
          <p:nvPr/>
        </p:nvSpPr>
        <p:spPr>
          <a:xfrm rot="21031604">
            <a:off x="6240367" y="3493934"/>
            <a:ext cx="1769806" cy="864013"/>
          </a:xfrm>
          <a:custGeom>
            <a:avLst/>
            <a:gdLst>
              <a:gd name="csX0" fmla="*/ 0 w 1769806"/>
              <a:gd name="csY0" fmla="*/ 0 h 864013"/>
              <a:gd name="csX1" fmla="*/ 1052051 w 1769806"/>
              <a:gd name="csY1" fmla="*/ 796413 h 864013"/>
              <a:gd name="csX2" fmla="*/ 1769806 w 1769806"/>
              <a:gd name="csY2" fmla="*/ 766916 h 864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69806" h="864013">
                <a:moveTo>
                  <a:pt x="0" y="0"/>
                </a:moveTo>
                <a:cubicBezTo>
                  <a:pt x="378541" y="334297"/>
                  <a:pt x="757083" y="668594"/>
                  <a:pt x="1052051" y="796413"/>
                </a:cubicBezTo>
                <a:cubicBezTo>
                  <a:pt x="1347019" y="924232"/>
                  <a:pt x="1558412" y="845574"/>
                  <a:pt x="1769806" y="766916"/>
                </a:cubicBezTo>
              </a:path>
            </a:pathLst>
          </a:custGeom>
          <a:noFill/>
          <a:ln w="57150">
            <a:solidFill>
              <a:srgbClr val="FC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2373B9A7-1C92-6008-5BAE-E40D7E134405}"/>
              </a:ext>
            </a:extLst>
          </p:cNvPr>
          <p:cNvSpPr/>
          <p:nvPr/>
        </p:nvSpPr>
        <p:spPr>
          <a:xfrm rot="2136053">
            <a:off x="5702268" y="3922791"/>
            <a:ext cx="1527344" cy="880333"/>
          </a:xfrm>
          <a:custGeom>
            <a:avLst/>
            <a:gdLst>
              <a:gd name="csX0" fmla="*/ 0 w 1769806"/>
              <a:gd name="csY0" fmla="*/ 0 h 864013"/>
              <a:gd name="csX1" fmla="*/ 1052051 w 1769806"/>
              <a:gd name="csY1" fmla="*/ 796413 h 864013"/>
              <a:gd name="csX2" fmla="*/ 1769806 w 1769806"/>
              <a:gd name="csY2" fmla="*/ 766916 h 864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69806" h="864013">
                <a:moveTo>
                  <a:pt x="0" y="0"/>
                </a:moveTo>
                <a:cubicBezTo>
                  <a:pt x="378541" y="334297"/>
                  <a:pt x="757083" y="668594"/>
                  <a:pt x="1052051" y="796413"/>
                </a:cubicBezTo>
                <a:cubicBezTo>
                  <a:pt x="1347019" y="924232"/>
                  <a:pt x="1558412" y="845574"/>
                  <a:pt x="1769806" y="766916"/>
                </a:cubicBezTo>
              </a:path>
            </a:pathLst>
          </a:custGeom>
          <a:noFill/>
          <a:ln w="57150">
            <a:solidFill>
              <a:srgbClr val="FC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CAE5C009-B827-02B7-F929-588F3E2AD615}"/>
              </a:ext>
            </a:extLst>
          </p:cNvPr>
          <p:cNvSpPr/>
          <p:nvPr/>
        </p:nvSpPr>
        <p:spPr>
          <a:xfrm rot="19148602" flipH="1">
            <a:off x="4890595" y="4364337"/>
            <a:ext cx="1442537" cy="808534"/>
          </a:xfrm>
          <a:custGeom>
            <a:avLst/>
            <a:gdLst>
              <a:gd name="csX0" fmla="*/ 0 w 1769806"/>
              <a:gd name="csY0" fmla="*/ 0 h 864013"/>
              <a:gd name="csX1" fmla="*/ 1052051 w 1769806"/>
              <a:gd name="csY1" fmla="*/ 796413 h 864013"/>
              <a:gd name="csX2" fmla="*/ 1769806 w 1769806"/>
              <a:gd name="csY2" fmla="*/ 766916 h 864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69806" h="864013">
                <a:moveTo>
                  <a:pt x="0" y="0"/>
                </a:moveTo>
                <a:cubicBezTo>
                  <a:pt x="378541" y="334297"/>
                  <a:pt x="757083" y="668594"/>
                  <a:pt x="1052051" y="796413"/>
                </a:cubicBezTo>
                <a:cubicBezTo>
                  <a:pt x="1347019" y="924232"/>
                  <a:pt x="1558412" y="845574"/>
                  <a:pt x="1769806" y="766916"/>
                </a:cubicBezTo>
              </a:path>
            </a:pathLst>
          </a:custGeom>
          <a:noFill/>
          <a:ln w="57150">
            <a:solidFill>
              <a:srgbClr val="FC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CD40B8E1-38CC-2145-C89A-633142515D5E}"/>
              </a:ext>
            </a:extLst>
          </p:cNvPr>
          <p:cNvSpPr/>
          <p:nvPr/>
        </p:nvSpPr>
        <p:spPr>
          <a:xfrm rot="498823" flipH="1">
            <a:off x="4600454" y="3680528"/>
            <a:ext cx="1327759" cy="816466"/>
          </a:xfrm>
          <a:custGeom>
            <a:avLst/>
            <a:gdLst>
              <a:gd name="csX0" fmla="*/ 0 w 1769806"/>
              <a:gd name="csY0" fmla="*/ 0 h 864013"/>
              <a:gd name="csX1" fmla="*/ 1052051 w 1769806"/>
              <a:gd name="csY1" fmla="*/ 796413 h 864013"/>
              <a:gd name="csX2" fmla="*/ 1769806 w 1769806"/>
              <a:gd name="csY2" fmla="*/ 766916 h 864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69806" h="864013">
                <a:moveTo>
                  <a:pt x="0" y="0"/>
                </a:moveTo>
                <a:cubicBezTo>
                  <a:pt x="378541" y="334297"/>
                  <a:pt x="757083" y="668594"/>
                  <a:pt x="1052051" y="796413"/>
                </a:cubicBezTo>
                <a:cubicBezTo>
                  <a:pt x="1347019" y="924232"/>
                  <a:pt x="1558412" y="845574"/>
                  <a:pt x="1769806" y="766916"/>
                </a:cubicBezTo>
              </a:path>
            </a:pathLst>
          </a:custGeom>
          <a:noFill/>
          <a:ln w="57150">
            <a:solidFill>
              <a:srgbClr val="FC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58" name="Forma Livre: Forma 57">
            <a:extLst>
              <a:ext uri="{FF2B5EF4-FFF2-40B4-BE49-F238E27FC236}">
                <a16:creationId xmlns:a16="http://schemas.microsoft.com/office/drawing/2014/main" id="{1D45B412-D8AC-8AC6-9DFC-BFE665F2BFDC}"/>
              </a:ext>
            </a:extLst>
          </p:cNvPr>
          <p:cNvSpPr/>
          <p:nvPr/>
        </p:nvSpPr>
        <p:spPr>
          <a:xfrm rot="1692912" flipH="1">
            <a:off x="3975480" y="2629223"/>
            <a:ext cx="1575650" cy="800002"/>
          </a:xfrm>
          <a:custGeom>
            <a:avLst/>
            <a:gdLst>
              <a:gd name="csX0" fmla="*/ 0 w 1769806"/>
              <a:gd name="csY0" fmla="*/ 0 h 864013"/>
              <a:gd name="csX1" fmla="*/ 1052051 w 1769806"/>
              <a:gd name="csY1" fmla="*/ 796413 h 864013"/>
              <a:gd name="csX2" fmla="*/ 1769806 w 1769806"/>
              <a:gd name="csY2" fmla="*/ 766916 h 864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69806" h="864013">
                <a:moveTo>
                  <a:pt x="0" y="0"/>
                </a:moveTo>
                <a:cubicBezTo>
                  <a:pt x="378541" y="334297"/>
                  <a:pt x="757083" y="668594"/>
                  <a:pt x="1052051" y="796413"/>
                </a:cubicBezTo>
                <a:cubicBezTo>
                  <a:pt x="1347019" y="924232"/>
                  <a:pt x="1558412" y="845574"/>
                  <a:pt x="1769806" y="766916"/>
                </a:cubicBezTo>
              </a:path>
            </a:pathLst>
          </a:custGeom>
          <a:noFill/>
          <a:ln w="57150">
            <a:solidFill>
              <a:srgbClr val="FC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B77742EF-6138-9314-7BFF-4514B6DBA141}"/>
              </a:ext>
            </a:extLst>
          </p:cNvPr>
          <p:cNvSpPr/>
          <p:nvPr/>
        </p:nvSpPr>
        <p:spPr>
          <a:xfrm>
            <a:off x="5059492" y="2472595"/>
            <a:ext cx="2079814" cy="1938529"/>
          </a:xfrm>
          <a:custGeom>
            <a:avLst/>
            <a:gdLst>
              <a:gd name="csX0" fmla="*/ 2439492 w 4769744"/>
              <a:gd name="csY0" fmla="*/ 4387738 h 4445727"/>
              <a:gd name="csX1" fmla="*/ 1279286 w 4769744"/>
              <a:gd name="csY1" fmla="*/ 4014112 h 4445727"/>
              <a:gd name="csX2" fmla="*/ 1092473 w 4769744"/>
              <a:gd name="csY2" fmla="*/ 2499944 h 4445727"/>
              <a:gd name="csX3" fmla="*/ 187905 w 4769744"/>
              <a:gd name="csY3" fmla="*/ 1654370 h 4445727"/>
              <a:gd name="csX4" fmla="*/ 30589 w 4769744"/>
              <a:gd name="csY4" fmla="*/ 680976 h 4445727"/>
              <a:gd name="csX5" fmla="*/ 610692 w 4769744"/>
              <a:gd name="csY5" fmla="*/ 2550 h 4445727"/>
              <a:gd name="csX6" fmla="*/ 2233015 w 4769744"/>
              <a:gd name="csY6" fmla="*/ 445002 h 4445727"/>
              <a:gd name="csX7" fmla="*/ 4042150 w 4769744"/>
              <a:gd name="csY7" fmla="*/ 327015 h 4445727"/>
              <a:gd name="csX8" fmla="*/ 4769738 w 4769744"/>
              <a:gd name="csY8" fmla="*/ 1290576 h 4445727"/>
              <a:gd name="csX9" fmla="*/ 4051983 w 4769744"/>
              <a:gd name="csY9" fmla="*/ 2991557 h 4445727"/>
              <a:gd name="csX10" fmla="*/ 2439492 w 4769744"/>
              <a:gd name="csY10" fmla="*/ 4387738 h 44457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769744" h="4445727">
                <a:moveTo>
                  <a:pt x="2439492" y="4387738"/>
                </a:moveTo>
                <a:cubicBezTo>
                  <a:pt x="1977376" y="4558164"/>
                  <a:pt x="1503789" y="4328744"/>
                  <a:pt x="1279286" y="4014112"/>
                </a:cubicBezTo>
                <a:cubicBezTo>
                  <a:pt x="1054783" y="3699480"/>
                  <a:pt x="1274370" y="2893234"/>
                  <a:pt x="1092473" y="2499944"/>
                </a:cubicBezTo>
                <a:cubicBezTo>
                  <a:pt x="910576" y="2106654"/>
                  <a:pt x="364886" y="1957531"/>
                  <a:pt x="187905" y="1654370"/>
                </a:cubicBezTo>
                <a:cubicBezTo>
                  <a:pt x="10924" y="1351209"/>
                  <a:pt x="-39876" y="956279"/>
                  <a:pt x="30589" y="680976"/>
                </a:cubicBezTo>
                <a:cubicBezTo>
                  <a:pt x="101053" y="405673"/>
                  <a:pt x="243621" y="41879"/>
                  <a:pt x="610692" y="2550"/>
                </a:cubicBezTo>
                <a:cubicBezTo>
                  <a:pt x="977763" y="-36779"/>
                  <a:pt x="1661105" y="390924"/>
                  <a:pt x="2233015" y="445002"/>
                </a:cubicBezTo>
                <a:cubicBezTo>
                  <a:pt x="2804925" y="499080"/>
                  <a:pt x="3619363" y="186086"/>
                  <a:pt x="4042150" y="327015"/>
                </a:cubicBezTo>
                <a:cubicBezTo>
                  <a:pt x="4464937" y="467944"/>
                  <a:pt x="4768099" y="846486"/>
                  <a:pt x="4769738" y="1290576"/>
                </a:cubicBezTo>
                <a:cubicBezTo>
                  <a:pt x="4771377" y="1734666"/>
                  <a:pt x="4437080" y="2475363"/>
                  <a:pt x="4051983" y="2991557"/>
                </a:cubicBezTo>
                <a:cubicBezTo>
                  <a:pt x="3666886" y="3507751"/>
                  <a:pt x="2901608" y="4217312"/>
                  <a:pt x="2439492" y="4387738"/>
                </a:cubicBezTo>
                <a:close/>
              </a:path>
            </a:pathLst>
          </a:cu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96" name="Forma Livre: Forma 95">
            <a:extLst>
              <a:ext uri="{FF2B5EF4-FFF2-40B4-BE49-F238E27FC236}">
                <a16:creationId xmlns:a16="http://schemas.microsoft.com/office/drawing/2014/main" id="{EBE66885-1F6A-5E64-C4D0-9B0A3C8E44A8}"/>
              </a:ext>
            </a:extLst>
          </p:cNvPr>
          <p:cNvSpPr/>
          <p:nvPr/>
        </p:nvSpPr>
        <p:spPr>
          <a:xfrm rot="4568858" flipH="1">
            <a:off x="4288426" y="1926602"/>
            <a:ext cx="2103147" cy="833325"/>
          </a:xfrm>
          <a:custGeom>
            <a:avLst/>
            <a:gdLst>
              <a:gd name="csX0" fmla="*/ 0 w 1769806"/>
              <a:gd name="csY0" fmla="*/ 0 h 864013"/>
              <a:gd name="csX1" fmla="*/ 1052051 w 1769806"/>
              <a:gd name="csY1" fmla="*/ 796413 h 864013"/>
              <a:gd name="csX2" fmla="*/ 1769806 w 1769806"/>
              <a:gd name="csY2" fmla="*/ 766916 h 8640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69806" h="864013">
                <a:moveTo>
                  <a:pt x="0" y="0"/>
                </a:moveTo>
                <a:cubicBezTo>
                  <a:pt x="378541" y="334297"/>
                  <a:pt x="757083" y="668594"/>
                  <a:pt x="1052051" y="796413"/>
                </a:cubicBezTo>
                <a:cubicBezTo>
                  <a:pt x="1347019" y="924232"/>
                  <a:pt x="1558412" y="845574"/>
                  <a:pt x="1769806" y="766916"/>
                </a:cubicBezTo>
              </a:path>
            </a:pathLst>
          </a:custGeom>
          <a:noFill/>
          <a:ln w="57150">
            <a:solidFill>
              <a:srgbClr val="FC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C0AB7480-CE12-C1B0-F9CA-058C7F5F6041}"/>
              </a:ext>
            </a:extLst>
          </p:cNvPr>
          <p:cNvSpPr txBox="1"/>
          <p:nvPr/>
        </p:nvSpPr>
        <p:spPr>
          <a:xfrm>
            <a:off x="5010577" y="758458"/>
            <a:ext cx="191736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900">
                <a:solidFill>
                  <a:srgbClr val="101F2E"/>
                </a:solidFill>
              </a:rPr>
              <a:t>Escritório mais admirado no setor de autopeças e peças automotivas no ano de 2018.</a:t>
            </a:r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32E27FEB-ADC2-BACD-1920-CFE0685EAF35}"/>
              </a:ext>
            </a:extLst>
          </p:cNvPr>
          <p:cNvSpPr txBox="1"/>
          <p:nvPr/>
        </p:nvSpPr>
        <p:spPr>
          <a:xfrm>
            <a:off x="7485998" y="865032"/>
            <a:ext cx="214408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900">
                <a:solidFill>
                  <a:srgbClr val="101F2E"/>
                </a:solidFill>
              </a:rPr>
              <a:t>Escritório mais admirado entre os escritórios especializados do país no ano de 2019.</a:t>
            </a:r>
          </a:p>
        </p:txBody>
      </p: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ADFA87AE-729F-3694-DDD7-28EF75B51501}"/>
              </a:ext>
            </a:extLst>
          </p:cNvPr>
          <p:cNvSpPr txBox="1"/>
          <p:nvPr/>
        </p:nvSpPr>
        <p:spPr>
          <a:xfrm>
            <a:off x="9219701" y="1938143"/>
            <a:ext cx="2504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900">
                <a:solidFill>
                  <a:srgbClr val="101F2E"/>
                </a:solidFill>
              </a:rPr>
              <a:t>Em 2020, o escritório recebeu o prestigiado Prêmio Análise Advocacia, sendo reconhecido como o mais admirado entre os escritórios especializados do país.</a:t>
            </a:r>
          </a:p>
        </p:txBody>
      </p:sp>
      <p:sp>
        <p:nvSpPr>
          <p:cNvPr id="120" name="CaixaDeTexto 119">
            <a:extLst>
              <a:ext uri="{FF2B5EF4-FFF2-40B4-BE49-F238E27FC236}">
                <a16:creationId xmlns:a16="http://schemas.microsoft.com/office/drawing/2014/main" id="{C179B7D0-4631-89A0-9223-8A7E3C81D890}"/>
              </a:ext>
            </a:extLst>
          </p:cNvPr>
          <p:cNvSpPr txBox="1"/>
          <p:nvPr/>
        </p:nvSpPr>
        <p:spPr>
          <a:xfrm>
            <a:off x="8860699" y="3322345"/>
            <a:ext cx="2548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900">
                <a:solidFill>
                  <a:srgbClr val="101F2E"/>
                </a:solidFill>
              </a:rPr>
              <a:t>Em 2021, o escritório foi agraciado com o Prêmio Análise Advocacia Regional, sendo reconhecido como o escritório especializado mais admirado do interior de São Paulo.</a:t>
            </a:r>
          </a:p>
        </p:txBody>
      </p: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26422314-B439-F6BC-98BF-83D3D686954C}"/>
              </a:ext>
            </a:extLst>
          </p:cNvPr>
          <p:cNvSpPr txBox="1"/>
          <p:nvPr/>
        </p:nvSpPr>
        <p:spPr>
          <a:xfrm>
            <a:off x="8356098" y="4581103"/>
            <a:ext cx="2727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900">
                <a:solidFill>
                  <a:srgbClr val="101F2E"/>
                </a:solidFill>
              </a:rPr>
              <a:t>Em 2022, conquistamos novamente o Prêmio Análise Advocacia Regional, sendo reconhecidos como o escritório especializado mais admirado do interior de São Paulo.</a:t>
            </a:r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101BF2B8-6C5B-8510-0435-EE783DC23FE0}"/>
              </a:ext>
            </a:extLst>
          </p:cNvPr>
          <p:cNvSpPr txBox="1"/>
          <p:nvPr/>
        </p:nvSpPr>
        <p:spPr>
          <a:xfrm>
            <a:off x="5662645" y="6020815"/>
            <a:ext cx="2692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900">
                <a:solidFill>
                  <a:srgbClr val="101F2E"/>
                </a:solidFill>
              </a:rPr>
              <a:t>Pelo sexto ano consecutivo, destacamo-nos no Anuário da Revista Análise Advocacia 2023/2024, reforçando nosso compromisso com a excelência e o reconhecimento nacional.</a:t>
            </a:r>
          </a:p>
        </p:txBody>
      </p:sp>
      <p:sp>
        <p:nvSpPr>
          <p:cNvPr id="126" name="CaixaDeTexto 125">
            <a:extLst>
              <a:ext uri="{FF2B5EF4-FFF2-40B4-BE49-F238E27FC236}">
                <a16:creationId xmlns:a16="http://schemas.microsoft.com/office/drawing/2014/main" id="{BF0F9A92-1CB2-1CA8-46A0-6F80009288C1}"/>
              </a:ext>
            </a:extLst>
          </p:cNvPr>
          <p:cNvSpPr txBox="1"/>
          <p:nvPr/>
        </p:nvSpPr>
        <p:spPr>
          <a:xfrm>
            <a:off x="1536505" y="4808793"/>
            <a:ext cx="235035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900">
                <a:solidFill>
                  <a:srgbClr val="101F2E"/>
                </a:solidFill>
              </a:rPr>
              <a:t>Pelo 4º ano consecutivo, reconhecidos como um dos escritórios mais admirados do interior de São Paulo.</a:t>
            </a:r>
          </a:p>
        </p:txBody>
      </p:sp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3BB897C8-6CFE-34C2-E46D-00E4845BA3F6}"/>
              </a:ext>
            </a:extLst>
          </p:cNvPr>
          <p:cNvSpPr txBox="1"/>
          <p:nvPr/>
        </p:nvSpPr>
        <p:spPr>
          <a:xfrm>
            <a:off x="1235146" y="3484379"/>
            <a:ext cx="24503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900">
                <a:solidFill>
                  <a:srgbClr val="101F2E"/>
                </a:solidFill>
              </a:rPr>
              <a:t>Em 2025, reafirmamos nossa posição de destaque no cenário jurídico ao sermos novamente reconhecidos entre os escritórios mais admirados do país.</a:t>
            </a:r>
          </a:p>
        </p:txBody>
      </p:sp>
      <p:sp>
        <p:nvSpPr>
          <p:cNvPr id="130" name="CaixaDeTexto 129">
            <a:extLst>
              <a:ext uri="{FF2B5EF4-FFF2-40B4-BE49-F238E27FC236}">
                <a16:creationId xmlns:a16="http://schemas.microsoft.com/office/drawing/2014/main" id="{EC93B200-C609-2CFA-FBCF-2CDAE671FFD7}"/>
              </a:ext>
            </a:extLst>
          </p:cNvPr>
          <p:cNvSpPr txBox="1"/>
          <p:nvPr/>
        </p:nvSpPr>
        <p:spPr>
          <a:xfrm>
            <a:off x="1005209" y="1846712"/>
            <a:ext cx="24455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900">
                <a:solidFill>
                  <a:srgbClr val="101F2E"/>
                </a:solidFill>
              </a:rPr>
              <a:t>Em 2026, conquistamos mais um importante reconhecimento, reafirmando nossa posição entre os escritórios de destaque do país e nosso compromisso contínuo com a excelência.</a:t>
            </a:r>
          </a:p>
        </p:txBody>
      </p:sp>
      <p:pic>
        <p:nvPicPr>
          <p:cNvPr id="60" name="Imagem 59">
            <a:extLst>
              <a:ext uri="{FF2B5EF4-FFF2-40B4-BE49-F238E27FC236}">
                <a16:creationId xmlns:a16="http://schemas.microsoft.com/office/drawing/2014/main" id="{828CA2C1-BA67-CC0A-7D36-2509EC86E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035" y="2897264"/>
            <a:ext cx="1117485" cy="920643"/>
          </a:xfrm>
          <a:prstGeom prst="rect">
            <a:avLst/>
          </a:prstGeom>
        </p:spPr>
      </p:pic>
      <p:sp>
        <p:nvSpPr>
          <p:cNvPr id="131" name="CaixaDeTexto 130">
            <a:extLst>
              <a:ext uri="{FF2B5EF4-FFF2-40B4-BE49-F238E27FC236}">
                <a16:creationId xmlns:a16="http://schemas.microsoft.com/office/drawing/2014/main" id="{E8815BFB-1E03-6A3E-2D70-E8073993FB6D}"/>
              </a:ext>
            </a:extLst>
          </p:cNvPr>
          <p:cNvSpPr txBox="1"/>
          <p:nvPr/>
        </p:nvSpPr>
        <p:spPr>
          <a:xfrm>
            <a:off x="1005205" y="1590370"/>
            <a:ext cx="746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2026</a:t>
            </a:r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C399D455-CE9D-4C8D-8E66-58D6B8953170}"/>
              </a:ext>
            </a:extLst>
          </p:cNvPr>
          <p:cNvSpPr txBox="1"/>
          <p:nvPr/>
        </p:nvSpPr>
        <p:spPr>
          <a:xfrm>
            <a:off x="1235146" y="3195239"/>
            <a:ext cx="746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2025</a:t>
            </a:r>
          </a:p>
        </p:txBody>
      </p:sp>
      <p:sp>
        <p:nvSpPr>
          <p:cNvPr id="135" name="CaixaDeTexto 134">
            <a:extLst>
              <a:ext uri="{FF2B5EF4-FFF2-40B4-BE49-F238E27FC236}">
                <a16:creationId xmlns:a16="http://schemas.microsoft.com/office/drawing/2014/main" id="{516958EC-BBC9-CD04-5987-CE81458F6477}"/>
              </a:ext>
            </a:extLst>
          </p:cNvPr>
          <p:cNvSpPr txBox="1"/>
          <p:nvPr/>
        </p:nvSpPr>
        <p:spPr>
          <a:xfrm>
            <a:off x="1536505" y="4580125"/>
            <a:ext cx="746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2024</a:t>
            </a:r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C524EDDB-BDB1-E6A4-4A29-7E8B9C532C94}"/>
              </a:ext>
            </a:extLst>
          </p:cNvPr>
          <p:cNvSpPr txBox="1"/>
          <p:nvPr/>
        </p:nvSpPr>
        <p:spPr>
          <a:xfrm>
            <a:off x="5662645" y="5797905"/>
            <a:ext cx="746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2023</a:t>
            </a:r>
          </a:p>
        </p:txBody>
      </p:sp>
      <p:sp>
        <p:nvSpPr>
          <p:cNvPr id="139" name="CaixaDeTexto 138">
            <a:extLst>
              <a:ext uri="{FF2B5EF4-FFF2-40B4-BE49-F238E27FC236}">
                <a16:creationId xmlns:a16="http://schemas.microsoft.com/office/drawing/2014/main" id="{CA6D7DB3-909E-99F5-11BF-84B72417196E}"/>
              </a:ext>
            </a:extLst>
          </p:cNvPr>
          <p:cNvSpPr txBox="1"/>
          <p:nvPr/>
        </p:nvSpPr>
        <p:spPr>
          <a:xfrm>
            <a:off x="8356098" y="4365143"/>
            <a:ext cx="746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2022</a:t>
            </a:r>
          </a:p>
        </p:txBody>
      </p:sp>
      <p:sp>
        <p:nvSpPr>
          <p:cNvPr id="141" name="CaixaDeTexto 140">
            <a:extLst>
              <a:ext uri="{FF2B5EF4-FFF2-40B4-BE49-F238E27FC236}">
                <a16:creationId xmlns:a16="http://schemas.microsoft.com/office/drawing/2014/main" id="{798FD2BB-8B26-4F8A-0089-C55B77551A89}"/>
              </a:ext>
            </a:extLst>
          </p:cNvPr>
          <p:cNvSpPr txBox="1"/>
          <p:nvPr/>
        </p:nvSpPr>
        <p:spPr>
          <a:xfrm>
            <a:off x="8860698" y="3108374"/>
            <a:ext cx="746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2021</a:t>
            </a:r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FEBB4292-D7A3-7CAA-D78F-49E8EEA63896}"/>
              </a:ext>
            </a:extLst>
          </p:cNvPr>
          <p:cNvSpPr txBox="1"/>
          <p:nvPr/>
        </p:nvSpPr>
        <p:spPr>
          <a:xfrm>
            <a:off x="9219700" y="1705271"/>
            <a:ext cx="746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2020</a:t>
            </a:r>
          </a:p>
        </p:txBody>
      </p:sp>
      <p:sp>
        <p:nvSpPr>
          <p:cNvPr id="145" name="CaixaDeTexto 144">
            <a:extLst>
              <a:ext uri="{FF2B5EF4-FFF2-40B4-BE49-F238E27FC236}">
                <a16:creationId xmlns:a16="http://schemas.microsoft.com/office/drawing/2014/main" id="{36CBAB78-BD06-2759-410C-3818C4B23868}"/>
              </a:ext>
            </a:extLst>
          </p:cNvPr>
          <p:cNvSpPr txBox="1"/>
          <p:nvPr/>
        </p:nvSpPr>
        <p:spPr>
          <a:xfrm>
            <a:off x="7485997" y="662315"/>
            <a:ext cx="746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2019</a:t>
            </a:r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6B3105C3-688F-D69D-A345-15AF269C1503}"/>
              </a:ext>
            </a:extLst>
          </p:cNvPr>
          <p:cNvSpPr txBox="1"/>
          <p:nvPr/>
        </p:nvSpPr>
        <p:spPr>
          <a:xfrm>
            <a:off x="5010577" y="551631"/>
            <a:ext cx="746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2018</a:t>
            </a:r>
          </a:p>
        </p:txBody>
      </p:sp>
      <p:cxnSp>
        <p:nvCxnSpPr>
          <p:cNvPr id="148" name="Conector reto 147">
            <a:extLst>
              <a:ext uri="{FF2B5EF4-FFF2-40B4-BE49-F238E27FC236}">
                <a16:creationId xmlns:a16="http://schemas.microsoft.com/office/drawing/2014/main" id="{B85F4794-5CD7-6AF5-820C-B15A701867D4}"/>
              </a:ext>
            </a:extLst>
          </p:cNvPr>
          <p:cNvCxnSpPr>
            <a:cxnSpLocks/>
          </p:cNvCxnSpPr>
          <p:nvPr/>
        </p:nvCxnSpPr>
        <p:spPr>
          <a:xfrm flipH="1">
            <a:off x="1005205" y="2631065"/>
            <a:ext cx="3563527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to 149">
            <a:extLst>
              <a:ext uri="{FF2B5EF4-FFF2-40B4-BE49-F238E27FC236}">
                <a16:creationId xmlns:a16="http://schemas.microsoft.com/office/drawing/2014/main" id="{815B8464-2B47-DD72-70E8-37FD0863F3D0}"/>
              </a:ext>
            </a:extLst>
          </p:cNvPr>
          <p:cNvCxnSpPr>
            <a:cxnSpLocks/>
          </p:cNvCxnSpPr>
          <p:nvPr/>
        </p:nvCxnSpPr>
        <p:spPr>
          <a:xfrm flipH="1">
            <a:off x="1301712" y="4240150"/>
            <a:ext cx="3880175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to 150">
            <a:extLst>
              <a:ext uri="{FF2B5EF4-FFF2-40B4-BE49-F238E27FC236}">
                <a16:creationId xmlns:a16="http://schemas.microsoft.com/office/drawing/2014/main" id="{20CAFA60-6A55-6343-6B2A-30E0A5A96AA0}"/>
              </a:ext>
            </a:extLst>
          </p:cNvPr>
          <p:cNvCxnSpPr>
            <a:cxnSpLocks/>
            <a:endCxn id="190" idx="6"/>
          </p:cNvCxnSpPr>
          <p:nvPr/>
        </p:nvCxnSpPr>
        <p:spPr>
          <a:xfrm flipH="1">
            <a:off x="1586681" y="5420114"/>
            <a:ext cx="3604233" cy="10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to 151">
            <a:extLst>
              <a:ext uri="{FF2B5EF4-FFF2-40B4-BE49-F238E27FC236}">
                <a16:creationId xmlns:a16="http://schemas.microsoft.com/office/drawing/2014/main" id="{5FB71274-E740-5F7B-8074-3CD9ECEE7FA7}"/>
              </a:ext>
            </a:extLst>
          </p:cNvPr>
          <p:cNvCxnSpPr>
            <a:cxnSpLocks/>
          </p:cNvCxnSpPr>
          <p:nvPr/>
        </p:nvCxnSpPr>
        <p:spPr>
          <a:xfrm flipH="1">
            <a:off x="5555203" y="6667146"/>
            <a:ext cx="2888899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to 153">
            <a:extLst>
              <a:ext uri="{FF2B5EF4-FFF2-40B4-BE49-F238E27FC236}">
                <a16:creationId xmlns:a16="http://schemas.microsoft.com/office/drawing/2014/main" id="{E29BC869-0990-1F9C-819F-F167733D9E2A}"/>
              </a:ext>
            </a:extLst>
          </p:cNvPr>
          <p:cNvCxnSpPr>
            <a:cxnSpLocks/>
          </p:cNvCxnSpPr>
          <p:nvPr/>
        </p:nvCxnSpPr>
        <p:spPr>
          <a:xfrm flipH="1">
            <a:off x="7709353" y="5349408"/>
            <a:ext cx="3527607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to 154">
            <a:extLst>
              <a:ext uri="{FF2B5EF4-FFF2-40B4-BE49-F238E27FC236}">
                <a16:creationId xmlns:a16="http://schemas.microsoft.com/office/drawing/2014/main" id="{5856D8A2-37D6-AE79-7EB9-9F09C6F6393F}"/>
              </a:ext>
            </a:extLst>
          </p:cNvPr>
          <p:cNvCxnSpPr>
            <a:cxnSpLocks/>
          </p:cNvCxnSpPr>
          <p:nvPr/>
        </p:nvCxnSpPr>
        <p:spPr>
          <a:xfrm flipH="1">
            <a:off x="5065466" y="1326268"/>
            <a:ext cx="1734557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to 156">
            <a:extLst>
              <a:ext uri="{FF2B5EF4-FFF2-40B4-BE49-F238E27FC236}">
                <a16:creationId xmlns:a16="http://schemas.microsoft.com/office/drawing/2014/main" id="{B3E044C6-5C32-66D4-4CD8-DCD693F5A8E1}"/>
              </a:ext>
            </a:extLst>
          </p:cNvPr>
          <p:cNvCxnSpPr>
            <a:cxnSpLocks/>
          </p:cNvCxnSpPr>
          <p:nvPr/>
        </p:nvCxnSpPr>
        <p:spPr>
          <a:xfrm flipH="1">
            <a:off x="7535938" y="1465051"/>
            <a:ext cx="1734557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to 157">
            <a:extLst>
              <a:ext uri="{FF2B5EF4-FFF2-40B4-BE49-F238E27FC236}">
                <a16:creationId xmlns:a16="http://schemas.microsoft.com/office/drawing/2014/main" id="{82A879E4-A589-F46D-17C2-83048E987E0B}"/>
              </a:ext>
            </a:extLst>
          </p:cNvPr>
          <p:cNvCxnSpPr>
            <a:cxnSpLocks/>
          </p:cNvCxnSpPr>
          <p:nvPr/>
        </p:nvCxnSpPr>
        <p:spPr>
          <a:xfrm flipH="1">
            <a:off x="8138371" y="2754532"/>
            <a:ext cx="3586269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reto 159">
            <a:extLst>
              <a:ext uri="{FF2B5EF4-FFF2-40B4-BE49-F238E27FC236}">
                <a16:creationId xmlns:a16="http://schemas.microsoft.com/office/drawing/2014/main" id="{4907597D-F26A-F616-028E-6F5EFE779DFE}"/>
              </a:ext>
            </a:extLst>
          </p:cNvPr>
          <p:cNvCxnSpPr>
            <a:cxnSpLocks/>
          </p:cNvCxnSpPr>
          <p:nvPr/>
        </p:nvCxnSpPr>
        <p:spPr>
          <a:xfrm flipH="1">
            <a:off x="7496918" y="4088761"/>
            <a:ext cx="3586269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Imagem 61">
            <a:extLst>
              <a:ext uri="{FF2B5EF4-FFF2-40B4-BE49-F238E27FC236}">
                <a16:creationId xmlns:a16="http://schemas.microsoft.com/office/drawing/2014/main" id="{F7DFC0E1-7354-9EDC-1BF7-9AF7FE91F3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766" y="5268904"/>
            <a:ext cx="1123799" cy="470378"/>
          </a:xfrm>
          <a:prstGeom prst="rect">
            <a:avLst/>
          </a:prstGeom>
        </p:spPr>
      </p:pic>
      <p:pic>
        <p:nvPicPr>
          <p:cNvPr id="74" name="Imagem 73">
            <a:extLst>
              <a:ext uri="{FF2B5EF4-FFF2-40B4-BE49-F238E27FC236}">
                <a16:creationId xmlns:a16="http://schemas.microsoft.com/office/drawing/2014/main" id="{F0E9B273-D8C8-33E2-4864-1C0E116F7E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022" y="1308481"/>
            <a:ext cx="1354346" cy="1064560"/>
          </a:xfrm>
          <a:prstGeom prst="rect">
            <a:avLst/>
          </a:prstGeom>
        </p:spPr>
      </p:pic>
      <p:pic>
        <p:nvPicPr>
          <p:cNvPr id="76" name="Imagem 75">
            <a:extLst>
              <a:ext uri="{FF2B5EF4-FFF2-40B4-BE49-F238E27FC236}">
                <a16:creationId xmlns:a16="http://schemas.microsoft.com/office/drawing/2014/main" id="{18A6A919-80A1-9DA8-1A9C-9FE3AB83E8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900" y="1338587"/>
            <a:ext cx="1286901" cy="1011546"/>
          </a:xfrm>
          <a:prstGeom prst="rect">
            <a:avLst/>
          </a:prstGeom>
        </p:spPr>
      </p:pic>
      <p:pic>
        <p:nvPicPr>
          <p:cNvPr id="78" name="Imagem 77">
            <a:extLst>
              <a:ext uri="{FF2B5EF4-FFF2-40B4-BE49-F238E27FC236}">
                <a16:creationId xmlns:a16="http://schemas.microsoft.com/office/drawing/2014/main" id="{74D8CB1C-2405-661D-6426-8A2FB053A0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672" y="2054083"/>
            <a:ext cx="1388861" cy="1090071"/>
          </a:xfrm>
          <a:prstGeom prst="rect">
            <a:avLst/>
          </a:prstGeom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71C0B3A9-C8CC-A822-0D29-712F5C84A0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567" y="4554555"/>
            <a:ext cx="1103260" cy="865559"/>
          </a:xfrm>
          <a:prstGeom prst="rect">
            <a:avLst/>
          </a:prstGeom>
        </p:spPr>
      </p:pic>
      <p:pic>
        <p:nvPicPr>
          <p:cNvPr id="100" name="Imagem 99">
            <a:extLst>
              <a:ext uri="{FF2B5EF4-FFF2-40B4-BE49-F238E27FC236}">
                <a16:creationId xmlns:a16="http://schemas.microsoft.com/office/drawing/2014/main" id="{F455D0AF-E737-7F65-5293-2465A5FFB0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691" y="3504249"/>
            <a:ext cx="1117171" cy="467604"/>
          </a:xfrm>
          <a:prstGeom prst="rect">
            <a:avLst/>
          </a:prstGeom>
        </p:spPr>
      </p:pic>
      <p:pic>
        <p:nvPicPr>
          <p:cNvPr id="102" name="Imagem 101">
            <a:extLst>
              <a:ext uri="{FF2B5EF4-FFF2-40B4-BE49-F238E27FC236}">
                <a16:creationId xmlns:a16="http://schemas.microsoft.com/office/drawing/2014/main" id="{0A593DDA-29FA-2BEC-8A64-EF00DDFF98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129" y="4432537"/>
            <a:ext cx="1126639" cy="471520"/>
          </a:xfrm>
          <a:prstGeom prst="rect">
            <a:avLst/>
          </a:prstGeom>
        </p:spPr>
      </p:pic>
      <p:pic>
        <p:nvPicPr>
          <p:cNvPr id="72" name="Imagem 71">
            <a:extLst>
              <a:ext uri="{FF2B5EF4-FFF2-40B4-BE49-F238E27FC236}">
                <a16:creationId xmlns:a16="http://schemas.microsoft.com/office/drawing/2014/main" id="{BBC631C5-31C7-E53F-9D22-22C475836BC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6" t="3759" r="3833" b="3698"/>
          <a:stretch>
            <a:fillRect/>
          </a:stretch>
        </p:blipFill>
        <p:spPr>
          <a:xfrm>
            <a:off x="4298614" y="3456626"/>
            <a:ext cx="579583" cy="753419"/>
          </a:xfrm>
          <a:prstGeom prst="roundRect">
            <a:avLst>
              <a:gd name="adj" fmla="val 3412"/>
            </a:avLst>
          </a:prstGeom>
        </p:spPr>
      </p:pic>
      <p:cxnSp>
        <p:nvCxnSpPr>
          <p:cNvPr id="162" name="Conector reto 161">
            <a:extLst>
              <a:ext uri="{FF2B5EF4-FFF2-40B4-BE49-F238E27FC236}">
                <a16:creationId xmlns:a16="http://schemas.microsoft.com/office/drawing/2014/main" id="{E6734B7A-CD24-8709-1DF4-6DB95FE18018}"/>
              </a:ext>
            </a:extLst>
          </p:cNvPr>
          <p:cNvCxnSpPr>
            <a:cxnSpLocks/>
          </p:cNvCxnSpPr>
          <p:nvPr/>
        </p:nvCxnSpPr>
        <p:spPr>
          <a:xfrm>
            <a:off x="5555203" y="5504093"/>
            <a:ext cx="0" cy="1163053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ector reto 164">
            <a:extLst>
              <a:ext uri="{FF2B5EF4-FFF2-40B4-BE49-F238E27FC236}">
                <a16:creationId xmlns:a16="http://schemas.microsoft.com/office/drawing/2014/main" id="{30CE8FBB-62D7-436B-2BDD-6F9B7BB3CE4F}"/>
              </a:ext>
            </a:extLst>
          </p:cNvPr>
          <p:cNvCxnSpPr>
            <a:cxnSpLocks/>
          </p:cNvCxnSpPr>
          <p:nvPr/>
        </p:nvCxnSpPr>
        <p:spPr>
          <a:xfrm>
            <a:off x="7782801" y="4985337"/>
            <a:ext cx="0" cy="364071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to 166">
            <a:extLst>
              <a:ext uri="{FF2B5EF4-FFF2-40B4-BE49-F238E27FC236}">
                <a16:creationId xmlns:a16="http://schemas.microsoft.com/office/drawing/2014/main" id="{A90688EA-B8E9-C4CA-8702-861F8A296353}"/>
              </a:ext>
            </a:extLst>
          </p:cNvPr>
          <p:cNvCxnSpPr>
            <a:cxnSpLocks/>
          </p:cNvCxnSpPr>
          <p:nvPr/>
        </p:nvCxnSpPr>
        <p:spPr>
          <a:xfrm flipH="1">
            <a:off x="6593840" y="4985337"/>
            <a:ext cx="1188961" cy="0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ector reto 169">
            <a:extLst>
              <a:ext uri="{FF2B5EF4-FFF2-40B4-BE49-F238E27FC236}">
                <a16:creationId xmlns:a16="http://schemas.microsoft.com/office/drawing/2014/main" id="{6BD62A38-BC71-0188-AB2E-E0EBF72E134F}"/>
              </a:ext>
            </a:extLst>
          </p:cNvPr>
          <p:cNvCxnSpPr>
            <a:cxnSpLocks/>
          </p:cNvCxnSpPr>
          <p:nvPr/>
        </p:nvCxnSpPr>
        <p:spPr>
          <a:xfrm>
            <a:off x="7562691" y="1461938"/>
            <a:ext cx="0" cy="364071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ector reto 170">
            <a:extLst>
              <a:ext uri="{FF2B5EF4-FFF2-40B4-BE49-F238E27FC236}">
                <a16:creationId xmlns:a16="http://schemas.microsoft.com/office/drawing/2014/main" id="{C9AB2969-D63E-9B20-5CFE-79D8754A1847}"/>
              </a:ext>
            </a:extLst>
          </p:cNvPr>
          <p:cNvCxnSpPr>
            <a:cxnSpLocks/>
          </p:cNvCxnSpPr>
          <p:nvPr/>
        </p:nvCxnSpPr>
        <p:spPr>
          <a:xfrm>
            <a:off x="5073303" y="1308481"/>
            <a:ext cx="0" cy="364071"/>
          </a:xfrm>
          <a:prstGeom prst="line">
            <a:avLst/>
          </a:prstGeom>
          <a:ln>
            <a:gradFill>
              <a:gsLst>
                <a:gs pos="0">
                  <a:srgbClr val="D5B170">
                    <a:alpha val="17000"/>
                  </a:srgbClr>
                </a:gs>
                <a:gs pos="58000">
                  <a:srgbClr val="D5B170"/>
                </a:gs>
                <a:gs pos="100000">
                  <a:srgbClr val="D5B170">
                    <a:alpha val="7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Elipse 171">
            <a:extLst>
              <a:ext uri="{FF2B5EF4-FFF2-40B4-BE49-F238E27FC236}">
                <a16:creationId xmlns:a16="http://schemas.microsoft.com/office/drawing/2014/main" id="{45D37403-4EA2-2715-CE60-034AF84AF572}"/>
              </a:ext>
            </a:extLst>
          </p:cNvPr>
          <p:cNvSpPr/>
          <p:nvPr/>
        </p:nvSpPr>
        <p:spPr>
          <a:xfrm>
            <a:off x="9263038" y="1417145"/>
            <a:ext cx="100352" cy="100352"/>
          </a:xfrm>
          <a:prstGeom prst="ellipse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74" name="Elipse 173">
            <a:extLst>
              <a:ext uri="{FF2B5EF4-FFF2-40B4-BE49-F238E27FC236}">
                <a16:creationId xmlns:a16="http://schemas.microsoft.com/office/drawing/2014/main" id="{B7055E22-C2B6-E80B-E822-0C876367688E}"/>
              </a:ext>
            </a:extLst>
          </p:cNvPr>
          <p:cNvSpPr/>
          <p:nvPr/>
        </p:nvSpPr>
        <p:spPr>
          <a:xfrm>
            <a:off x="11724640" y="2708215"/>
            <a:ext cx="100352" cy="100352"/>
          </a:xfrm>
          <a:prstGeom prst="ellipse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76" name="Elipse 175">
            <a:extLst>
              <a:ext uri="{FF2B5EF4-FFF2-40B4-BE49-F238E27FC236}">
                <a16:creationId xmlns:a16="http://schemas.microsoft.com/office/drawing/2014/main" id="{BCCB7BFE-87C9-D032-004D-57ABF48BC347}"/>
              </a:ext>
            </a:extLst>
          </p:cNvPr>
          <p:cNvSpPr/>
          <p:nvPr/>
        </p:nvSpPr>
        <p:spPr>
          <a:xfrm>
            <a:off x="11033013" y="4038585"/>
            <a:ext cx="100352" cy="100352"/>
          </a:xfrm>
          <a:prstGeom prst="ellipse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78" name="Elipse 177">
            <a:extLst>
              <a:ext uri="{FF2B5EF4-FFF2-40B4-BE49-F238E27FC236}">
                <a16:creationId xmlns:a16="http://schemas.microsoft.com/office/drawing/2014/main" id="{04C1BEB1-DD94-6974-F7E7-EB5DC6B57F3E}"/>
              </a:ext>
            </a:extLst>
          </p:cNvPr>
          <p:cNvSpPr/>
          <p:nvPr/>
        </p:nvSpPr>
        <p:spPr>
          <a:xfrm>
            <a:off x="11136610" y="5299232"/>
            <a:ext cx="100352" cy="100352"/>
          </a:xfrm>
          <a:prstGeom prst="ellipse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80" name="Elipse 179">
            <a:extLst>
              <a:ext uri="{FF2B5EF4-FFF2-40B4-BE49-F238E27FC236}">
                <a16:creationId xmlns:a16="http://schemas.microsoft.com/office/drawing/2014/main" id="{D33F399C-A86A-C528-CC07-4D67B408CE98}"/>
              </a:ext>
            </a:extLst>
          </p:cNvPr>
          <p:cNvSpPr/>
          <p:nvPr/>
        </p:nvSpPr>
        <p:spPr>
          <a:xfrm>
            <a:off x="8356098" y="6616970"/>
            <a:ext cx="100352" cy="100352"/>
          </a:xfrm>
          <a:prstGeom prst="ellipse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69F99FA1-938F-143F-8B46-F8985D3608AE}"/>
              </a:ext>
            </a:extLst>
          </p:cNvPr>
          <p:cNvSpPr/>
          <p:nvPr/>
        </p:nvSpPr>
        <p:spPr>
          <a:xfrm>
            <a:off x="1290419" y="4184024"/>
            <a:ext cx="100352" cy="100352"/>
          </a:xfrm>
          <a:prstGeom prst="ellipse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90" name="Elipse 189">
            <a:extLst>
              <a:ext uri="{FF2B5EF4-FFF2-40B4-BE49-F238E27FC236}">
                <a16:creationId xmlns:a16="http://schemas.microsoft.com/office/drawing/2014/main" id="{28E32D68-158F-09A0-7931-601762482F36}"/>
              </a:ext>
            </a:extLst>
          </p:cNvPr>
          <p:cNvSpPr/>
          <p:nvPr/>
        </p:nvSpPr>
        <p:spPr>
          <a:xfrm>
            <a:off x="1486329" y="5370038"/>
            <a:ext cx="100352" cy="100352"/>
          </a:xfrm>
          <a:prstGeom prst="ellipse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92" name="Elipse 191">
            <a:extLst>
              <a:ext uri="{FF2B5EF4-FFF2-40B4-BE49-F238E27FC236}">
                <a16:creationId xmlns:a16="http://schemas.microsoft.com/office/drawing/2014/main" id="{62DDC4D4-7394-B007-CA90-989666D11482}"/>
              </a:ext>
            </a:extLst>
          </p:cNvPr>
          <p:cNvSpPr/>
          <p:nvPr/>
        </p:nvSpPr>
        <p:spPr>
          <a:xfrm>
            <a:off x="993182" y="2580889"/>
            <a:ext cx="100352" cy="100352"/>
          </a:xfrm>
          <a:prstGeom prst="ellipse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94" name="Elipse 193">
            <a:extLst>
              <a:ext uri="{FF2B5EF4-FFF2-40B4-BE49-F238E27FC236}">
                <a16:creationId xmlns:a16="http://schemas.microsoft.com/office/drawing/2014/main" id="{594C3C70-AA04-FD00-51C9-6C9D45FE7EE9}"/>
              </a:ext>
            </a:extLst>
          </p:cNvPr>
          <p:cNvSpPr/>
          <p:nvPr/>
        </p:nvSpPr>
        <p:spPr>
          <a:xfrm>
            <a:off x="6752778" y="1283398"/>
            <a:ext cx="100352" cy="100352"/>
          </a:xfrm>
          <a:prstGeom prst="ellipse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4" name="Fluxograma: Atraso 3">
            <a:extLst>
              <a:ext uri="{FF2B5EF4-FFF2-40B4-BE49-F238E27FC236}">
                <a16:creationId xmlns:a16="http://schemas.microsoft.com/office/drawing/2014/main" id="{81C21323-FD3D-07AC-E859-ED1614368AC1}"/>
              </a:ext>
            </a:extLst>
          </p:cNvPr>
          <p:cNvSpPr/>
          <p:nvPr/>
        </p:nvSpPr>
        <p:spPr>
          <a:xfrm rot="16200000">
            <a:off x="3888625" y="1655914"/>
            <a:ext cx="393817" cy="644730"/>
          </a:xfrm>
          <a:prstGeom prst="flowChartDelay">
            <a:avLst/>
          </a:prstGeom>
          <a:solidFill>
            <a:srgbClr val="FC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8" name="Fluxograma: Atraso 7">
            <a:extLst>
              <a:ext uri="{FF2B5EF4-FFF2-40B4-BE49-F238E27FC236}">
                <a16:creationId xmlns:a16="http://schemas.microsoft.com/office/drawing/2014/main" id="{2E0023BF-EFA8-1273-1B06-489C55949867}"/>
              </a:ext>
            </a:extLst>
          </p:cNvPr>
          <p:cNvSpPr/>
          <p:nvPr/>
        </p:nvSpPr>
        <p:spPr>
          <a:xfrm rot="5400000">
            <a:off x="3888624" y="2010026"/>
            <a:ext cx="393817" cy="644730"/>
          </a:xfrm>
          <a:prstGeom prst="flowChartDelay">
            <a:avLst/>
          </a:prstGeom>
          <a:solidFill>
            <a:srgbClr val="FC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A23CF96-8209-7E55-F622-710C9158EC6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405" y="1524748"/>
            <a:ext cx="1259535" cy="125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169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20E6147E-34FA-E6BB-BB6A-C29978625C41}"/>
              </a:ext>
            </a:extLst>
          </p:cNvPr>
          <p:cNvSpPr/>
          <p:nvPr/>
        </p:nvSpPr>
        <p:spPr>
          <a:xfrm>
            <a:off x="0" y="-12144"/>
            <a:ext cx="12192000" cy="6870144"/>
          </a:xfrm>
          <a:prstGeom prst="rect">
            <a:avLst/>
          </a:prstGeom>
          <a:solidFill>
            <a:srgbClr val="FC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Espaço Reservado para Conteúdo 12">
            <a:extLst>
              <a:ext uri="{FF2B5EF4-FFF2-40B4-BE49-F238E27FC236}">
                <a16:creationId xmlns:a16="http://schemas.microsoft.com/office/drawing/2014/main" id="{50852A70-A0F6-8B05-4C5F-92F7EEAE341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7" t="1560" r="3524" b="1716"/>
          <a:stretch>
            <a:fillRect/>
          </a:stretch>
        </p:blipFill>
        <p:spPr>
          <a:xfrm rot="5400000">
            <a:off x="2667001" y="-2679144"/>
            <a:ext cx="6858002" cy="12192003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D6DF377-03F4-9379-6EB0-456BAB6EF28B}"/>
              </a:ext>
            </a:extLst>
          </p:cNvPr>
          <p:cNvSpPr/>
          <p:nvPr/>
        </p:nvSpPr>
        <p:spPr>
          <a:xfrm>
            <a:off x="738932" y="1651239"/>
            <a:ext cx="3289759" cy="3765754"/>
          </a:xfrm>
          <a:prstGeom prst="roundRect">
            <a:avLst>
              <a:gd name="adj" fmla="val 10391"/>
            </a:avLst>
          </a:prstGeom>
          <a:solidFill>
            <a:srgbClr val="D5B170">
              <a:alpha val="21000"/>
            </a:srgbClr>
          </a:solidFill>
          <a:ln w="1270">
            <a:gradFill>
              <a:gsLst>
                <a:gs pos="0">
                  <a:srgbClr val="FCF9F5">
                    <a:alpha val="17000"/>
                  </a:srgbClr>
                </a:gs>
                <a:gs pos="54000">
                  <a:srgbClr val="FCF9F5">
                    <a:alpha val="0"/>
                  </a:srgbClr>
                </a:gs>
                <a:gs pos="100000">
                  <a:srgbClr val="FCF9F5">
                    <a:alpha val="15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  <a:latin typeface="Aptos" panose="020B0004020202020204" pitchFamily="34" charset="0"/>
            </a:endParaRPr>
          </a:p>
        </p:txBody>
      </p:sp>
      <p:sp>
        <p:nvSpPr>
          <p:cNvPr id="12" name="TXT_METODOLOGIA">
            <a:extLst>
              <a:ext uri="{FF2B5EF4-FFF2-40B4-BE49-F238E27FC236}">
                <a16:creationId xmlns:a16="http://schemas.microsoft.com/office/drawing/2014/main" id="{9BE92CCD-93B4-9322-A0E8-B434148F5BDF}"/>
              </a:ext>
            </a:extLst>
          </p:cNvPr>
          <p:cNvSpPr txBox="1"/>
          <p:nvPr/>
        </p:nvSpPr>
        <p:spPr>
          <a:xfrm>
            <a:off x="747086" y="2399028"/>
            <a:ext cx="330255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Clr>
                <a:srgbClr val="D5B170"/>
              </a:buClr>
            </a:pPr>
            <a:r>
              <a:rPr lang="pt-BR" sz="1600">
                <a:solidFill>
                  <a:srgbClr val="101F2E"/>
                </a:solidFill>
                <a:latin typeface="Aptos" panose="020B0004020202020204" pitchFamily="34" charset="0"/>
              </a:rPr>
              <a:t>O presente trabalho consiste na apuração e apresentação dos processos judiciais envolvendo as empresas diligenciadas, com análise de aspectos como quantidade, região, natureza, status, data de distribuição, valor da causa e relevância, abrangendo {{METODOLOGIA_ESFERAS}}.</a:t>
            </a:r>
            <a:endParaRPr lang="en-US" sz="1600" b="0" i="0">
              <a:solidFill>
                <a:srgbClr val="101F2E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3258B33-5EB2-CA48-A1FF-9F02B50AF017}"/>
              </a:ext>
            </a:extLst>
          </p:cNvPr>
          <p:cNvSpPr/>
          <p:nvPr/>
        </p:nvSpPr>
        <p:spPr>
          <a:xfrm>
            <a:off x="4411720" y="1639116"/>
            <a:ext cx="3289759" cy="3765754"/>
          </a:xfrm>
          <a:prstGeom prst="roundRect">
            <a:avLst>
              <a:gd name="adj" fmla="val 10391"/>
            </a:avLst>
          </a:prstGeom>
          <a:solidFill>
            <a:srgbClr val="D5B170">
              <a:alpha val="21000"/>
            </a:srgbClr>
          </a:solidFill>
          <a:ln w="1270">
            <a:gradFill>
              <a:gsLst>
                <a:gs pos="0">
                  <a:srgbClr val="FCF9F5">
                    <a:alpha val="17000"/>
                  </a:srgbClr>
                </a:gs>
                <a:gs pos="54000">
                  <a:srgbClr val="FCF9F5">
                    <a:alpha val="0"/>
                  </a:srgbClr>
                </a:gs>
                <a:gs pos="100000">
                  <a:srgbClr val="FCF9F5">
                    <a:alpha val="15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  <a:latin typeface="Aptos" panose="020B0004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A8D644F-FC37-706C-242E-BE2BA1DC21EE}"/>
              </a:ext>
            </a:extLst>
          </p:cNvPr>
          <p:cNvSpPr txBox="1"/>
          <p:nvPr/>
        </p:nvSpPr>
        <p:spPr>
          <a:xfrm>
            <a:off x="4399996" y="2468189"/>
            <a:ext cx="328975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Clr>
                <a:srgbClr val="D5B170"/>
              </a:buClr>
            </a:pPr>
            <a:r>
              <a:rPr lang="pt-BR" sz="1600">
                <a:solidFill>
                  <a:srgbClr val="101F2E"/>
                </a:solidFill>
                <a:latin typeface="Aptos" panose="020B0004020202020204" pitchFamily="34" charset="0"/>
              </a:rPr>
              <a:t>A pesquisa foi realizada em plataformas digitais de abrangência nacional, consultando bases dos Tribunais Estaduais, Federais e Trabalhistas. A equipe técnica do escritório analisou os processos localizados para identificar os principais litígios e o passivo judicial das empresas diligenciadas.</a:t>
            </a:r>
            <a:endParaRPr lang="en-US" sz="1600" b="0" i="0">
              <a:solidFill>
                <a:srgbClr val="101F2E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5046438-AAB0-B181-90CF-09B330B4F004}"/>
              </a:ext>
            </a:extLst>
          </p:cNvPr>
          <p:cNvSpPr/>
          <p:nvPr/>
        </p:nvSpPr>
        <p:spPr>
          <a:xfrm>
            <a:off x="8096232" y="1651239"/>
            <a:ext cx="3289759" cy="3765754"/>
          </a:xfrm>
          <a:prstGeom prst="roundRect">
            <a:avLst>
              <a:gd name="adj" fmla="val 10391"/>
            </a:avLst>
          </a:prstGeom>
          <a:solidFill>
            <a:srgbClr val="D5B170">
              <a:alpha val="21000"/>
            </a:srgbClr>
          </a:solidFill>
          <a:ln w="1270">
            <a:gradFill>
              <a:gsLst>
                <a:gs pos="0">
                  <a:srgbClr val="FCF9F5">
                    <a:alpha val="17000"/>
                  </a:srgbClr>
                </a:gs>
                <a:gs pos="54000">
                  <a:srgbClr val="FCF9F5">
                    <a:alpha val="0"/>
                  </a:srgbClr>
                </a:gs>
                <a:gs pos="100000">
                  <a:srgbClr val="FCF9F5">
                    <a:alpha val="15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  <a:latin typeface="Aptos" panose="020B0004020202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207BD3B-079C-8FF8-80F6-C9108C9C8D53}"/>
              </a:ext>
            </a:extLst>
          </p:cNvPr>
          <p:cNvSpPr txBox="1"/>
          <p:nvPr/>
        </p:nvSpPr>
        <p:spPr>
          <a:xfrm>
            <a:off x="8244871" y="2768360"/>
            <a:ext cx="299246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Clr>
                <a:srgbClr val="D5B170"/>
              </a:buClr>
            </a:pPr>
            <a:r>
              <a:rPr lang="pt-BR" sz="1600">
                <a:solidFill>
                  <a:srgbClr val="101F2E"/>
                </a:solidFill>
                <a:latin typeface="Aptos" panose="020B0004020202020204" pitchFamily="34" charset="0"/>
              </a:rPr>
              <a:t>Alguns processos podem não ser localizados por estarem em segredo de justiça. Nos casos de processos físicos, a análise limita-se às informações disponíveis nos sites dos respectivos Tribunais.</a:t>
            </a:r>
            <a:endParaRPr lang="en-US" sz="1600" b="0" i="0">
              <a:solidFill>
                <a:srgbClr val="101F2E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5" name="SLIDE_METODOLOGIA">
            <a:extLst>
              <a:ext uri="{FF2B5EF4-FFF2-40B4-BE49-F238E27FC236}">
                <a16:creationId xmlns:a16="http://schemas.microsoft.com/office/drawing/2014/main" id="{22251007-3654-B37D-CFFC-E8678B36ED6D}"/>
              </a:ext>
            </a:extLst>
          </p:cNvPr>
          <p:cNvSpPr txBox="1"/>
          <p:nvPr/>
        </p:nvSpPr>
        <p:spPr>
          <a:xfrm>
            <a:off x="533248" y="181286"/>
            <a:ext cx="2803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3600">
                <a:solidFill>
                  <a:srgbClr val="FDFAF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pt-BR" b="1">
                <a:solidFill>
                  <a:srgbClr val="101F2E"/>
                </a:solidFill>
              </a:rPr>
              <a:t>Metodologia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E30CC29-DDDD-AB12-79F2-3AE323755A77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ptos" panose="020B00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0A0D512-7421-CD70-5FB7-1F03CD5AC6E4}"/>
              </a:ext>
            </a:extLst>
          </p:cNvPr>
          <p:cNvSpPr txBox="1"/>
          <p:nvPr/>
        </p:nvSpPr>
        <p:spPr>
          <a:xfrm>
            <a:off x="1522840" y="1763060"/>
            <a:ext cx="1765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err="1">
                <a:solidFill>
                  <a:srgbClr val="101F2E"/>
                </a:solidFill>
                <a:effectLst/>
                <a:latin typeface="Aptos" panose="020B0004020202020204" pitchFamily="34" charset="0"/>
              </a:rPr>
              <a:t>Due</a:t>
            </a:r>
            <a:r>
              <a:rPr lang="pt-BR" sz="1800" b="1" i="0" u="none" strike="noStrike">
                <a:solidFill>
                  <a:srgbClr val="101F2E"/>
                </a:solidFill>
                <a:effectLst/>
                <a:latin typeface="Aptos" panose="020B0004020202020204" pitchFamily="34" charset="0"/>
              </a:rPr>
              <a:t> </a:t>
            </a:r>
            <a:r>
              <a:rPr lang="pt-BR" sz="1800" b="1" i="0" u="none" strike="noStrike" err="1">
                <a:solidFill>
                  <a:srgbClr val="101F2E"/>
                </a:solidFill>
                <a:effectLst/>
                <a:latin typeface="Aptos" panose="020B0004020202020204" pitchFamily="34" charset="0"/>
              </a:rPr>
              <a:t>Diligence</a:t>
            </a:r>
            <a:r>
              <a:rPr lang="pt-BR" sz="1800" b="1" i="0" u="none" strike="noStrike">
                <a:solidFill>
                  <a:srgbClr val="101F2E"/>
                </a:solidFill>
                <a:effectLst/>
                <a:latin typeface="Aptos" panose="020B0004020202020204" pitchFamily="34" charset="0"/>
              </a:rPr>
              <a:t>: </a:t>
            </a:r>
            <a:endParaRPr lang="pt-BR">
              <a:solidFill>
                <a:srgbClr val="101F2E"/>
              </a:solidFill>
              <a:latin typeface="Aptos" panose="020B0004020202020204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7C8D277-B5DC-2F8C-0071-D05598967EDD}"/>
              </a:ext>
            </a:extLst>
          </p:cNvPr>
          <p:cNvSpPr txBox="1"/>
          <p:nvPr/>
        </p:nvSpPr>
        <p:spPr>
          <a:xfrm>
            <a:off x="5173715" y="1747028"/>
            <a:ext cx="1765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i="0" u="none" strike="noStrike">
                <a:solidFill>
                  <a:srgbClr val="101F2E"/>
                </a:solidFill>
                <a:effectLst/>
                <a:latin typeface="Aptos" panose="020B0004020202020204" pitchFamily="34" charset="0"/>
              </a:rPr>
              <a:t>Metodologia:</a:t>
            </a:r>
            <a:endParaRPr lang="pt-BR">
              <a:solidFill>
                <a:srgbClr val="101F2E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FCA4476B-106D-2F8F-8076-D80EEC148608}"/>
              </a:ext>
            </a:extLst>
          </p:cNvPr>
          <p:cNvSpPr/>
          <p:nvPr/>
        </p:nvSpPr>
        <p:spPr>
          <a:xfrm>
            <a:off x="4697286" y="1750937"/>
            <a:ext cx="2718619" cy="369332"/>
          </a:xfrm>
          <a:prstGeom prst="roundRect">
            <a:avLst>
              <a:gd name="adj" fmla="val 50000"/>
            </a:avLst>
          </a:prstGeom>
          <a:noFill/>
          <a:ln w="2540"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  <a:latin typeface="Aptos" panose="020B00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75E6B57-6C76-4842-C55C-635CFF1294C6}"/>
              </a:ext>
            </a:extLst>
          </p:cNvPr>
          <p:cNvSpPr txBox="1"/>
          <p:nvPr/>
        </p:nvSpPr>
        <p:spPr>
          <a:xfrm>
            <a:off x="8858227" y="1759151"/>
            <a:ext cx="1765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i="0" u="none" strike="noStrike">
                <a:solidFill>
                  <a:srgbClr val="101F2E"/>
                </a:solidFill>
                <a:effectLst/>
                <a:latin typeface="Aptos" panose="020B0004020202020204" pitchFamily="34" charset="0"/>
              </a:rPr>
              <a:t>Observações:</a:t>
            </a:r>
            <a:endParaRPr lang="pt-BR">
              <a:solidFill>
                <a:srgbClr val="101F2E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F38FB7D-CCB9-D5D6-30C4-BCF990E40A8D}"/>
              </a:ext>
            </a:extLst>
          </p:cNvPr>
          <p:cNvSpPr/>
          <p:nvPr/>
        </p:nvSpPr>
        <p:spPr>
          <a:xfrm>
            <a:off x="8381798" y="1763060"/>
            <a:ext cx="2718619" cy="369332"/>
          </a:xfrm>
          <a:prstGeom prst="roundRect">
            <a:avLst>
              <a:gd name="adj" fmla="val 50000"/>
            </a:avLst>
          </a:prstGeom>
          <a:noFill/>
          <a:ln w="2540"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334C58E3-9363-0F0C-1A43-EA14BCAD0770}"/>
              </a:ext>
            </a:extLst>
          </p:cNvPr>
          <p:cNvSpPr/>
          <p:nvPr/>
        </p:nvSpPr>
        <p:spPr>
          <a:xfrm>
            <a:off x="1018640" y="1769873"/>
            <a:ext cx="2718619" cy="369332"/>
          </a:xfrm>
          <a:prstGeom prst="roundRect">
            <a:avLst>
              <a:gd name="adj" fmla="val 50000"/>
            </a:avLst>
          </a:prstGeom>
          <a:noFill/>
          <a:ln w="2540"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1383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EA17B4B5-D041-92F0-2D86-B71EF4A270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" t="2397" r="25117" b="1544"/>
          <a:stretch>
            <a:fillRect/>
          </a:stretch>
        </p:blipFill>
        <p:spPr>
          <a:xfrm rot="5400000">
            <a:off x="3036591" y="-3036592"/>
            <a:ext cx="6858002" cy="12931186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46D14024-4C69-429A-A50A-F0C1AE4EB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" t="18426" r="-241" b="15813"/>
          <a:stretch>
            <a:fillRect/>
          </a:stretch>
        </p:blipFill>
        <p:spPr>
          <a:xfrm flipH="1">
            <a:off x="5315320" y="0"/>
            <a:ext cx="7756101" cy="6888391"/>
          </a:xfrm>
          <a:prstGeom prst="homePlate">
            <a:avLst>
              <a:gd name="adj" fmla="val 43005"/>
            </a:avLst>
          </a:prstGeom>
        </p:spPr>
      </p:pic>
      <p:sp>
        <p:nvSpPr>
          <p:cNvPr id="4" name="SLIDE_DUE_CAPA">
            <a:extLst>
              <a:ext uri="{FF2B5EF4-FFF2-40B4-BE49-F238E27FC236}">
                <a16:creationId xmlns:a16="http://schemas.microsoft.com/office/drawing/2014/main" id="{F4A00A29-A3E1-9E5C-3E97-3A00777F9D98}"/>
              </a:ext>
            </a:extLst>
          </p:cNvPr>
          <p:cNvSpPr txBox="1"/>
          <p:nvPr/>
        </p:nvSpPr>
        <p:spPr>
          <a:xfrm>
            <a:off x="533248" y="181286"/>
            <a:ext cx="30748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 err="1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Due</a:t>
            </a:r>
            <a:r>
              <a:rPr lang="pt-BR" sz="3600" b="1" dirty="0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t-BR" sz="3600" b="1" dirty="0" err="1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Diligence</a:t>
            </a:r>
            <a:endParaRPr lang="pt-BR" sz="3600" b="1" dirty="0">
              <a:solidFill>
                <a:srgbClr val="101F2E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D913937-B901-0FBE-2C5C-CBFEC2963455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ptos" panose="020B0004020202020204" pitchFamily="34" charset="0"/>
            </a:endParaRPr>
          </a:p>
        </p:txBody>
      </p:sp>
      <p:sp>
        <p:nvSpPr>
          <p:cNvPr id="15" name="Seta: Pentágono 14">
            <a:extLst>
              <a:ext uri="{FF2B5EF4-FFF2-40B4-BE49-F238E27FC236}">
                <a16:creationId xmlns:a16="http://schemas.microsoft.com/office/drawing/2014/main" id="{65BCBA63-A22A-C0F9-7250-A865D1327F2A}"/>
              </a:ext>
            </a:extLst>
          </p:cNvPr>
          <p:cNvSpPr/>
          <p:nvPr/>
        </p:nvSpPr>
        <p:spPr>
          <a:xfrm flipH="1">
            <a:off x="5315320" y="-1"/>
            <a:ext cx="7755564" cy="6888391"/>
          </a:xfrm>
          <a:prstGeom prst="homePlate">
            <a:avLst>
              <a:gd name="adj" fmla="val 42153"/>
            </a:avLst>
          </a:prstGeom>
          <a:gradFill>
            <a:gsLst>
              <a:gs pos="0">
                <a:srgbClr val="D5B170">
                  <a:alpha val="36000"/>
                </a:srgbClr>
              </a:gs>
              <a:gs pos="54000">
                <a:srgbClr val="61491D">
                  <a:alpha val="61000"/>
                </a:srgbClr>
              </a:gs>
              <a:gs pos="100000">
                <a:srgbClr val="61491D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Aptos" panose="020B0004020202020204" pitchFamily="34" charset="0"/>
            </a:endParaRPr>
          </a:p>
        </p:txBody>
      </p:sp>
      <p:sp>
        <p:nvSpPr>
          <p:cNvPr id="29" name="CIRCULO_ESCRITORIO">
            <a:extLst>
              <a:ext uri="{FF2B5EF4-FFF2-40B4-BE49-F238E27FC236}">
                <a16:creationId xmlns:a16="http://schemas.microsoft.com/office/drawing/2014/main" id="{F5E00CCB-05DA-92D6-B49F-80A50D78FB41}"/>
              </a:ext>
            </a:extLst>
          </p:cNvPr>
          <p:cNvSpPr/>
          <p:nvPr/>
        </p:nvSpPr>
        <p:spPr>
          <a:xfrm>
            <a:off x="6560256" y="2225655"/>
            <a:ext cx="2276505" cy="2276505"/>
          </a:xfrm>
          <a:prstGeom prst="ellipse">
            <a:avLst/>
          </a:prstGeom>
          <a:solidFill>
            <a:srgbClr val="101F2E">
              <a:alpha val="43000"/>
            </a:srgbClr>
          </a:solidFill>
          <a:ln>
            <a:gradFill>
              <a:gsLst>
                <a:gs pos="31000">
                  <a:srgbClr val="D5B170"/>
                </a:gs>
                <a:gs pos="56000">
                  <a:srgbClr val="E3E0DB"/>
                </a:gs>
                <a:gs pos="78000">
                  <a:srgbClr val="D5B17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G_LOGO_ESCRITORIO">
            <a:extLst>
              <a:ext uri="{FF2B5EF4-FFF2-40B4-BE49-F238E27FC236}">
                <a16:creationId xmlns:a16="http://schemas.microsoft.com/office/drawing/2014/main" id="{7FE3CBAD-AD72-B9BA-2351-40E27BDE4A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399" y="2467155"/>
            <a:ext cx="2821542" cy="171188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5FBDDCE-B49C-342F-79F4-03D163B153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80" b="46339"/>
          <a:stretch>
            <a:fillRect/>
          </a:stretch>
        </p:blipFill>
        <p:spPr>
          <a:xfrm rot="10800000">
            <a:off x="-731469" y="3704099"/>
            <a:ext cx="5542111" cy="136292"/>
          </a:xfrm>
          <a:prstGeom prst="rect">
            <a:avLst/>
          </a:prstGeom>
        </p:spPr>
      </p:pic>
      <p:sp>
        <p:nvSpPr>
          <p:cNvPr id="2" name="TXT_CNPJ">
            <a:extLst>
              <a:ext uri="{FF2B5EF4-FFF2-40B4-BE49-F238E27FC236}">
                <a16:creationId xmlns:a16="http://schemas.microsoft.com/office/drawing/2014/main" id="{A7F02ED0-C654-90CF-2C67-74E12C067B9D}"/>
              </a:ext>
            </a:extLst>
          </p:cNvPr>
          <p:cNvSpPr txBox="1"/>
          <p:nvPr/>
        </p:nvSpPr>
        <p:spPr>
          <a:xfrm>
            <a:off x="1573901" y="3895171"/>
            <a:ext cx="4022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Clr>
                <a:srgbClr val="D5B170"/>
              </a:buClr>
              <a:defRPr sz="3200" b="1" spc="-90">
                <a:solidFill>
                  <a:srgbClr val="FDFAF5"/>
                </a:solidFill>
                <a:latin typeface="Aptos" panose="020B0004020202020204" pitchFamily="34" charset="0"/>
              </a:defRPr>
            </a:lvl1pPr>
          </a:lstStyle>
          <a:p>
            <a:r>
              <a:rPr lang="pt-BR" sz="2000" dirty="0">
                <a:solidFill>
                  <a:schemeClr val="tx1"/>
                </a:solidFill>
              </a:rPr>
              <a:t>{{CNPJ}}</a:t>
            </a:r>
          </a:p>
        </p:txBody>
      </p:sp>
      <p:sp>
        <p:nvSpPr>
          <p:cNvPr id="3" name="TXT_RAZAO_SOCIAL">
            <a:extLst>
              <a:ext uri="{FF2B5EF4-FFF2-40B4-BE49-F238E27FC236}">
                <a16:creationId xmlns:a16="http://schemas.microsoft.com/office/drawing/2014/main" id="{9B6DF0C7-C9A9-1B8D-47B3-A1DA9C2C1DC1}"/>
              </a:ext>
            </a:extLst>
          </p:cNvPr>
          <p:cNvSpPr txBox="1"/>
          <p:nvPr/>
        </p:nvSpPr>
        <p:spPr>
          <a:xfrm>
            <a:off x="481297" y="2818216"/>
            <a:ext cx="469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D5B170"/>
              </a:buClr>
            </a:pPr>
            <a:r>
              <a:rPr lang="pt-BR" sz="2400" b="1" spc="-90" dirty="0">
                <a:latin typeface="Aptos" panose="020B0004020202020204" pitchFamily="34" charset="0"/>
              </a:rPr>
              <a:t>{{RAZAO_SOCIAL}}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2B23149-346D-A922-F3A3-D25F6A298E91}"/>
              </a:ext>
            </a:extLst>
          </p:cNvPr>
          <p:cNvSpPr/>
          <p:nvPr/>
        </p:nvSpPr>
        <p:spPr>
          <a:xfrm>
            <a:off x="618972" y="2527874"/>
            <a:ext cx="2162328" cy="217234"/>
          </a:xfrm>
          <a:prstGeom prst="roundRect">
            <a:avLst/>
          </a:prstGeom>
          <a:solidFill>
            <a:srgbClr val="10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ptos" panose="020B00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81CDACE-9F33-FFC5-67B2-269C3B1CF125}"/>
              </a:ext>
            </a:extLst>
          </p:cNvPr>
          <p:cNvSpPr txBox="1"/>
          <p:nvPr/>
        </p:nvSpPr>
        <p:spPr>
          <a:xfrm>
            <a:off x="888054" y="2479662"/>
            <a:ext cx="1624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FDFAF5"/>
                </a:solidFill>
                <a:latin typeface="Aptos Black" panose="020B0004020202020204" pitchFamily="34" charset="0"/>
              </a:rPr>
              <a:t>RAZÃO SOCIAL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FCB4697-E5B6-C211-C9D8-206E7F97BF50}"/>
              </a:ext>
            </a:extLst>
          </p:cNvPr>
          <p:cNvSpPr/>
          <p:nvPr/>
        </p:nvSpPr>
        <p:spPr>
          <a:xfrm>
            <a:off x="621324" y="3986609"/>
            <a:ext cx="851061" cy="217234"/>
          </a:xfrm>
          <a:prstGeom prst="roundRect">
            <a:avLst/>
          </a:prstGeom>
          <a:solidFill>
            <a:srgbClr val="10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ptos" panose="020B0004020202020204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5182412-E926-64FE-C9CF-0CEC7DD653A4}"/>
              </a:ext>
            </a:extLst>
          </p:cNvPr>
          <p:cNvSpPr txBox="1"/>
          <p:nvPr/>
        </p:nvSpPr>
        <p:spPr>
          <a:xfrm>
            <a:off x="677063" y="3934165"/>
            <a:ext cx="764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>
                <a:solidFill>
                  <a:srgbClr val="FDFAF5"/>
                </a:solidFill>
                <a:latin typeface="Aptos Black" panose="020B0004020202020204" pitchFamily="34" charset="0"/>
              </a:rPr>
              <a:t>CNPJ:</a:t>
            </a:r>
          </a:p>
        </p:txBody>
      </p:sp>
      <p:sp>
        <p:nvSpPr>
          <p:cNvPr id="53" name="AutoShape 2" descr="Logos">
            <a:extLst>
              <a:ext uri="{FF2B5EF4-FFF2-40B4-BE49-F238E27FC236}">
                <a16:creationId xmlns:a16="http://schemas.microsoft.com/office/drawing/2014/main" id="{DA6EE9DB-1BAD-E947-D21E-2829CDE65F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56799" y="290805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54" name="AutoShape 4" descr="Logos">
            <a:extLst>
              <a:ext uri="{FF2B5EF4-FFF2-40B4-BE49-F238E27FC236}">
                <a16:creationId xmlns:a16="http://schemas.microsoft.com/office/drawing/2014/main" id="{9FB9EF3F-4D79-122B-0926-E9CD7D1519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09199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Aptos" panose="020B0004020202020204" pitchFamily="34" charset="0"/>
            </a:endParaRPr>
          </a:p>
        </p:txBody>
      </p:sp>
      <p:sp>
        <p:nvSpPr>
          <p:cNvPr id="55" name="AutoShape 6" descr="Logos">
            <a:extLst>
              <a:ext uri="{FF2B5EF4-FFF2-40B4-BE49-F238E27FC236}">
                <a16:creationId xmlns:a16="http://schemas.microsoft.com/office/drawing/2014/main" id="{93DE0E58-92C2-848B-09E4-1C822BC152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61599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Aptos" panose="020B0004020202020204" pitchFamily="34" charset="0"/>
            </a:endParaRPr>
          </a:p>
        </p:txBody>
      </p:sp>
      <p:pic>
        <p:nvPicPr>
          <p:cNvPr id="5000" name="ICO_EMPRESA_1"/>
          <p:cNvPicPr>
            <a:picLocks noChangeAspect="1"/>
          </p:cNvPicPr>
          <p:nvPr/>
        </p:nvPicPr>
        <p:blipFill>
          <a:blip r:embed="rId7"/>
          <a:srcRect l="3200" t="18000" r="85000" b="7400"/>
          <a:stretch>
            <a:fillRect/>
          </a:stretch>
        </p:blipFill>
        <p:spPr>
          <a:xfrm>
            <a:off x="495300" y="4724400"/>
            <a:ext cx="304800" cy="304800"/>
          </a:xfrm>
          <a:prstGeom prst="ellipse">
            <a:avLst/>
          </a:prstGeom>
        </p:spPr>
      </p:pic>
      <p:sp>
        <p:nvSpPr>
          <p:cNvPr id="32" name="CIRCULO_CLIENTE">
            <a:extLst>
              <a:ext uri="{FF2B5EF4-FFF2-40B4-BE49-F238E27FC236}">
                <a16:creationId xmlns:a16="http://schemas.microsoft.com/office/drawing/2014/main" id="{62ADEEF5-712F-5BF2-AC41-BD650F9F930B}"/>
              </a:ext>
            </a:extLst>
          </p:cNvPr>
          <p:cNvSpPr/>
          <p:nvPr/>
        </p:nvSpPr>
        <p:spPr>
          <a:xfrm>
            <a:off x="9492741" y="2286068"/>
            <a:ext cx="2276505" cy="2276505"/>
          </a:xfrm>
          <a:prstGeom prst="ellipse">
            <a:avLst/>
          </a:prstGeom>
          <a:solidFill>
            <a:srgbClr val="101F2E">
              <a:alpha val="43000"/>
            </a:srgbClr>
          </a:solidFill>
          <a:ln>
            <a:gradFill>
              <a:gsLst>
                <a:gs pos="31000">
                  <a:srgbClr val="D5B170"/>
                </a:gs>
                <a:gs pos="56000">
                  <a:srgbClr val="E3E0DB"/>
                </a:gs>
                <a:gs pos="78000">
                  <a:srgbClr val="D5B17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01" name="TXT_EMPRESA_1"/>
          <p:cNvSpPr txBox="1"/>
          <p:nvPr/>
        </p:nvSpPr>
        <p:spPr>
          <a:xfrm>
            <a:off x="852411" y="4597400"/>
            <a:ext cx="431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marR="0" lvl="0"/>
            <a:r>
              <a:rPr lang="pt-BR" sz="1000" b="1" dirty="0">
                <a:latin typeface="Arial"/>
              </a:rPr>
              <a:t>{{EMPRESA_1_RAZAO_SOCIAL}}</a:t>
            </a:r>
          </a:p>
          <a:p>
            <a:pPr marL="0" marR="0" lvl="0"/>
            <a:r>
              <a:rPr lang="pt-BR" sz="1050" b="1" dirty="0">
                <a:latin typeface="Arial"/>
              </a:rPr>
              <a:t>CNPJ: {{EMPRESA_1_CNPJ}}</a:t>
            </a:r>
          </a:p>
        </p:txBody>
      </p:sp>
      <p:sp>
        <p:nvSpPr>
          <p:cNvPr id="6002" name="TXT_EMPRESA_2"/>
          <p:cNvSpPr txBox="1"/>
          <p:nvPr/>
        </p:nvSpPr>
        <p:spPr>
          <a:xfrm>
            <a:off x="852411" y="5232400"/>
            <a:ext cx="431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marR="0" lvl="0"/>
            <a:r>
              <a:rPr lang="pt-BR" sz="1000" b="1" dirty="0">
                <a:latin typeface="Arial"/>
              </a:rPr>
              <a:t>{{EMPRESA_2_RAZAO_SOCIAL}}</a:t>
            </a:r>
          </a:p>
          <a:p>
            <a:pPr marL="0" marR="0" lvl="0"/>
            <a:r>
              <a:rPr lang="pt-BR" sz="1050" b="1" dirty="0">
                <a:latin typeface="Arial"/>
              </a:rPr>
              <a:t>CNPJ: {{EMPRESA_2_CNPJ}}</a:t>
            </a:r>
          </a:p>
        </p:txBody>
      </p:sp>
      <p:sp>
        <p:nvSpPr>
          <p:cNvPr id="6003" name="TXT_EMPRESA_3"/>
          <p:cNvSpPr txBox="1"/>
          <p:nvPr/>
        </p:nvSpPr>
        <p:spPr>
          <a:xfrm>
            <a:off x="852411" y="5867400"/>
            <a:ext cx="431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marR="0" lvl="0"/>
            <a:r>
              <a:rPr lang="pt-BR" sz="1000" b="1" dirty="0">
                <a:latin typeface="Arial"/>
              </a:rPr>
              <a:t>{{EMPRESA_3_RAZAO_SOCIAL}}</a:t>
            </a:r>
          </a:p>
          <a:p>
            <a:pPr marL="0" marR="0" lvl="0"/>
            <a:r>
              <a:rPr lang="pt-BR" sz="1050" b="1" dirty="0">
                <a:latin typeface="Arial"/>
              </a:rPr>
              <a:t>CNPJ: {{EMPRESA_3_CNPJ}}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6C4E9424-A9D8-71B2-81CC-2BD0629B39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80" b="46339"/>
          <a:stretch>
            <a:fillRect/>
          </a:stretch>
        </p:blipFill>
        <p:spPr>
          <a:xfrm rot="5400000">
            <a:off x="6388490" y="3485019"/>
            <a:ext cx="5542111" cy="136292"/>
          </a:xfrm>
          <a:prstGeom prst="rect">
            <a:avLst/>
          </a:prstGeom>
        </p:spPr>
      </p:pic>
      <p:pic>
        <p:nvPicPr>
          <p:cNvPr id="7" name="ICO_EMPRESA_2">
            <a:extLst>
              <a:ext uri="{FF2B5EF4-FFF2-40B4-BE49-F238E27FC236}">
                <a16:creationId xmlns:a16="http://schemas.microsoft.com/office/drawing/2014/main" id="{773C8BDA-BB81-D3DC-A3BA-ECF689A363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200" t="18000" r="85000" b="7400"/>
          <a:stretch>
            <a:fillRect/>
          </a:stretch>
        </p:blipFill>
        <p:spPr>
          <a:xfrm>
            <a:off x="495300" y="5359400"/>
            <a:ext cx="304800" cy="304800"/>
          </a:xfrm>
          <a:prstGeom prst="ellipse">
            <a:avLst/>
          </a:prstGeom>
        </p:spPr>
      </p:pic>
      <p:pic>
        <p:nvPicPr>
          <p:cNvPr id="12" name="ICO_EMPRESA_3">
            <a:extLst>
              <a:ext uri="{FF2B5EF4-FFF2-40B4-BE49-F238E27FC236}">
                <a16:creationId xmlns:a16="http://schemas.microsoft.com/office/drawing/2014/main" id="{5DAAD964-66D6-4BE9-A984-414E2A68ABD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200" t="18000" r="85000" b="7400"/>
          <a:stretch>
            <a:fillRect/>
          </a:stretch>
        </p:blipFill>
        <p:spPr>
          <a:xfrm>
            <a:off x="495300" y="5994400"/>
            <a:ext cx="304800" cy="304800"/>
          </a:xfrm>
          <a:prstGeom prst="ellipse">
            <a:avLst/>
          </a:prstGeom>
        </p:spPr>
      </p:pic>
      <p:pic>
        <p:nvPicPr>
          <p:cNvPr id="21" name="IMG_LOGO_CLIENTE">
            <a:extLst>
              <a:ext uri="{FF2B5EF4-FFF2-40B4-BE49-F238E27FC236}">
                <a16:creationId xmlns:a16="http://schemas.microsoft.com/office/drawing/2014/main" id="{ECFEC63A-3368-ADE7-2F6D-E7E679784F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" t="29548" r="-2555" b="28254"/>
          <a:stretch>
            <a:fillRect/>
          </a:stretch>
        </p:blipFill>
        <p:spPr>
          <a:xfrm>
            <a:off x="9636421" y="2934283"/>
            <a:ext cx="2209760" cy="93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21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300517D5-B0C4-CAC9-BDD0-CBC36E96C60A}"/>
              </a:ext>
            </a:extLst>
          </p:cNvPr>
          <p:cNvSpPr/>
          <p:nvPr/>
        </p:nvSpPr>
        <p:spPr>
          <a:xfrm>
            <a:off x="0" y="-12144"/>
            <a:ext cx="12192000" cy="6870144"/>
          </a:xfrm>
          <a:prstGeom prst="rect">
            <a:avLst/>
          </a:prstGeom>
          <a:solidFill>
            <a:srgbClr val="FC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pic>
        <p:nvPicPr>
          <p:cNvPr id="9" name="Espaço Reservado para Conteúdo 12">
            <a:extLst>
              <a:ext uri="{FF2B5EF4-FFF2-40B4-BE49-F238E27FC236}">
                <a16:creationId xmlns:a16="http://schemas.microsoft.com/office/drawing/2014/main" id="{A04EAD03-F175-A43C-6620-401114A867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7" t="1560" r="3524" b="1716"/>
          <a:stretch>
            <a:fillRect/>
          </a:stretch>
        </p:blipFill>
        <p:spPr>
          <a:xfrm rot="5400000">
            <a:off x="2667001" y="-2679144"/>
            <a:ext cx="6858002" cy="12192003"/>
          </a:xfrm>
          <a:prstGeom prst="rect">
            <a:avLst/>
          </a:prstGeom>
        </p:spPr>
      </p:pic>
      <p:grpSp>
        <p:nvGrpSpPr>
          <p:cNvPr id="20" name="AREA_TRABALHISTA">
            <a:hlinkClick r:id="rId4" action="ppaction://hlinksldjump"/>
            <a:extLst>
              <a:ext uri="{FF2B5EF4-FFF2-40B4-BE49-F238E27FC236}">
                <a16:creationId xmlns:a16="http://schemas.microsoft.com/office/drawing/2014/main" id="{41D0F679-2287-9D4F-03E9-FD7130DF29F6}"/>
              </a:ext>
            </a:extLst>
          </p:cNvPr>
          <p:cNvGrpSpPr/>
          <p:nvPr/>
        </p:nvGrpSpPr>
        <p:grpSpPr>
          <a:xfrm>
            <a:off x="6322674" y="2806700"/>
            <a:ext cx="2466975" cy="1779297"/>
            <a:chOff x="1568894" y="2579923"/>
            <a:chExt cx="2466975" cy="1779297"/>
          </a:xfrm>
        </p:grpSpPr>
        <p:sp>
          <p:nvSpPr>
            <p:cNvPr id="51" name="Retângulo: Cantos Arredondados 50">
              <a:extLst>
                <a:ext uri="{FF2B5EF4-FFF2-40B4-BE49-F238E27FC236}">
                  <a16:creationId xmlns:a16="http://schemas.microsoft.com/office/drawing/2014/main" id="{BD636B83-29D2-50F4-D48A-2ECE8CA94CC4}"/>
                </a:ext>
              </a:extLst>
            </p:cNvPr>
            <p:cNvSpPr/>
            <p:nvPr/>
          </p:nvSpPr>
          <p:spPr>
            <a:xfrm rot="16200000">
              <a:off x="2228620" y="1920197"/>
              <a:ext cx="1147524" cy="2466975"/>
            </a:xfrm>
            <a:prstGeom prst="roundRect">
              <a:avLst>
                <a:gd name="adj" fmla="val 9182"/>
              </a:avLst>
            </a:prstGeom>
            <a:solidFill>
              <a:srgbClr val="E3CB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BR" dirty="0">
                <a:solidFill>
                  <a:srgbClr val="101F2E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52" name="Retângulo: Cantos Arredondados 51">
              <a:hlinkClick r:id="" action="ppaction://noaction"/>
              <a:extLst>
                <a:ext uri="{FF2B5EF4-FFF2-40B4-BE49-F238E27FC236}">
                  <a16:creationId xmlns:a16="http://schemas.microsoft.com/office/drawing/2014/main" id="{A0672E1B-B882-BCCE-BB2F-464F9E313997}"/>
                </a:ext>
              </a:extLst>
            </p:cNvPr>
            <p:cNvSpPr/>
            <p:nvPr/>
          </p:nvSpPr>
          <p:spPr>
            <a:xfrm rot="10800000">
              <a:off x="1702243" y="2696594"/>
              <a:ext cx="2209236" cy="1662626"/>
            </a:xfrm>
            <a:prstGeom prst="roundRect">
              <a:avLst>
                <a:gd name="adj" fmla="val 4046"/>
              </a:avLst>
            </a:prstGeom>
            <a:solidFill>
              <a:srgbClr val="FDFAF5"/>
            </a:solidFill>
            <a:ln>
              <a:solidFill>
                <a:srgbClr val="D5B17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01F2E"/>
                </a:solidFill>
                <a:latin typeface="Aptos" panose="020B0004020202020204" pitchFamily="34" charset="0"/>
              </a:endParaRPr>
            </a:p>
          </p:txBody>
        </p:sp>
        <p:pic>
          <p:nvPicPr>
            <p:cNvPr id="53" name="Gráfico 52">
              <a:hlinkClick r:id="" action="ppaction://noaction"/>
              <a:extLst>
                <a:ext uri="{FF2B5EF4-FFF2-40B4-BE49-F238E27FC236}">
                  <a16:creationId xmlns:a16="http://schemas.microsoft.com/office/drawing/2014/main" id="{64A47961-3C88-8086-C08A-58CBC13275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18886" y="3245811"/>
              <a:ext cx="575947" cy="564193"/>
            </a:xfrm>
            <a:prstGeom prst="rect">
              <a:avLst/>
            </a:prstGeom>
          </p:spPr>
        </p:pic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id="{4F660B0D-1EE7-65B1-67F5-25BAC790CF02}"/>
                </a:ext>
              </a:extLst>
            </p:cNvPr>
            <p:cNvSpPr txBox="1"/>
            <p:nvPr/>
          </p:nvSpPr>
          <p:spPr>
            <a:xfrm>
              <a:off x="1977217" y="2753972"/>
              <a:ext cx="1805256" cy="52322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pt-BR"/>
              </a:defPPr>
              <a:lvl1pPr>
                <a:defRPr sz="2800" b="1" spc="-90">
                  <a:solidFill>
                    <a:srgbClr val="121E2E"/>
                  </a:solidFill>
                  <a:latin typeface="Aptos SemiBold"/>
                </a:defRPr>
              </a:lvl1pPr>
            </a:lstStyle>
            <a:p>
              <a:r>
                <a:rPr lang="pt-BR" sz="2700">
                  <a:solidFill>
                    <a:srgbClr val="101F2E"/>
                  </a:solidFill>
                </a:rPr>
                <a:t>Trabalhista</a:t>
              </a:r>
            </a:p>
          </p:txBody>
        </p:sp>
      </p:grpSp>
      <p:sp>
        <p:nvSpPr>
          <p:cNvPr id="5" name="AVISO_INTERACAO_FUNDO">
            <a:extLst>
              <a:ext uri="{FF2B5EF4-FFF2-40B4-BE49-F238E27FC236}">
                <a16:creationId xmlns:a16="http://schemas.microsoft.com/office/drawing/2014/main" id="{53A94626-5D90-847C-30A8-82ED35A2AA69}"/>
              </a:ext>
            </a:extLst>
          </p:cNvPr>
          <p:cNvSpPr>
            <a:spLocks/>
          </p:cNvSpPr>
          <p:nvPr/>
        </p:nvSpPr>
        <p:spPr>
          <a:xfrm>
            <a:off x="4035869" y="6496172"/>
            <a:ext cx="4120261" cy="1193264"/>
          </a:xfrm>
          <a:prstGeom prst="roundRect">
            <a:avLst>
              <a:gd name="adj" fmla="val 20537"/>
            </a:avLst>
          </a:prstGeom>
          <a:gradFill flip="none" rotWithShape="1">
            <a:gsLst>
              <a:gs pos="0">
                <a:srgbClr val="D5B170">
                  <a:shade val="30000"/>
                  <a:satMod val="115000"/>
                </a:srgbClr>
              </a:gs>
              <a:gs pos="50000">
                <a:srgbClr val="D5B170">
                  <a:shade val="67500"/>
                  <a:satMod val="115000"/>
                </a:srgbClr>
              </a:gs>
              <a:gs pos="100000">
                <a:srgbClr val="D5B17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ptos" panose="020B0004020202020204" pitchFamily="34" charset="0"/>
            </a:endParaRPr>
          </a:p>
        </p:txBody>
      </p:sp>
      <p:sp>
        <p:nvSpPr>
          <p:cNvPr id="6" name="AVISO_INTERACAO_CARD">
            <a:extLst>
              <a:ext uri="{FF2B5EF4-FFF2-40B4-BE49-F238E27FC236}">
                <a16:creationId xmlns:a16="http://schemas.microsoft.com/office/drawing/2014/main" id="{7D693AA4-ABE3-2E1D-8439-019D9CBBBC87}"/>
              </a:ext>
            </a:extLst>
          </p:cNvPr>
          <p:cNvSpPr/>
          <p:nvPr/>
        </p:nvSpPr>
        <p:spPr>
          <a:xfrm>
            <a:off x="4035869" y="6750195"/>
            <a:ext cx="4120261" cy="1193264"/>
          </a:xfrm>
          <a:prstGeom prst="roundRect">
            <a:avLst>
              <a:gd name="adj" fmla="val 20537"/>
            </a:avLst>
          </a:prstGeom>
          <a:solidFill>
            <a:srgbClr val="FDFAF5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ptos" panose="020B0004020202020204" pitchFamily="34" charset="0"/>
            </a:endParaRPr>
          </a:p>
        </p:txBody>
      </p:sp>
      <p:sp>
        <p:nvSpPr>
          <p:cNvPr id="7" name="AVISO_INTERACAO_TEXTO">
            <a:extLst>
              <a:ext uri="{FF2B5EF4-FFF2-40B4-BE49-F238E27FC236}">
                <a16:creationId xmlns:a16="http://schemas.microsoft.com/office/drawing/2014/main" id="{3186ED1C-F729-BABA-EA50-ACCDC6157440}"/>
              </a:ext>
            </a:extLst>
          </p:cNvPr>
          <p:cNvSpPr txBox="1"/>
          <p:nvPr/>
        </p:nvSpPr>
        <p:spPr>
          <a:xfrm>
            <a:off x="5036917" y="6496172"/>
            <a:ext cx="2217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rgbClr val="FDFAF5"/>
                </a:solidFill>
                <a:latin typeface="Aptos" panose="020B0004020202020204" pitchFamily="34" charset="0"/>
              </a:rPr>
              <a:t>Clique no ícone para interagir</a:t>
            </a:r>
          </a:p>
        </p:txBody>
      </p:sp>
      <p:grpSp>
        <p:nvGrpSpPr>
          <p:cNvPr id="2" name="AREA_CIVEL">
            <a:hlinkClick r:id="rId6" action="ppaction://hlinksldjump"/>
            <a:extLst>
              <a:ext uri="{FF2B5EF4-FFF2-40B4-BE49-F238E27FC236}">
                <a16:creationId xmlns:a16="http://schemas.microsoft.com/office/drawing/2014/main" id="{1E41B898-B8D0-C6C4-CB6E-CDB902720D06}"/>
              </a:ext>
            </a:extLst>
          </p:cNvPr>
          <p:cNvGrpSpPr/>
          <p:nvPr/>
        </p:nvGrpSpPr>
        <p:grpSpPr>
          <a:xfrm>
            <a:off x="3398499" y="2804329"/>
            <a:ext cx="2466975" cy="1779298"/>
            <a:chOff x="4916146" y="2578996"/>
            <a:chExt cx="2466975" cy="1779298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0AE1EF56-CDEF-363E-866A-97B1700EA7AA}"/>
                </a:ext>
              </a:extLst>
            </p:cNvPr>
            <p:cNvSpPr/>
            <p:nvPr/>
          </p:nvSpPr>
          <p:spPr>
            <a:xfrm rot="5400000">
              <a:off x="5575871" y="1919246"/>
              <a:ext cx="1147524" cy="2466975"/>
            </a:xfrm>
            <a:prstGeom prst="roundRect">
              <a:avLst>
                <a:gd name="adj" fmla="val 9182"/>
              </a:avLst>
            </a:prstGeom>
            <a:solidFill>
              <a:srgbClr val="E3CB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BR">
                <a:solidFill>
                  <a:srgbClr val="101F2E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38" name="Retângulo: Cantos Arredondados 37">
              <a:hlinkClick r:id="" action="ppaction://noaction"/>
              <a:extLst>
                <a:ext uri="{FF2B5EF4-FFF2-40B4-BE49-F238E27FC236}">
                  <a16:creationId xmlns:a16="http://schemas.microsoft.com/office/drawing/2014/main" id="{62C3FF67-7EA6-101C-F97C-9CD0AC7E4DC6}"/>
                </a:ext>
              </a:extLst>
            </p:cNvPr>
            <p:cNvSpPr/>
            <p:nvPr/>
          </p:nvSpPr>
          <p:spPr>
            <a:xfrm>
              <a:off x="5049495" y="2695667"/>
              <a:ext cx="2209236" cy="1662626"/>
            </a:xfrm>
            <a:prstGeom prst="roundRect">
              <a:avLst>
                <a:gd name="adj" fmla="val 4046"/>
              </a:avLst>
            </a:prstGeom>
            <a:solidFill>
              <a:srgbClr val="FDFAF5"/>
            </a:solidFill>
            <a:ln>
              <a:solidFill>
                <a:srgbClr val="D5B17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01F2E"/>
                </a:solidFill>
                <a:latin typeface="Aptos" panose="020B0004020202020204" pitchFamily="34" charset="0"/>
              </a:endParaRPr>
            </a:p>
          </p:txBody>
        </p:sp>
        <p:pic>
          <p:nvPicPr>
            <p:cNvPr id="39" name="Gráfico 38">
              <a:hlinkClick r:id="" action="ppaction://noaction"/>
              <a:extLst>
                <a:ext uri="{FF2B5EF4-FFF2-40B4-BE49-F238E27FC236}">
                  <a16:creationId xmlns:a16="http://schemas.microsoft.com/office/drawing/2014/main" id="{6C5DB39D-CC9A-84FB-DF16-D31BE55917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29991" y="3368245"/>
              <a:ext cx="457200" cy="561975"/>
            </a:xfrm>
            <a:prstGeom prst="rect">
              <a:avLst/>
            </a:prstGeom>
          </p:spPr>
        </p:pic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5434B87E-F412-B5B2-1BB6-CF66EDC45828}"/>
                </a:ext>
              </a:extLst>
            </p:cNvPr>
            <p:cNvSpPr txBox="1"/>
            <p:nvPr/>
          </p:nvSpPr>
          <p:spPr>
            <a:xfrm>
              <a:off x="5666730" y="2739986"/>
              <a:ext cx="983721" cy="52322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r>
                <a:rPr lang="pt-BR" sz="2800" b="1" spc="-90">
                  <a:solidFill>
                    <a:srgbClr val="101F2E"/>
                  </a:solidFill>
                  <a:latin typeface="Aptos SemiBold"/>
                </a:rPr>
                <a:t>Cível</a:t>
              </a:r>
              <a:endParaRPr lang="pt-BR" sz="2800">
                <a:solidFill>
                  <a:srgbClr val="101F2E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21" name="SLIDE_AREAS">
            <a:extLst>
              <a:ext uri="{FF2B5EF4-FFF2-40B4-BE49-F238E27FC236}">
                <a16:creationId xmlns:a16="http://schemas.microsoft.com/office/drawing/2014/main" id="{8A9B90C1-4507-21BF-C232-370678E1E580}"/>
              </a:ext>
            </a:extLst>
          </p:cNvPr>
          <p:cNvSpPr txBox="1"/>
          <p:nvPr/>
        </p:nvSpPr>
        <p:spPr>
          <a:xfrm>
            <a:off x="533248" y="181286"/>
            <a:ext cx="3682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Áreas Envolvidas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3A37211-38F7-F891-CB0F-DD78A9CF3AAD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  <a:latin typeface="Aptos" panose="020B0004020202020204" pitchFamily="34" charset="0"/>
            </a:endParaRPr>
          </a:p>
        </p:txBody>
      </p:sp>
      <p:grpSp>
        <p:nvGrpSpPr>
          <p:cNvPr id="3" name="AREA_REC_CRED">
            <a:extLst>
              <a:ext uri="{FF2B5EF4-FFF2-40B4-BE49-F238E27FC236}">
                <a16:creationId xmlns:a16="http://schemas.microsoft.com/office/drawing/2014/main" id="{D382FE11-43A4-DD24-8554-32D05E05F169}"/>
              </a:ext>
            </a:extLst>
          </p:cNvPr>
          <p:cNvGrpSpPr/>
          <p:nvPr/>
        </p:nvGrpSpPr>
        <p:grpSpPr>
          <a:xfrm>
            <a:off x="6198284" y="753590"/>
            <a:ext cx="2466975" cy="1795219"/>
            <a:chOff x="4907275" y="2951521"/>
            <a:chExt cx="2466975" cy="1795219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04C3E7EE-7EA8-203A-1C11-F30B404AB413}"/>
                </a:ext>
              </a:extLst>
            </p:cNvPr>
            <p:cNvSpPr/>
            <p:nvPr/>
          </p:nvSpPr>
          <p:spPr>
            <a:xfrm rot="16200000">
              <a:off x="5567001" y="2939490"/>
              <a:ext cx="1147524" cy="2466975"/>
            </a:xfrm>
            <a:prstGeom prst="roundRect">
              <a:avLst>
                <a:gd name="adj" fmla="val 9182"/>
              </a:avLst>
            </a:prstGeom>
            <a:solidFill>
              <a:srgbClr val="E3CB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BR">
                <a:solidFill>
                  <a:srgbClr val="FDFAF5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4" name="Retângulo: Cantos Arredondados 13">
              <a:hlinkClick r:id="" action="ppaction://noaction"/>
              <a:extLst>
                <a:ext uri="{FF2B5EF4-FFF2-40B4-BE49-F238E27FC236}">
                  <a16:creationId xmlns:a16="http://schemas.microsoft.com/office/drawing/2014/main" id="{1488F01D-1286-2361-B426-BF87CA225A4B}"/>
                </a:ext>
              </a:extLst>
            </p:cNvPr>
            <p:cNvSpPr/>
            <p:nvPr/>
          </p:nvSpPr>
          <p:spPr>
            <a:xfrm rot="10800000">
              <a:off x="5039754" y="2951521"/>
              <a:ext cx="2209236" cy="1662626"/>
            </a:xfrm>
            <a:prstGeom prst="roundRect">
              <a:avLst>
                <a:gd name="adj" fmla="val 4046"/>
              </a:avLst>
            </a:prstGeom>
            <a:solidFill>
              <a:srgbClr val="FDFAF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noFill/>
                <a:latin typeface="Aptos" panose="020B0004020202020204" pitchFamily="34" charset="0"/>
              </a:endParaRPr>
            </a:p>
          </p:txBody>
        </p:sp>
        <p:pic>
          <p:nvPicPr>
            <p:cNvPr id="19" name="Gráfico 18" descr="Escudo com marca de verificação com preenchimento sólido">
              <a:hlinkClick r:id="" action="ppaction://noaction"/>
              <a:extLst>
                <a:ext uri="{FF2B5EF4-FFF2-40B4-BE49-F238E27FC236}">
                  <a16:creationId xmlns:a16="http://schemas.microsoft.com/office/drawing/2014/main" id="{7E70732B-8417-40F0-621D-02C8E87C50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5780981" y="3532119"/>
              <a:ext cx="630036" cy="630036"/>
            </a:xfrm>
            <a:prstGeom prst="rect">
              <a:avLst/>
            </a:prstGeom>
          </p:spPr>
        </p:pic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78F45D74-5AA9-84B6-0103-303818D1D783}"/>
                </a:ext>
              </a:extLst>
            </p:cNvPr>
            <p:cNvSpPr txBox="1"/>
            <p:nvPr/>
          </p:nvSpPr>
          <p:spPr>
            <a:xfrm>
              <a:off x="5250543" y="3008899"/>
              <a:ext cx="1690911" cy="52322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pt-BR"/>
              </a:defPPr>
              <a:lvl1pPr>
                <a:defRPr sz="2800" b="1" spc="-90">
                  <a:solidFill>
                    <a:srgbClr val="121E2E"/>
                  </a:solidFill>
                  <a:latin typeface="Aptos SemiBold"/>
                </a:defRPr>
              </a:lvl1pPr>
            </a:lstStyle>
            <a:p>
              <a:r>
                <a:rPr lang="pt-BR">
                  <a:solidFill>
                    <a:srgbClr val="101F2E"/>
                  </a:solidFill>
                </a:rPr>
                <a:t>Rec. </a:t>
              </a:r>
              <a:r>
                <a:rPr lang="pt-BR" err="1">
                  <a:solidFill>
                    <a:srgbClr val="101F2E"/>
                  </a:solidFill>
                </a:rPr>
                <a:t>Créd</a:t>
              </a:r>
              <a:endParaRPr lang="pt-BR">
                <a:solidFill>
                  <a:srgbClr val="101F2E"/>
                </a:solidFill>
              </a:endParaRPr>
            </a:p>
          </p:txBody>
        </p:sp>
      </p:grpSp>
      <p:grpSp>
        <p:nvGrpSpPr>
          <p:cNvPr id="24" name="AREA_REESTRUTURACAO"/>
          <p:cNvGrpSpPr/>
          <p:nvPr/>
        </p:nvGrpSpPr>
        <p:grpSpPr>
          <a:xfrm>
            <a:off x="608912" y="2146300"/>
            <a:ext cx="2256188" cy="2466975"/>
            <a:chOff x="608912" y="2146300"/>
            <a:chExt cx="2256188" cy="2466975"/>
          </a:xfrm>
        </p:grpSpPr>
        <p:sp>
          <p:nvSpPr>
            <p:cNvPr id="4" name="AREA_REESTRUTURACAO_FUNDO">
              <a:extLst>
                <a:ext uri="{FF2B5EF4-FFF2-40B4-BE49-F238E27FC236}">
                  <a16:creationId xmlns:a16="http://schemas.microsoft.com/office/drawing/2014/main" id="{EF357659-64B2-A69B-E748-C6BC4B6767F6}"/>
                </a:ext>
              </a:extLst>
            </p:cNvPr>
            <p:cNvSpPr/>
            <p:nvPr/>
          </p:nvSpPr>
          <p:spPr>
            <a:xfrm rot="16200000">
              <a:off x="1136158" y="2146300"/>
              <a:ext cx="1147524" cy="2466975"/>
            </a:xfrm>
            <a:prstGeom prst="roundRect">
              <a:avLst>
                <a:gd name="adj" fmla="val 9182"/>
              </a:avLst>
            </a:prstGeom>
            <a:solidFill>
              <a:srgbClr val="E3CB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BR">
                <a:solidFill>
                  <a:srgbClr val="101F2E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8" name="AREA_REESTRUTURACAO_CARD">
              <a:hlinkClick r:id="rId10" action="ppaction://hlinksldjump"/>
              <a:extLst>
                <a:ext uri="{FF2B5EF4-FFF2-40B4-BE49-F238E27FC236}">
                  <a16:creationId xmlns:a16="http://schemas.microsoft.com/office/drawing/2014/main" id="{E5CA4805-A3C6-96FB-45AA-5173097717B5}"/>
                </a:ext>
              </a:extLst>
            </p:cNvPr>
            <p:cNvSpPr/>
            <p:nvPr/>
          </p:nvSpPr>
          <p:spPr>
            <a:xfrm rot="10800000">
              <a:off x="608912" y="2922696"/>
              <a:ext cx="2209236" cy="1662626"/>
            </a:xfrm>
            <a:prstGeom prst="roundRect">
              <a:avLst>
                <a:gd name="adj" fmla="val 4046"/>
              </a:avLst>
            </a:prstGeom>
            <a:solidFill>
              <a:srgbClr val="FDFAF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noFill/>
              </a:endParaRPr>
            </a:p>
          </p:txBody>
        </p:sp>
        <p:pic>
          <p:nvPicPr>
            <p:cNvPr id="10" name="AREA_REESTRUTURACAO_ICONE" descr="Seta circular com preenchimento sólido">
              <a:hlinkClick r:id="rId10" action="ppaction://hlinksldjump"/>
              <a:extLst>
                <a:ext uri="{FF2B5EF4-FFF2-40B4-BE49-F238E27FC236}">
                  <a16:creationId xmlns:a16="http://schemas.microsoft.com/office/drawing/2014/main" id="{3F028519-356C-39FE-EBD6-EB3BAD4444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1418519" y="3530672"/>
              <a:ext cx="596927" cy="596927"/>
            </a:xfrm>
            <a:prstGeom prst="rect">
              <a:avLst/>
            </a:prstGeom>
          </p:spPr>
        </p:pic>
        <p:sp>
          <p:nvSpPr>
            <p:cNvPr id="12" name="AREA_REESTRUTURACAO_TEXTO">
              <a:hlinkClick r:id="rId10" action="ppaction://hlinksldjump"/>
              <a:extLst>
                <a:ext uri="{FF2B5EF4-FFF2-40B4-BE49-F238E27FC236}">
                  <a16:creationId xmlns:a16="http://schemas.microsoft.com/office/drawing/2014/main" id="{5474F3A0-AF71-AD59-7CE6-AFE4B2D44B9A}"/>
                </a:ext>
              </a:extLst>
            </p:cNvPr>
            <p:cNvSpPr txBox="1"/>
            <p:nvPr/>
          </p:nvSpPr>
          <p:spPr>
            <a:xfrm>
              <a:off x="622155" y="2980075"/>
              <a:ext cx="2242945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pt-BR"/>
              </a:defPPr>
              <a:lvl1pPr>
                <a:defRPr sz="2800" b="1" spc="-90">
                  <a:solidFill>
                    <a:srgbClr val="121E2E"/>
                  </a:solidFill>
                  <a:latin typeface="Aptos SemiBold"/>
                </a:defRPr>
              </a:lvl1pPr>
            </a:lstStyle>
            <a:p>
              <a:pPr algn="ctr"/>
              <a:r>
                <a:rPr lang="pt-BR" sz="2400" dirty="0">
                  <a:solidFill>
                    <a:srgbClr val="101F2E"/>
                  </a:solidFill>
                </a:rPr>
                <a:t>Reestruturação</a:t>
              </a:r>
            </a:p>
          </p:txBody>
        </p:sp>
      </p:grpSp>
      <p:grpSp>
        <p:nvGrpSpPr>
          <p:cNvPr id="25" name="AREA_TRIBUTARIO"/>
          <p:cNvGrpSpPr/>
          <p:nvPr/>
        </p:nvGrpSpPr>
        <p:grpSpPr>
          <a:xfrm>
            <a:off x="9373849" y="2146300"/>
            <a:ext cx="2209236" cy="2466975"/>
            <a:chOff x="9373849" y="2146300"/>
            <a:chExt cx="2209236" cy="2466975"/>
          </a:xfrm>
        </p:grpSpPr>
        <p:sp>
          <p:nvSpPr>
            <p:cNvPr id="15" name="AREA_TRIBUTARIO_FUNDO">
              <a:extLst>
                <a:ext uri="{FF2B5EF4-FFF2-40B4-BE49-F238E27FC236}">
                  <a16:creationId xmlns:a16="http://schemas.microsoft.com/office/drawing/2014/main" id="{AEF7996A-F8AC-90C1-279F-8552E55B64DF}"/>
                </a:ext>
              </a:extLst>
            </p:cNvPr>
            <p:cNvSpPr/>
            <p:nvPr/>
          </p:nvSpPr>
          <p:spPr>
            <a:xfrm rot="16200000">
              <a:off x="9901095" y="2146300"/>
              <a:ext cx="1147524" cy="2466975"/>
            </a:xfrm>
            <a:prstGeom prst="roundRect">
              <a:avLst>
                <a:gd name="adj" fmla="val 9182"/>
              </a:avLst>
            </a:prstGeom>
            <a:solidFill>
              <a:srgbClr val="E3CB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BR">
                <a:solidFill>
                  <a:srgbClr val="101F2E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6" name="AREA_TRIBUTARIO_CARD">
              <a:hlinkClick r:id="rId8" action="ppaction://hlinksldjump"/>
              <a:extLst>
                <a:ext uri="{FF2B5EF4-FFF2-40B4-BE49-F238E27FC236}">
                  <a16:creationId xmlns:a16="http://schemas.microsoft.com/office/drawing/2014/main" id="{B1275E75-6AD1-5ABE-0822-DCB9F620699A}"/>
                </a:ext>
              </a:extLst>
            </p:cNvPr>
            <p:cNvSpPr/>
            <p:nvPr/>
          </p:nvSpPr>
          <p:spPr>
            <a:xfrm rot="10800000">
              <a:off x="9373849" y="2922696"/>
              <a:ext cx="2209236" cy="1662626"/>
            </a:xfrm>
            <a:prstGeom prst="roundRect">
              <a:avLst>
                <a:gd name="adj" fmla="val 4046"/>
              </a:avLst>
            </a:prstGeom>
            <a:solidFill>
              <a:srgbClr val="FDFAF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noFill/>
              </a:endParaRPr>
            </a:p>
          </p:txBody>
        </p:sp>
        <p:pic>
          <p:nvPicPr>
            <p:cNvPr id="17" name="AREA_TRIBUTARIO_ICONE">
              <a:hlinkClick r:id="rId8" action="ppaction://hlinksldjump"/>
              <a:extLst>
                <a:ext uri="{FF2B5EF4-FFF2-40B4-BE49-F238E27FC236}">
                  <a16:creationId xmlns:a16="http://schemas.microsoft.com/office/drawing/2014/main" id="{45F5A7A6-1365-08AE-86D5-079C90C4F2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308717" y="3553522"/>
              <a:ext cx="338937" cy="480160"/>
            </a:xfrm>
            <a:prstGeom prst="rect">
              <a:avLst/>
            </a:prstGeom>
          </p:spPr>
        </p:pic>
        <p:sp>
          <p:nvSpPr>
            <p:cNvPr id="18" name="AREA_TRIBUTARIO_TEXTO">
              <a:hlinkClick r:id="rId8" action="ppaction://hlinksldjump"/>
              <a:extLst>
                <a:ext uri="{FF2B5EF4-FFF2-40B4-BE49-F238E27FC236}">
                  <a16:creationId xmlns:a16="http://schemas.microsoft.com/office/drawing/2014/main" id="{7CFEB334-8120-AD10-052B-5B07E2CCB123}"/>
                </a:ext>
              </a:extLst>
            </p:cNvPr>
            <p:cNvSpPr txBox="1"/>
            <p:nvPr/>
          </p:nvSpPr>
          <p:spPr>
            <a:xfrm>
              <a:off x="9629402" y="2980073"/>
              <a:ext cx="1690911" cy="52322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pt-BR"/>
              </a:defPPr>
              <a:lvl1pPr>
                <a:defRPr sz="2800" b="1" spc="-90">
                  <a:solidFill>
                    <a:srgbClr val="121E2E"/>
                  </a:solidFill>
                  <a:latin typeface="Aptos SemiBold"/>
                </a:defRPr>
              </a:lvl1pPr>
            </a:lstStyle>
            <a:p>
              <a:r>
                <a:rPr lang="pt-BR">
                  <a:solidFill>
                    <a:srgbClr val="101F2E"/>
                  </a:solidFill>
                </a:rPr>
                <a:t>Tributário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4025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95D20-6276-2794-6232-6C269206E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Logotipo&#10;&#10;Descrição gerada automaticamente">
            <a:extLst>
              <a:ext uri="{FF2B5EF4-FFF2-40B4-BE49-F238E27FC236}">
                <a16:creationId xmlns:a16="http://schemas.microsoft.com/office/drawing/2014/main" id="{2C56ECF2-FE2C-119B-9D59-01DBF10E6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2" name="SLIDE_REEST_DIVISOR" descr="Uma imagem contendo Interface gráfica do usuário&#10;&#10;Descrição gerada automaticamente">
            <a:extLst>
              <a:ext uri="{FF2B5EF4-FFF2-40B4-BE49-F238E27FC236}">
                <a16:creationId xmlns:a16="http://schemas.microsoft.com/office/drawing/2014/main" id="{9688BD22-99F5-9FE7-A138-91D538F7CA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18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74275C99-7661-DE21-0B16-5E51B8BF6651}"/>
              </a:ext>
            </a:extLst>
          </p:cNvPr>
          <p:cNvSpPr/>
          <p:nvPr/>
        </p:nvSpPr>
        <p:spPr>
          <a:xfrm>
            <a:off x="0" y="-98385"/>
            <a:ext cx="12273023" cy="6956385"/>
          </a:xfrm>
          <a:prstGeom prst="rect">
            <a:avLst/>
          </a:prstGeom>
          <a:solidFill>
            <a:srgbClr val="EBE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Autos Eyebrow"/>
          <p:cNvSpPr txBox="1"/>
          <p:nvPr/>
        </p:nvSpPr>
        <p:spPr>
          <a:xfrm>
            <a:off x="431800" y="14097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rgbClr val="D5B170"/>
                </a:solidFill>
                <a:latin typeface="Aptos"/>
              </a:rPr>
              <a:t>AUTOS Nº</a:t>
            </a:r>
          </a:p>
        </p:txBody>
      </p:sp>
      <p:sp>
        <p:nvSpPr>
          <p:cNvPr id="11" name="Autos Number"/>
          <p:cNvSpPr txBox="1"/>
          <p:nvPr/>
        </p:nvSpPr>
        <p:spPr>
          <a:xfrm>
            <a:off x="431800" y="1676400"/>
            <a:ext cx="787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2200" b="1" dirty="0">
                <a:solidFill>
                  <a:srgbClr val="101F2E"/>
                </a:solidFill>
                <a:latin typeface="Aptos SemiBold"/>
              </a:rPr>
              <a:t>{{RJ_AUTOS}}</a:t>
            </a:r>
          </a:p>
        </p:txBody>
      </p:sp>
      <p:sp>
        <p:nvSpPr>
          <p:cNvPr id="12" name="Divider"/>
          <p:cNvSpPr/>
          <p:nvPr/>
        </p:nvSpPr>
        <p:spPr>
          <a:xfrm>
            <a:off x="431800" y="2171700"/>
            <a:ext cx="7950200" cy="254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querentes Label"/>
          <p:cNvSpPr txBox="1"/>
          <p:nvPr/>
        </p:nvSpPr>
        <p:spPr>
          <a:xfrm>
            <a:off x="431800" y="2336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rgbClr val="D5B170"/>
                </a:solidFill>
                <a:latin typeface="Aptos"/>
              </a:rPr>
              <a:t>RECUPERANDAS</a:t>
            </a:r>
          </a:p>
        </p:txBody>
      </p:sp>
      <p:sp>
        <p:nvSpPr>
          <p:cNvPr id="14" name="Requerentes Value"/>
          <p:cNvSpPr txBox="1"/>
          <p:nvPr/>
        </p:nvSpPr>
        <p:spPr>
          <a:xfrm>
            <a:off x="431800" y="2590800"/>
            <a:ext cx="7950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rgbClr val="101F2E"/>
                </a:solidFill>
                <a:latin typeface="Aptos"/>
              </a:rPr>
              <a:t>{{RJ_RECUPERANDAS}}</a:t>
            </a:r>
          </a:p>
        </p:txBody>
      </p:sp>
      <p:sp>
        <p:nvSpPr>
          <p:cNvPr id="15" name="Competencia Label"/>
          <p:cNvSpPr txBox="1"/>
          <p:nvPr/>
        </p:nvSpPr>
        <p:spPr>
          <a:xfrm>
            <a:off x="431800" y="3378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rgbClr val="D5B170"/>
                </a:solidFill>
                <a:latin typeface="Aptos"/>
              </a:rPr>
              <a:t>COMPETÊNCIA</a:t>
            </a:r>
          </a:p>
        </p:txBody>
      </p:sp>
      <p:sp>
        <p:nvSpPr>
          <p:cNvPr id="16" name="Competencia Value"/>
          <p:cNvSpPr txBox="1"/>
          <p:nvPr/>
        </p:nvSpPr>
        <p:spPr>
          <a:xfrm>
            <a:off x="431800" y="3632200"/>
            <a:ext cx="7950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rgbClr val="101F2E"/>
                </a:solidFill>
                <a:latin typeface="Aptos"/>
              </a:rPr>
              <a:t>{{RJ_COMPETENCIA}}</a:t>
            </a:r>
          </a:p>
        </p:txBody>
      </p:sp>
      <p:sp>
        <p:nvSpPr>
          <p:cNvPr id="17" name="Juiz Label"/>
          <p:cNvSpPr txBox="1"/>
          <p:nvPr/>
        </p:nvSpPr>
        <p:spPr>
          <a:xfrm>
            <a:off x="431800" y="4267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rgbClr val="D5B170"/>
                </a:solidFill>
                <a:latin typeface="Aptos"/>
              </a:rPr>
              <a:t>JUIZ</a:t>
            </a:r>
          </a:p>
        </p:txBody>
      </p:sp>
      <p:sp>
        <p:nvSpPr>
          <p:cNvPr id="18" name="Juiz Value"/>
          <p:cNvSpPr txBox="1"/>
          <p:nvPr/>
        </p:nvSpPr>
        <p:spPr>
          <a:xfrm>
            <a:off x="431800" y="45212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500" b="1" dirty="0">
                <a:solidFill>
                  <a:srgbClr val="101F2E"/>
                </a:solidFill>
                <a:latin typeface="Aptos"/>
              </a:rPr>
              <a:t>{{RJ_JUIZ}}</a:t>
            </a:r>
          </a:p>
        </p:txBody>
      </p:sp>
      <p:sp>
        <p:nvSpPr>
          <p:cNvPr id="19" name="Relator Label"/>
          <p:cNvSpPr txBox="1"/>
          <p:nvPr/>
        </p:nvSpPr>
        <p:spPr>
          <a:xfrm>
            <a:off x="4445000" y="42672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rgbClr val="D5B170"/>
                </a:solidFill>
                <a:latin typeface="Aptos"/>
              </a:rPr>
              <a:t>RELATOR PREVENTO</a:t>
            </a:r>
          </a:p>
        </p:txBody>
      </p:sp>
      <p:sp>
        <p:nvSpPr>
          <p:cNvPr id="20" name="Relator Value"/>
          <p:cNvSpPr txBox="1"/>
          <p:nvPr/>
        </p:nvSpPr>
        <p:spPr>
          <a:xfrm>
            <a:off x="4445000" y="4521200"/>
            <a:ext cx="3937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500" b="1" dirty="0">
                <a:solidFill>
                  <a:srgbClr val="101F2E"/>
                </a:solidFill>
                <a:latin typeface="Aptos"/>
              </a:rPr>
              <a:t>{{RJ_RELATOR}}</a:t>
            </a:r>
          </a:p>
        </p:txBody>
      </p:sp>
      <p:sp>
        <p:nvSpPr>
          <p:cNvPr id="21" name="Admin Label"/>
          <p:cNvSpPr txBox="1"/>
          <p:nvPr/>
        </p:nvSpPr>
        <p:spPr>
          <a:xfrm>
            <a:off x="431800" y="4978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rgbClr val="D5B170"/>
                </a:solidFill>
                <a:latin typeface="Aptos"/>
              </a:rPr>
              <a:t>ADMINISTRADOR JUDICIAL</a:t>
            </a:r>
          </a:p>
        </p:txBody>
      </p:sp>
      <p:sp>
        <p:nvSpPr>
          <p:cNvPr id="22" name="Admin Value"/>
          <p:cNvSpPr txBox="1"/>
          <p:nvPr/>
        </p:nvSpPr>
        <p:spPr>
          <a:xfrm>
            <a:off x="431800" y="5232400"/>
            <a:ext cx="7950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500" b="1" dirty="0">
                <a:solidFill>
                  <a:srgbClr val="101F2E"/>
                </a:solidFill>
                <a:latin typeface="Aptos"/>
              </a:rPr>
              <a:t>{{RJ_ADMINISTRADOR}}</a:t>
            </a:r>
          </a:p>
        </p:txBody>
      </p:sp>
      <p:sp>
        <p:nvSpPr>
          <p:cNvPr id="23" name="Summary Background"/>
          <p:cNvSpPr/>
          <p:nvPr/>
        </p:nvSpPr>
        <p:spPr>
          <a:xfrm>
            <a:off x="431800" y="5626100"/>
            <a:ext cx="7950200" cy="736600"/>
          </a:xfrm>
          <a:prstGeom prst="rect">
            <a:avLst/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CF9F5"/>
              </a:solidFill>
            </a:endParaRPr>
          </a:p>
        </p:txBody>
      </p:sp>
      <p:sp>
        <p:nvSpPr>
          <p:cNvPr id="25" name="Summary Text"/>
          <p:cNvSpPr txBox="1"/>
          <p:nvPr/>
        </p:nvSpPr>
        <p:spPr>
          <a:xfrm>
            <a:off x="685800" y="5816600"/>
            <a:ext cx="749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rgbClr val="101F2E"/>
                </a:solidFill>
                <a:latin typeface="Aptos"/>
              </a:rPr>
              <a:t>{{RJ_RESUMO}}</a:t>
            </a:r>
          </a:p>
        </p:txBody>
      </p:sp>
      <p:sp>
        <p:nvSpPr>
          <p:cNvPr id="30" name="Status Rail"/>
          <p:cNvSpPr/>
          <p:nvPr/>
        </p:nvSpPr>
        <p:spPr>
          <a:xfrm>
            <a:off x="8763000" y="1409700"/>
            <a:ext cx="2997200" cy="4610100"/>
          </a:xfrm>
          <a:prstGeom prst="roundRect">
            <a:avLst/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CF9F5"/>
              </a:solidFill>
            </a:endParaRPr>
          </a:p>
        </p:txBody>
      </p:sp>
      <p:sp>
        <p:nvSpPr>
          <p:cNvPr id="31" name="Passivo Label"/>
          <p:cNvSpPr txBox="1"/>
          <p:nvPr/>
        </p:nvSpPr>
        <p:spPr>
          <a:xfrm>
            <a:off x="9042400" y="16891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rgbClr val="D5B170"/>
                </a:solidFill>
                <a:latin typeface="Aptos"/>
              </a:rPr>
              <a:t>PASSIVO TOTAL</a:t>
            </a:r>
          </a:p>
        </p:txBody>
      </p:sp>
      <p:sp>
        <p:nvSpPr>
          <p:cNvPr id="32" name="Passivo Value"/>
          <p:cNvSpPr txBox="1"/>
          <p:nvPr/>
        </p:nvSpPr>
        <p:spPr>
          <a:xfrm>
            <a:off x="9042400" y="19685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2000" b="1" dirty="0">
                <a:latin typeface="Aptos"/>
              </a:rPr>
              <a:t>{{RJ_PASSIVO_TOTAL}}</a:t>
            </a:r>
          </a:p>
        </p:txBody>
      </p:sp>
      <p:sp>
        <p:nvSpPr>
          <p:cNvPr id="33" name="Passivo Accent"/>
          <p:cNvSpPr/>
          <p:nvPr/>
        </p:nvSpPr>
        <p:spPr>
          <a:xfrm>
            <a:off x="9042400" y="2616200"/>
            <a:ext cx="736600" cy="381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" name="Deferimento Label"/>
          <p:cNvSpPr txBox="1"/>
          <p:nvPr/>
        </p:nvSpPr>
        <p:spPr>
          <a:xfrm>
            <a:off x="9042400" y="28448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200" b="1" dirty="0">
                <a:latin typeface="Aptos"/>
              </a:rPr>
              <a:t>DEFERIMENTO PROCESSAMENTO</a:t>
            </a:r>
          </a:p>
        </p:txBody>
      </p:sp>
      <p:sp>
        <p:nvSpPr>
          <p:cNvPr id="35" name="Status Chip"/>
          <p:cNvSpPr/>
          <p:nvPr/>
        </p:nvSpPr>
        <p:spPr>
          <a:xfrm>
            <a:off x="9042400" y="3098800"/>
            <a:ext cx="2413000" cy="406400"/>
          </a:xfrm>
          <a:prstGeom prst="round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" name="Status Chip Text"/>
          <p:cNvSpPr txBox="1"/>
          <p:nvPr/>
        </p:nvSpPr>
        <p:spPr>
          <a:xfrm>
            <a:off x="9220200" y="3175000"/>
            <a:ext cx="2222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chemeClr val="bg1"/>
                </a:solidFill>
                <a:latin typeface="Aptos SemiBold"/>
              </a:rPr>
              <a:t>{{RJ_DEFERIMENTO}}</a:t>
            </a:r>
          </a:p>
        </p:txBody>
      </p:sp>
      <p:sp>
        <p:nvSpPr>
          <p:cNvPr id="37" name="Ajuizamento Label"/>
          <p:cNvSpPr txBox="1"/>
          <p:nvPr/>
        </p:nvSpPr>
        <p:spPr>
          <a:xfrm>
            <a:off x="9042400" y="37338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latin typeface="Aptos"/>
              </a:rPr>
              <a:t>AJUIZAMENTO</a:t>
            </a:r>
          </a:p>
        </p:txBody>
      </p:sp>
      <p:sp>
        <p:nvSpPr>
          <p:cNvPr id="38" name="Ajuizamento Value"/>
          <p:cNvSpPr txBox="1"/>
          <p:nvPr/>
        </p:nvSpPr>
        <p:spPr>
          <a:xfrm>
            <a:off x="9042400" y="39878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600" dirty="0">
                <a:latin typeface="+mj-lt"/>
              </a:rPr>
              <a:t>{{RJ_AJUIZAMENTO}}</a:t>
            </a:r>
          </a:p>
        </p:txBody>
      </p:sp>
      <p:sp>
        <p:nvSpPr>
          <p:cNvPr id="39" name="Foro Label"/>
          <p:cNvSpPr txBox="1"/>
          <p:nvPr/>
        </p:nvSpPr>
        <p:spPr>
          <a:xfrm>
            <a:off x="9042400" y="45212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latin typeface="Aptos"/>
              </a:rPr>
              <a:t>FORO</a:t>
            </a:r>
          </a:p>
        </p:txBody>
      </p:sp>
      <p:sp>
        <p:nvSpPr>
          <p:cNvPr id="40" name="Foro Value"/>
          <p:cNvSpPr txBox="1"/>
          <p:nvPr/>
        </p:nvSpPr>
        <p:spPr>
          <a:xfrm>
            <a:off x="9042400" y="4775200"/>
            <a:ext cx="2413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600" dirty="0"/>
              <a:t>{{RJ_FORO}}</a:t>
            </a:r>
          </a:p>
        </p:txBody>
      </p:sp>
      <p:sp>
        <p:nvSpPr>
          <p:cNvPr id="28" name="SLIDE_REEST_RJ">
            <a:extLst>
              <a:ext uri="{FF2B5EF4-FFF2-40B4-BE49-F238E27FC236}">
                <a16:creationId xmlns:a16="http://schemas.microsoft.com/office/drawing/2014/main" id="{33D747B1-A6B9-8D90-59CD-C35D4941A30F}"/>
              </a:ext>
            </a:extLst>
          </p:cNvPr>
          <p:cNvSpPr txBox="1"/>
          <p:nvPr/>
        </p:nvSpPr>
        <p:spPr>
          <a:xfrm>
            <a:off x="533248" y="181286"/>
            <a:ext cx="33393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Reestruturação</a:t>
            </a:r>
          </a:p>
          <a:p>
            <a:r>
              <a:rPr lang="pt-BR" sz="2000" b="1" dirty="0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Recuperação Judicial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18E1557E-641E-D7A0-95A9-B7EC3EC48072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ptos" panose="020B0004020202020204" pitchFamily="34" charset="0"/>
            </a:endParaRPr>
          </a:p>
        </p:txBody>
      </p:sp>
      <p:sp>
        <p:nvSpPr>
          <p:cNvPr id="45" name="Total Accent">
            <a:extLst>
              <a:ext uri="{FF2B5EF4-FFF2-40B4-BE49-F238E27FC236}">
                <a16:creationId xmlns:a16="http://schemas.microsoft.com/office/drawing/2014/main" id="{BFC3BC1D-142E-C8D7-5EC7-BF03F6E5A151}"/>
              </a:ext>
            </a:extLst>
          </p:cNvPr>
          <p:cNvSpPr/>
          <p:nvPr/>
        </p:nvSpPr>
        <p:spPr>
          <a:xfrm>
            <a:off x="431800" y="5626100"/>
            <a:ext cx="58736" cy="7366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2182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74275C99-7661-DE21-0B16-5E51B8BF6651}"/>
              </a:ext>
            </a:extLst>
          </p:cNvPr>
          <p:cNvSpPr/>
          <p:nvPr/>
        </p:nvSpPr>
        <p:spPr>
          <a:xfrm>
            <a:off x="0" y="-98385"/>
            <a:ext cx="12273023" cy="6956385"/>
          </a:xfrm>
          <a:prstGeom prst="rect">
            <a:avLst/>
          </a:prstGeom>
          <a:solidFill>
            <a:srgbClr val="EBE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SLIDE_REEST_ENDIVIDAMENTO">
            <a:extLst>
              <a:ext uri="{FF2B5EF4-FFF2-40B4-BE49-F238E27FC236}">
                <a16:creationId xmlns:a16="http://schemas.microsoft.com/office/drawing/2014/main" id="{33D747B1-A6B9-8D90-59CD-C35D4941A30F}"/>
              </a:ext>
            </a:extLst>
          </p:cNvPr>
          <p:cNvSpPr txBox="1"/>
          <p:nvPr/>
        </p:nvSpPr>
        <p:spPr>
          <a:xfrm>
            <a:off x="533248" y="181286"/>
            <a:ext cx="33393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Reestruturação</a:t>
            </a:r>
          </a:p>
          <a:p>
            <a:r>
              <a:rPr lang="pt-BR" sz="2000" b="1" dirty="0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Composição do Endividamento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18E1557E-641E-D7A0-95A9-B7EC3EC48072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ptos" panose="020B0004020202020204" pitchFamily="34" charset="0"/>
            </a:endParaRPr>
          </a:p>
        </p:txBody>
      </p:sp>
      <p:sp>
        <p:nvSpPr>
          <p:cNvPr id="100" name="Shape 101"/>
          <p:cNvSpPr/>
          <p:nvPr/>
        </p:nvSpPr>
        <p:spPr>
          <a:xfrm>
            <a:off x="431800" y="1409700"/>
            <a:ext cx="7950200" cy="3860800"/>
          </a:xfrm>
          <a:prstGeom prst="rect">
            <a:avLst/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graphicFrame>
        <p:nvGraphicFramePr>
          <p:cNvPr id="101" name="TBL_RJ_CLASSES"/>
          <p:cNvGraphicFramePr>
            <a:graphicFrameLocks noGrp="1"/>
          </p:cNvGraphicFramePr>
          <p:nvPr/>
        </p:nvGraphicFramePr>
        <p:xfrm>
          <a:off x="584200" y="1536700"/>
          <a:ext cx="7645400" cy="3474720"/>
        </p:xfrm>
        <a:graphic>
          <a:graphicData uri="http://schemas.openxmlformats.org/drawingml/2006/table">
            <a:tbl>
              <a:tblPr firstRow="1"/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D5B170"/>
                          </a:solidFill>
                          <a:latin typeface="Aptos"/>
                        </a:rPr>
                        <a:t>CLASSE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>
                          <a:solidFill>
                            <a:srgbClr val="D5B170"/>
                          </a:solidFill>
                          <a:latin typeface="Aptos"/>
                        </a:rPr>
                        <a:t>EDITAL ART. 52, §1º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>
                          <a:solidFill>
                            <a:srgbClr val="D5B170"/>
                          </a:solidFill>
                          <a:latin typeface="Aptos"/>
                        </a:rPr>
                        <a:t>RELATÓRIO AJ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>
                          <a:solidFill>
                            <a:srgbClr val="D5B170"/>
                          </a:solidFill>
                          <a:latin typeface="Aptos"/>
                        </a:rPr>
                        <a:t>VARIAÇÃO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101F2E"/>
                          </a:solidFill>
                          <a:latin typeface="Aptos"/>
                        </a:rPr>
                        <a:t>{{row.classe}}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 b="0" dirty="0">
                          <a:solidFill>
                            <a:srgbClr val="101F2E"/>
                          </a:solidFill>
                          <a:latin typeface="Aptos"/>
                        </a:rPr>
                        <a:t>{{row.edital}}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 b="0" dirty="0">
                          <a:solidFill>
                            <a:srgbClr val="101F2E"/>
                          </a:solidFill>
                          <a:latin typeface="Aptos"/>
                        </a:rPr>
                        <a:t>{{row.aj}}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 b="0" dirty="0">
                          <a:solidFill>
                            <a:srgbClr val="101F2E"/>
                          </a:solidFill>
                          <a:latin typeface="Aptos"/>
                        </a:rPr>
                        <a:t>{{row.variacao}}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101F2E"/>
                          </a:solidFill>
                          <a:latin typeface="Aptos"/>
                        </a:rPr>
                        <a:t>Total concursal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5C7"/>
                      </a:solidFill>
                    </a:lnB>
                    <a:solidFill>
                      <a:srgbClr val="F3EA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 b="1" dirty="0">
                          <a:solidFill>
                            <a:srgbClr val="101F2E"/>
                          </a:solidFill>
                          <a:latin typeface="Aptos"/>
                        </a:rPr>
                        <a:t>{{RJ_TOTAL_EDITAL}}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5C7"/>
                      </a:solidFill>
                    </a:lnB>
                    <a:solidFill>
                      <a:srgbClr val="F3EA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 b="1" dirty="0">
                          <a:solidFill>
                            <a:srgbClr val="101F2E"/>
                          </a:solidFill>
                          <a:latin typeface="Aptos"/>
                        </a:rPr>
                        <a:t>{{RJ_TOTAL_AJ}}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5C7"/>
                      </a:solidFill>
                    </a:lnB>
                    <a:solidFill>
                      <a:srgbClr val="F3EAD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 b="1" dirty="0">
                          <a:solidFill>
                            <a:srgbClr val="101F2E"/>
                          </a:solidFill>
                          <a:latin typeface="Aptos"/>
                        </a:rPr>
                        <a:t>{{RJ_TOTAL_VARIACAO}}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5C7"/>
                      </a:solidFill>
                    </a:lnB>
                    <a:solidFill>
                      <a:srgbClr val="F3E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101F2E"/>
                          </a:solidFill>
                          <a:latin typeface="Aptos"/>
                        </a:rPr>
                        <a:t>Extraconcursal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 b="0" dirty="0">
                          <a:solidFill>
                            <a:srgbClr val="101F2E"/>
                          </a:solidFill>
                          <a:latin typeface="Aptos"/>
                        </a:rPr>
                        <a:t>{{RJ_EXTRA_EDITAL}}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 b="0" dirty="0">
                          <a:solidFill>
                            <a:srgbClr val="101F2E"/>
                          </a:solidFill>
                          <a:latin typeface="Aptos"/>
                        </a:rPr>
                        <a:t>{{RJ_EXTRA_AJ}}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 b="0" dirty="0">
                          <a:solidFill>
                            <a:srgbClr val="101F2E"/>
                          </a:solidFill>
                          <a:latin typeface="Aptos"/>
                        </a:rPr>
                        <a:t>{{RJ_EXTRA_VARIACAO}}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2" name="Shape 103"/>
          <p:cNvSpPr/>
          <p:nvPr/>
        </p:nvSpPr>
        <p:spPr>
          <a:xfrm>
            <a:off x="8763000" y="1409700"/>
            <a:ext cx="2997200" cy="4953000"/>
          </a:xfrm>
          <a:prstGeom prst="roundRect">
            <a:avLst/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3" name="Text 104"/>
          <p:cNvSpPr txBox="1"/>
          <p:nvPr/>
        </p:nvSpPr>
        <p:spPr>
          <a:xfrm>
            <a:off x="9042400" y="16891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rgbClr val="D5B170"/>
                </a:solidFill>
                <a:latin typeface="Aptos"/>
              </a:rPr>
              <a:t>PASSIVO CONCURSAL (AJ)</a:t>
            </a:r>
          </a:p>
        </p:txBody>
      </p:sp>
      <p:sp>
        <p:nvSpPr>
          <p:cNvPr id="104" name="Text 105"/>
          <p:cNvSpPr txBox="1"/>
          <p:nvPr/>
        </p:nvSpPr>
        <p:spPr>
          <a:xfrm>
            <a:off x="9042400" y="1968500"/>
            <a:ext cx="241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2000" b="1" dirty="0">
                <a:solidFill>
                  <a:srgbClr val="101F2E"/>
                </a:solidFill>
                <a:latin typeface="Aptos"/>
              </a:rPr>
              <a:t>{{RJ_CONCURSAL_AJ}}</a:t>
            </a:r>
          </a:p>
        </p:txBody>
      </p:sp>
      <p:sp>
        <p:nvSpPr>
          <p:cNvPr id="105" name="Shape 106"/>
          <p:cNvSpPr/>
          <p:nvPr/>
        </p:nvSpPr>
        <p:spPr>
          <a:xfrm>
            <a:off x="9042400" y="2501900"/>
            <a:ext cx="914400" cy="381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6" name="Text 107"/>
          <p:cNvSpPr txBox="1"/>
          <p:nvPr/>
        </p:nvSpPr>
        <p:spPr>
          <a:xfrm>
            <a:off x="9042400" y="27178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rgbClr val="101F2E"/>
                </a:solidFill>
                <a:latin typeface="Aptos"/>
              </a:rPr>
              <a:t>VARIAÇÃO VS. EDITAL</a:t>
            </a:r>
          </a:p>
        </p:txBody>
      </p:sp>
      <p:sp>
        <p:nvSpPr>
          <p:cNvPr id="107" name="Shape 108"/>
          <p:cNvSpPr/>
          <p:nvPr/>
        </p:nvSpPr>
        <p:spPr>
          <a:xfrm>
            <a:off x="9042400" y="3022600"/>
            <a:ext cx="2413000" cy="406400"/>
          </a:xfrm>
          <a:prstGeom prst="round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8" name="Text 109"/>
          <p:cNvSpPr txBox="1"/>
          <p:nvPr/>
        </p:nvSpPr>
        <p:spPr>
          <a:xfrm>
            <a:off x="9220200" y="3098800"/>
            <a:ext cx="2209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rgbClr val="FFFFFF"/>
                </a:solidFill>
                <a:latin typeface="Aptos SemiBold"/>
              </a:rPr>
              <a:t>{{RJ_VARIACAO_EDITAL}}</a:t>
            </a:r>
          </a:p>
        </p:txBody>
      </p:sp>
      <p:sp>
        <p:nvSpPr>
          <p:cNvPr id="109" name="Text 110"/>
          <p:cNvSpPr txBox="1"/>
          <p:nvPr/>
        </p:nvSpPr>
        <p:spPr>
          <a:xfrm>
            <a:off x="9042400" y="36830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rgbClr val="101F2E"/>
                </a:solidFill>
                <a:latin typeface="Aptos"/>
              </a:rPr>
              <a:t>EXTRACONCURSAL (AJ)</a:t>
            </a:r>
          </a:p>
        </p:txBody>
      </p:sp>
      <p:sp>
        <p:nvSpPr>
          <p:cNvPr id="110" name="Text 111"/>
          <p:cNvSpPr txBox="1"/>
          <p:nvPr/>
        </p:nvSpPr>
        <p:spPr>
          <a:xfrm>
            <a:off x="9042400" y="39624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0" dirty="0">
                <a:solidFill>
                  <a:srgbClr val="101F2E"/>
                </a:solidFill>
                <a:latin typeface="Aptos"/>
              </a:rPr>
              <a:t>{{RJ_EXTRACONCURSAL_AJ}}</a:t>
            </a:r>
          </a:p>
        </p:txBody>
      </p:sp>
      <p:sp>
        <p:nvSpPr>
          <p:cNvPr id="111" name="Text 112"/>
          <p:cNvSpPr txBox="1"/>
          <p:nvPr/>
        </p:nvSpPr>
        <p:spPr>
          <a:xfrm>
            <a:off x="9042400" y="45212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 dirty="0">
                <a:solidFill>
                  <a:srgbClr val="101F2E"/>
                </a:solidFill>
                <a:latin typeface="Aptos"/>
              </a:rPr>
              <a:t>ENDIVIDAMENTO TOTAL (AJ)</a:t>
            </a:r>
          </a:p>
        </p:txBody>
      </p:sp>
      <p:sp>
        <p:nvSpPr>
          <p:cNvPr id="112" name="Text 113"/>
          <p:cNvSpPr txBox="1"/>
          <p:nvPr/>
        </p:nvSpPr>
        <p:spPr>
          <a:xfrm>
            <a:off x="9042400" y="48006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0" dirty="0">
                <a:solidFill>
                  <a:srgbClr val="101F2E"/>
                </a:solidFill>
                <a:latin typeface="Aptos"/>
              </a:rPr>
              <a:t>{{RJ_ENDIVIDAMENTO_TOTAL}}</a:t>
            </a:r>
          </a:p>
        </p:txBody>
      </p:sp>
      <p:sp>
        <p:nvSpPr>
          <p:cNvPr id="113" name="Shape 114"/>
          <p:cNvSpPr/>
          <p:nvPr/>
        </p:nvSpPr>
        <p:spPr>
          <a:xfrm>
            <a:off x="431800" y="5537200"/>
            <a:ext cx="7950200" cy="825500"/>
          </a:xfrm>
          <a:prstGeom prst="rect">
            <a:avLst/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4" name="Shape 115"/>
          <p:cNvSpPr/>
          <p:nvPr/>
        </p:nvSpPr>
        <p:spPr>
          <a:xfrm>
            <a:off x="431800" y="5537200"/>
            <a:ext cx="58736" cy="8255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5" name="Text 116"/>
          <p:cNvSpPr txBox="1"/>
          <p:nvPr/>
        </p:nvSpPr>
        <p:spPr>
          <a:xfrm>
            <a:off x="685800" y="5626100"/>
            <a:ext cx="7493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1400" b="1" dirty="0">
                <a:solidFill>
                  <a:srgbClr val="101F2E"/>
                </a:solidFill>
                <a:latin typeface="Aptos"/>
              </a:rPr>
              <a:t>{{RJ_ENDIVIDAMENTO_RESUMO}}</a:t>
            </a:r>
          </a:p>
        </p:txBody>
      </p:sp>
    </p:spTree>
    <p:extLst>
      <p:ext uri="{BB962C8B-B14F-4D97-AF65-F5344CB8AC3E}">
        <p14:creationId xmlns:p14="http://schemas.microsoft.com/office/powerpoint/2010/main" val="2233870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74275C99-7661-DE21-0B16-5E51B8BF6651}"/>
              </a:ext>
            </a:extLst>
          </p:cNvPr>
          <p:cNvSpPr/>
          <p:nvPr/>
        </p:nvSpPr>
        <p:spPr>
          <a:xfrm>
            <a:off x="0" y="-98385"/>
            <a:ext cx="12273023" cy="6956385"/>
          </a:xfrm>
          <a:prstGeom prst="rect">
            <a:avLst/>
          </a:prstGeom>
          <a:solidFill>
            <a:srgbClr val="EBE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SLIDE_REEST_PAGAMENTO">
            <a:extLst>
              <a:ext uri="{FF2B5EF4-FFF2-40B4-BE49-F238E27FC236}">
                <a16:creationId xmlns:a16="http://schemas.microsoft.com/office/drawing/2014/main" id="{33D747B1-A6B9-8D90-59CD-C35D4941A30F}"/>
              </a:ext>
            </a:extLst>
          </p:cNvPr>
          <p:cNvSpPr txBox="1"/>
          <p:nvPr/>
        </p:nvSpPr>
        <p:spPr>
          <a:xfrm>
            <a:off x="533248" y="181286"/>
            <a:ext cx="33393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Reestruturação</a:t>
            </a:r>
          </a:p>
          <a:p>
            <a:r>
              <a:rPr lang="pt-BR" sz="2000" b="1" dirty="0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Forma de Pagamento dos Credores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18E1557E-641E-D7A0-95A9-B7EC3EC48072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ptos" panose="020B0004020202020204" pitchFamily="34" charset="0"/>
            </a:endParaRPr>
          </a:p>
        </p:txBody>
      </p:sp>
      <p:sp>
        <p:nvSpPr>
          <p:cNvPr id="100" name="Shape 101"/>
          <p:cNvSpPr/>
          <p:nvPr/>
        </p:nvSpPr>
        <p:spPr>
          <a:xfrm>
            <a:off x="431800" y="1409700"/>
            <a:ext cx="11328400" cy="4826000"/>
          </a:xfrm>
          <a:prstGeom prst="rect">
            <a:avLst/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graphicFrame>
        <p:nvGraphicFramePr>
          <p:cNvPr id="101" name="TBL_RJ_PAGAMENTO"/>
          <p:cNvGraphicFramePr>
            <a:graphicFrameLocks noGrp="1"/>
          </p:cNvGraphicFramePr>
          <p:nvPr/>
        </p:nvGraphicFramePr>
        <p:xfrm>
          <a:off x="584200" y="1524000"/>
          <a:ext cx="11023600" cy="4572000"/>
        </p:xfrm>
        <a:graphic>
          <a:graphicData uri="http://schemas.openxmlformats.org/drawingml/2006/table">
            <a:tbl>
              <a:tblPr firstRow="1"/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D5B170"/>
                          </a:solidFill>
                          <a:latin typeface="Aptos"/>
                        </a:rPr>
                        <a:t>CLASSE / SUBCLASSE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D5B170"/>
                          </a:solidFill>
                          <a:latin typeface="Aptos"/>
                        </a:rPr>
                        <a:t>DESÁGIO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D5B170"/>
                          </a:solidFill>
                          <a:latin typeface="Aptos"/>
                        </a:rPr>
                        <a:t>CARÊNCIA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D5B170"/>
                          </a:solidFill>
                          <a:latin typeface="Aptos"/>
                        </a:rPr>
                        <a:t>FORMA E PRAZO DE PAGAMENTO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200" b="1" dirty="0">
                          <a:solidFill>
                            <a:srgbClr val="D5B170"/>
                          </a:solidFill>
                          <a:latin typeface="Aptos"/>
                        </a:rPr>
                        <a:t>ATUALIZAÇÃO E JUROS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101F2E"/>
                          </a:solidFill>
                          <a:latin typeface="Aptos"/>
                        </a:rPr>
                        <a:t>{{row.classe}}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dirty="0">
                          <a:solidFill>
                            <a:srgbClr val="101F2E"/>
                          </a:solidFill>
                          <a:latin typeface="Aptos"/>
                        </a:rPr>
                        <a:t>{{row.desagio}}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dirty="0">
                          <a:solidFill>
                            <a:srgbClr val="101F2E"/>
                          </a:solidFill>
                          <a:latin typeface="Aptos"/>
                        </a:rPr>
                        <a:t>{{row.carencia}}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dirty="0">
                          <a:solidFill>
                            <a:srgbClr val="101F2E"/>
                          </a:solidFill>
                          <a:latin typeface="Aptos"/>
                        </a:rPr>
                        <a:t>{{row.forma}}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dirty="0">
                          <a:solidFill>
                            <a:srgbClr val="101F2E"/>
                          </a:solidFill>
                          <a:latin typeface="Aptos"/>
                        </a:rPr>
                        <a:t>{{row.atualizacao}}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DD5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D5C7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7556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74275C99-7661-DE21-0B16-5E51B8BF6651}"/>
              </a:ext>
            </a:extLst>
          </p:cNvPr>
          <p:cNvSpPr/>
          <p:nvPr/>
        </p:nvSpPr>
        <p:spPr>
          <a:xfrm>
            <a:off x="0" y="-98385"/>
            <a:ext cx="12273023" cy="6956385"/>
          </a:xfrm>
          <a:prstGeom prst="rect">
            <a:avLst/>
          </a:prstGeom>
          <a:solidFill>
            <a:srgbClr val="EBE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SLIDE_REEST_FORMAS">
            <a:extLst>
              <a:ext uri="{FF2B5EF4-FFF2-40B4-BE49-F238E27FC236}">
                <a16:creationId xmlns:a16="http://schemas.microsoft.com/office/drawing/2014/main" id="{33D747B1-A6B9-8D90-59CD-C35D4941A30F}"/>
              </a:ext>
            </a:extLst>
          </p:cNvPr>
          <p:cNvSpPr txBox="1"/>
          <p:nvPr/>
        </p:nvSpPr>
        <p:spPr>
          <a:xfrm>
            <a:off x="533248" y="181286"/>
            <a:ext cx="33393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Reestruturação</a:t>
            </a:r>
          </a:p>
          <a:p>
            <a:r>
              <a:rPr lang="pt-BR" sz="2000" b="1" dirty="0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Formas Especiais de Pagamento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18E1557E-641E-D7A0-95A9-B7EC3EC48072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ptos" panose="020B0004020202020204" pitchFamily="34" charset="0"/>
            </a:endParaRPr>
          </a:p>
        </p:txBody>
      </p:sp>
      <p:sp>
        <p:nvSpPr>
          <p:cNvPr id="100" name="Shape 101"/>
          <p:cNvSpPr/>
          <p:nvPr/>
        </p:nvSpPr>
        <p:spPr>
          <a:xfrm>
            <a:off x="431800" y="1409700"/>
            <a:ext cx="5511800" cy="4826000"/>
          </a:xfrm>
          <a:prstGeom prst="roundRect">
            <a:avLst>
              <a:gd name="adj" fmla="val 6000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1" name="Text 102"/>
          <p:cNvSpPr txBox="1"/>
          <p:nvPr/>
        </p:nvSpPr>
        <p:spPr>
          <a:xfrm>
            <a:off x="736600" y="16891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D5B170"/>
                </a:solidFill>
                <a:latin typeface="Aptos"/>
              </a:rPr>
              <a:t>{{RJ_OPCAO_A_ROTULO}}</a:t>
            </a:r>
          </a:p>
        </p:txBody>
      </p:sp>
      <p:sp>
        <p:nvSpPr>
          <p:cNvPr id="102" name="Text 103"/>
          <p:cNvSpPr txBox="1"/>
          <p:nvPr/>
        </p:nvSpPr>
        <p:spPr>
          <a:xfrm>
            <a:off x="736600" y="1968500"/>
            <a:ext cx="4902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2000" b="1" dirty="0">
                <a:solidFill>
                  <a:srgbClr val="101F2E"/>
                </a:solidFill>
                <a:latin typeface="Aptos"/>
              </a:rPr>
              <a:t>{{RJ_OPCAO_A_TITULO}}</a:t>
            </a:r>
          </a:p>
        </p:txBody>
      </p:sp>
      <p:sp>
        <p:nvSpPr>
          <p:cNvPr id="103" name="Shape 104"/>
          <p:cNvSpPr/>
          <p:nvPr/>
        </p:nvSpPr>
        <p:spPr>
          <a:xfrm>
            <a:off x="736600" y="2476500"/>
            <a:ext cx="914400" cy="381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4" name="Text 105"/>
          <p:cNvSpPr txBox="1"/>
          <p:nvPr/>
        </p:nvSpPr>
        <p:spPr>
          <a:xfrm>
            <a:off x="736600" y="26797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101F2E"/>
                </a:solidFill>
                <a:latin typeface="Aptos"/>
              </a:rPr>
              <a:t>CONTRAPARTIDA EXIGIDA</a:t>
            </a:r>
          </a:p>
        </p:txBody>
      </p:sp>
      <p:sp>
        <p:nvSpPr>
          <p:cNvPr id="105" name="Text 106"/>
          <p:cNvSpPr txBox="1"/>
          <p:nvPr/>
        </p:nvSpPr>
        <p:spPr>
          <a:xfrm>
            <a:off x="736600" y="2971800"/>
            <a:ext cx="49022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pt-BR" sz="1400" b="0" dirty="0">
                <a:solidFill>
                  <a:srgbClr val="101F2E"/>
                </a:solidFill>
                <a:latin typeface="Aptos"/>
              </a:rPr>
              <a:t>{{RJ_OPCAO_A_CONTRAPARTIDA}}</a:t>
            </a:r>
          </a:p>
        </p:txBody>
      </p:sp>
      <p:sp>
        <p:nvSpPr>
          <p:cNvPr id="106" name="Text 107"/>
          <p:cNvSpPr txBox="1"/>
          <p:nvPr/>
        </p:nvSpPr>
        <p:spPr>
          <a:xfrm>
            <a:off x="736600" y="44323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101F2E"/>
                </a:solidFill>
                <a:latin typeface="Aptos"/>
              </a:rPr>
              <a:t>CONDIÇÕES DE PAGAMENTO</a:t>
            </a:r>
          </a:p>
        </p:txBody>
      </p:sp>
      <p:sp>
        <p:nvSpPr>
          <p:cNvPr id="107" name="Shape 108"/>
          <p:cNvSpPr/>
          <p:nvPr/>
        </p:nvSpPr>
        <p:spPr>
          <a:xfrm>
            <a:off x="736600" y="4737100"/>
            <a:ext cx="4902200" cy="406400"/>
          </a:xfrm>
          <a:prstGeom prst="round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8" name="Text 109"/>
          <p:cNvSpPr txBox="1"/>
          <p:nvPr/>
        </p:nvSpPr>
        <p:spPr>
          <a:xfrm>
            <a:off x="914400" y="4737100"/>
            <a:ext cx="4546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FFFFFF"/>
                </a:solidFill>
                <a:latin typeface="Aptos SemiBold"/>
              </a:rPr>
              <a:t>{{RJ_OPCAO_A_CONDICOES}}</a:t>
            </a:r>
          </a:p>
        </p:txBody>
      </p:sp>
      <p:sp>
        <p:nvSpPr>
          <p:cNvPr id="109" name="Text 110"/>
          <p:cNvSpPr txBox="1"/>
          <p:nvPr/>
        </p:nvSpPr>
        <p:spPr>
          <a:xfrm>
            <a:off x="736600" y="5295900"/>
            <a:ext cx="4902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pt-BR" sz="1400" b="0" dirty="0">
                <a:solidFill>
                  <a:srgbClr val="101F2E"/>
                </a:solidFill>
                <a:latin typeface="Aptos"/>
              </a:rPr>
              <a:t>{{RJ_OPCAO_A_OBS}}</a:t>
            </a:r>
          </a:p>
        </p:txBody>
      </p:sp>
      <p:sp>
        <p:nvSpPr>
          <p:cNvPr id="110" name="Shape 111"/>
          <p:cNvSpPr/>
          <p:nvPr/>
        </p:nvSpPr>
        <p:spPr>
          <a:xfrm>
            <a:off x="6248400" y="1409700"/>
            <a:ext cx="5511800" cy="4826000"/>
          </a:xfrm>
          <a:prstGeom prst="roundRect">
            <a:avLst>
              <a:gd name="adj" fmla="val 6000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1" name="Text 112"/>
          <p:cNvSpPr txBox="1"/>
          <p:nvPr/>
        </p:nvSpPr>
        <p:spPr>
          <a:xfrm>
            <a:off x="6553200" y="16891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D5B170"/>
                </a:solidFill>
                <a:latin typeface="Aptos"/>
              </a:rPr>
              <a:t>{{RJ_OPCAO_B_ROTULO}}</a:t>
            </a:r>
          </a:p>
        </p:txBody>
      </p:sp>
      <p:sp>
        <p:nvSpPr>
          <p:cNvPr id="112" name="Text 113"/>
          <p:cNvSpPr txBox="1"/>
          <p:nvPr/>
        </p:nvSpPr>
        <p:spPr>
          <a:xfrm>
            <a:off x="6553200" y="1968500"/>
            <a:ext cx="4902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2000" b="1" dirty="0">
                <a:solidFill>
                  <a:srgbClr val="101F2E"/>
                </a:solidFill>
                <a:latin typeface="Aptos"/>
              </a:rPr>
              <a:t>{{RJ_OPCAO_B_TITULO}}</a:t>
            </a:r>
          </a:p>
        </p:txBody>
      </p:sp>
      <p:sp>
        <p:nvSpPr>
          <p:cNvPr id="113" name="Shape 114"/>
          <p:cNvSpPr/>
          <p:nvPr/>
        </p:nvSpPr>
        <p:spPr>
          <a:xfrm>
            <a:off x="6553200" y="2476500"/>
            <a:ext cx="914400" cy="381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4" name="Text 115"/>
          <p:cNvSpPr txBox="1"/>
          <p:nvPr/>
        </p:nvSpPr>
        <p:spPr>
          <a:xfrm>
            <a:off x="6553200" y="26797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101F2E"/>
                </a:solidFill>
                <a:latin typeface="Aptos"/>
              </a:rPr>
              <a:t>CONTRAPARTIDA EXIGIDA</a:t>
            </a:r>
          </a:p>
        </p:txBody>
      </p:sp>
      <p:sp>
        <p:nvSpPr>
          <p:cNvPr id="115" name="Text 116"/>
          <p:cNvSpPr txBox="1"/>
          <p:nvPr/>
        </p:nvSpPr>
        <p:spPr>
          <a:xfrm>
            <a:off x="6553200" y="2971800"/>
            <a:ext cx="49022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pt-BR" sz="1400" b="0" dirty="0">
                <a:solidFill>
                  <a:srgbClr val="101F2E"/>
                </a:solidFill>
                <a:latin typeface="Aptos"/>
              </a:rPr>
              <a:t>{{RJ_OPCAO_B_CONTRAPARTIDA}}</a:t>
            </a:r>
          </a:p>
        </p:txBody>
      </p:sp>
      <p:sp>
        <p:nvSpPr>
          <p:cNvPr id="116" name="Text 117"/>
          <p:cNvSpPr txBox="1"/>
          <p:nvPr/>
        </p:nvSpPr>
        <p:spPr>
          <a:xfrm>
            <a:off x="6553200" y="4432300"/>
            <a:ext cx="490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101F2E"/>
                </a:solidFill>
                <a:latin typeface="Aptos"/>
              </a:rPr>
              <a:t>CONDIÇÕES DE PAGAMENTO</a:t>
            </a:r>
          </a:p>
        </p:txBody>
      </p:sp>
      <p:sp>
        <p:nvSpPr>
          <p:cNvPr id="117" name="Shape 118"/>
          <p:cNvSpPr/>
          <p:nvPr/>
        </p:nvSpPr>
        <p:spPr>
          <a:xfrm>
            <a:off x="6553200" y="4737100"/>
            <a:ext cx="4902200" cy="406400"/>
          </a:xfrm>
          <a:prstGeom prst="round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8" name="Text 119"/>
          <p:cNvSpPr txBox="1"/>
          <p:nvPr/>
        </p:nvSpPr>
        <p:spPr>
          <a:xfrm>
            <a:off x="6731000" y="4737100"/>
            <a:ext cx="4546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FFFFFF"/>
                </a:solidFill>
                <a:latin typeface="Aptos SemiBold"/>
              </a:rPr>
              <a:t>{{RJ_OPCAO_B_CONDICOES}}</a:t>
            </a:r>
          </a:p>
        </p:txBody>
      </p:sp>
      <p:sp>
        <p:nvSpPr>
          <p:cNvPr id="119" name="Text 120"/>
          <p:cNvSpPr txBox="1"/>
          <p:nvPr/>
        </p:nvSpPr>
        <p:spPr>
          <a:xfrm>
            <a:off x="6553200" y="5295900"/>
            <a:ext cx="4902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pt-BR" sz="1400" b="0" dirty="0">
                <a:solidFill>
                  <a:srgbClr val="101F2E"/>
                </a:solidFill>
                <a:latin typeface="Aptos"/>
              </a:rPr>
              <a:t>{{RJ_OPCAO_B_OBS}}</a:t>
            </a:r>
          </a:p>
        </p:txBody>
      </p:sp>
    </p:spTree>
    <p:extLst>
      <p:ext uri="{BB962C8B-B14F-4D97-AF65-F5344CB8AC3E}">
        <p14:creationId xmlns:p14="http://schemas.microsoft.com/office/powerpoint/2010/main" val="3455558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74275C99-7661-DE21-0B16-5E51B8BF6651}"/>
              </a:ext>
            </a:extLst>
          </p:cNvPr>
          <p:cNvSpPr/>
          <p:nvPr/>
        </p:nvSpPr>
        <p:spPr>
          <a:xfrm>
            <a:off x="0" y="-98385"/>
            <a:ext cx="12273023" cy="6956385"/>
          </a:xfrm>
          <a:prstGeom prst="rect">
            <a:avLst/>
          </a:prstGeom>
          <a:solidFill>
            <a:srgbClr val="EBE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SLIDE_REEST_MEDIDAS">
            <a:extLst>
              <a:ext uri="{FF2B5EF4-FFF2-40B4-BE49-F238E27FC236}">
                <a16:creationId xmlns:a16="http://schemas.microsoft.com/office/drawing/2014/main" id="{33D747B1-A6B9-8D90-59CD-C35D4941A30F}"/>
              </a:ext>
            </a:extLst>
          </p:cNvPr>
          <p:cNvSpPr txBox="1"/>
          <p:nvPr/>
        </p:nvSpPr>
        <p:spPr>
          <a:xfrm>
            <a:off x="533248" y="181286"/>
            <a:ext cx="33393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Reestruturação</a:t>
            </a:r>
          </a:p>
          <a:p>
            <a:r>
              <a:rPr lang="pt-BR" sz="2000" b="1" dirty="0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Principais Medidas do Plano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18E1557E-641E-D7A0-95A9-B7EC3EC48072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ptos" panose="020B0004020202020204" pitchFamily="34" charset="0"/>
            </a:endParaRPr>
          </a:p>
        </p:txBody>
      </p:sp>
      <p:sp>
        <p:nvSpPr>
          <p:cNvPr id="100" name="Shape 101"/>
          <p:cNvSpPr/>
          <p:nvPr/>
        </p:nvSpPr>
        <p:spPr>
          <a:xfrm>
            <a:off x="431800" y="1409700"/>
            <a:ext cx="3606800" cy="4826000"/>
          </a:xfrm>
          <a:prstGeom prst="roundRect">
            <a:avLst>
              <a:gd name="adj" fmla="val 7000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1" name="Text 102"/>
          <p:cNvSpPr txBox="1"/>
          <p:nvPr/>
        </p:nvSpPr>
        <p:spPr>
          <a:xfrm>
            <a:off x="711200" y="16891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D5B170"/>
                </a:solidFill>
                <a:latin typeface="Aptos"/>
              </a:rPr>
              <a:t>{{RJ_MEDIDA_1_CATEGORIA}}</a:t>
            </a:r>
          </a:p>
        </p:txBody>
      </p:sp>
      <p:sp>
        <p:nvSpPr>
          <p:cNvPr id="102" name="Text 103"/>
          <p:cNvSpPr txBox="1"/>
          <p:nvPr/>
        </p:nvSpPr>
        <p:spPr>
          <a:xfrm>
            <a:off x="711200" y="1968500"/>
            <a:ext cx="304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2000" b="1" dirty="0">
                <a:solidFill>
                  <a:srgbClr val="101F2E"/>
                </a:solidFill>
                <a:latin typeface="Aptos"/>
              </a:rPr>
              <a:t>{{RJ_MEDIDA_1_TITULO}}</a:t>
            </a:r>
          </a:p>
        </p:txBody>
      </p:sp>
      <p:sp>
        <p:nvSpPr>
          <p:cNvPr id="103" name="Shape 104"/>
          <p:cNvSpPr/>
          <p:nvPr/>
        </p:nvSpPr>
        <p:spPr>
          <a:xfrm>
            <a:off x="711200" y="2705100"/>
            <a:ext cx="914400" cy="381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4" name="Shape 105"/>
          <p:cNvSpPr/>
          <p:nvPr/>
        </p:nvSpPr>
        <p:spPr>
          <a:xfrm>
            <a:off x="711200" y="2908300"/>
            <a:ext cx="3048000" cy="406400"/>
          </a:xfrm>
          <a:prstGeom prst="round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5" name="Text 106"/>
          <p:cNvSpPr txBox="1"/>
          <p:nvPr/>
        </p:nvSpPr>
        <p:spPr>
          <a:xfrm>
            <a:off x="863600" y="2908300"/>
            <a:ext cx="2743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FFFFFF"/>
                </a:solidFill>
                <a:latin typeface="Aptos SemiBold"/>
              </a:rPr>
              <a:t>{{RJ_MEDIDA_1_DESTAQUE}}</a:t>
            </a:r>
          </a:p>
        </p:txBody>
      </p:sp>
      <p:sp>
        <p:nvSpPr>
          <p:cNvPr id="106" name="Text 107"/>
          <p:cNvSpPr txBox="1"/>
          <p:nvPr/>
        </p:nvSpPr>
        <p:spPr>
          <a:xfrm>
            <a:off x="711200" y="35433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101F2E"/>
                </a:solidFill>
                <a:latin typeface="Aptos"/>
              </a:rPr>
              <a:t>O QUE PREVÊ</a:t>
            </a:r>
          </a:p>
        </p:txBody>
      </p:sp>
      <p:sp>
        <p:nvSpPr>
          <p:cNvPr id="107" name="Text 108"/>
          <p:cNvSpPr txBox="1"/>
          <p:nvPr/>
        </p:nvSpPr>
        <p:spPr>
          <a:xfrm>
            <a:off x="711200" y="3822700"/>
            <a:ext cx="3048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pt-BR" sz="1400" b="0" dirty="0">
                <a:solidFill>
                  <a:srgbClr val="101F2E"/>
                </a:solidFill>
                <a:latin typeface="Aptos"/>
              </a:rPr>
              <a:t>{{RJ_MEDIDA_1_PREVE}}</a:t>
            </a:r>
          </a:p>
        </p:txBody>
      </p:sp>
      <p:sp>
        <p:nvSpPr>
          <p:cNvPr id="108" name="Text 109"/>
          <p:cNvSpPr txBox="1"/>
          <p:nvPr/>
        </p:nvSpPr>
        <p:spPr>
          <a:xfrm>
            <a:off x="711200" y="51181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101F2E"/>
                </a:solidFill>
                <a:latin typeface="Aptos"/>
              </a:rPr>
              <a:t>OBJETIVO</a:t>
            </a:r>
          </a:p>
        </p:txBody>
      </p:sp>
      <p:sp>
        <p:nvSpPr>
          <p:cNvPr id="109" name="Text 110"/>
          <p:cNvSpPr txBox="1"/>
          <p:nvPr/>
        </p:nvSpPr>
        <p:spPr>
          <a:xfrm>
            <a:off x="711200" y="5397500"/>
            <a:ext cx="3048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pt-BR" sz="1400" b="0" dirty="0">
                <a:solidFill>
                  <a:srgbClr val="101F2E"/>
                </a:solidFill>
                <a:latin typeface="Aptos"/>
              </a:rPr>
              <a:t>{{RJ_MEDIDA_1_OBJETIVO}}</a:t>
            </a:r>
          </a:p>
        </p:txBody>
      </p:sp>
      <p:sp>
        <p:nvSpPr>
          <p:cNvPr id="110" name="Shape 111"/>
          <p:cNvSpPr/>
          <p:nvPr/>
        </p:nvSpPr>
        <p:spPr>
          <a:xfrm>
            <a:off x="4292600" y="1409700"/>
            <a:ext cx="3606800" cy="4826000"/>
          </a:xfrm>
          <a:prstGeom prst="roundRect">
            <a:avLst>
              <a:gd name="adj" fmla="val 7000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1" name="Text 112"/>
          <p:cNvSpPr txBox="1"/>
          <p:nvPr/>
        </p:nvSpPr>
        <p:spPr>
          <a:xfrm>
            <a:off x="4572000" y="16891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D5B170"/>
                </a:solidFill>
                <a:latin typeface="Aptos"/>
              </a:rPr>
              <a:t>{{RJ_MEDIDA_2_CATEGORIA}}</a:t>
            </a:r>
          </a:p>
        </p:txBody>
      </p:sp>
      <p:sp>
        <p:nvSpPr>
          <p:cNvPr id="112" name="Text 113"/>
          <p:cNvSpPr txBox="1"/>
          <p:nvPr/>
        </p:nvSpPr>
        <p:spPr>
          <a:xfrm>
            <a:off x="4572000" y="1968500"/>
            <a:ext cx="304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2000" b="1" dirty="0">
                <a:solidFill>
                  <a:srgbClr val="101F2E"/>
                </a:solidFill>
                <a:latin typeface="Aptos"/>
              </a:rPr>
              <a:t>{{RJ_MEDIDA_2_TITULO}}</a:t>
            </a:r>
          </a:p>
        </p:txBody>
      </p:sp>
      <p:sp>
        <p:nvSpPr>
          <p:cNvPr id="113" name="Shape 114"/>
          <p:cNvSpPr/>
          <p:nvPr/>
        </p:nvSpPr>
        <p:spPr>
          <a:xfrm>
            <a:off x="4572000" y="2705100"/>
            <a:ext cx="914400" cy="381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4" name="Shape 115"/>
          <p:cNvSpPr/>
          <p:nvPr/>
        </p:nvSpPr>
        <p:spPr>
          <a:xfrm>
            <a:off x="4572000" y="2908300"/>
            <a:ext cx="3048000" cy="406400"/>
          </a:xfrm>
          <a:prstGeom prst="round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5" name="Text 116"/>
          <p:cNvSpPr txBox="1"/>
          <p:nvPr/>
        </p:nvSpPr>
        <p:spPr>
          <a:xfrm>
            <a:off x="4724400" y="2908300"/>
            <a:ext cx="2743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FFFFFF"/>
                </a:solidFill>
                <a:latin typeface="Aptos SemiBold"/>
              </a:rPr>
              <a:t>{{RJ_MEDIDA_2_DESTAQUE}}</a:t>
            </a:r>
          </a:p>
        </p:txBody>
      </p:sp>
      <p:sp>
        <p:nvSpPr>
          <p:cNvPr id="116" name="Text 117"/>
          <p:cNvSpPr txBox="1"/>
          <p:nvPr/>
        </p:nvSpPr>
        <p:spPr>
          <a:xfrm>
            <a:off x="4572000" y="35433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101F2E"/>
                </a:solidFill>
                <a:latin typeface="Aptos"/>
              </a:rPr>
              <a:t>O QUE PREVÊ</a:t>
            </a:r>
          </a:p>
        </p:txBody>
      </p:sp>
      <p:sp>
        <p:nvSpPr>
          <p:cNvPr id="117" name="Text 118"/>
          <p:cNvSpPr txBox="1"/>
          <p:nvPr/>
        </p:nvSpPr>
        <p:spPr>
          <a:xfrm>
            <a:off x="4572000" y="3822700"/>
            <a:ext cx="3048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pt-BR" sz="1400" b="0" dirty="0">
                <a:solidFill>
                  <a:srgbClr val="101F2E"/>
                </a:solidFill>
                <a:latin typeface="Aptos"/>
              </a:rPr>
              <a:t>{{RJ_MEDIDA_2_PREVE}}</a:t>
            </a:r>
          </a:p>
        </p:txBody>
      </p:sp>
      <p:sp>
        <p:nvSpPr>
          <p:cNvPr id="118" name="Text 119"/>
          <p:cNvSpPr txBox="1"/>
          <p:nvPr/>
        </p:nvSpPr>
        <p:spPr>
          <a:xfrm>
            <a:off x="4572000" y="51181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101F2E"/>
                </a:solidFill>
                <a:latin typeface="Aptos"/>
              </a:rPr>
              <a:t>OBJETIVO</a:t>
            </a:r>
          </a:p>
        </p:txBody>
      </p:sp>
      <p:sp>
        <p:nvSpPr>
          <p:cNvPr id="119" name="Text 120"/>
          <p:cNvSpPr txBox="1"/>
          <p:nvPr/>
        </p:nvSpPr>
        <p:spPr>
          <a:xfrm>
            <a:off x="4572000" y="5397500"/>
            <a:ext cx="3048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pt-BR" sz="1400" b="0" dirty="0">
                <a:solidFill>
                  <a:srgbClr val="101F2E"/>
                </a:solidFill>
                <a:latin typeface="Aptos"/>
              </a:rPr>
              <a:t>{{RJ_MEDIDA_2_OBJETIVO}}</a:t>
            </a:r>
          </a:p>
        </p:txBody>
      </p:sp>
      <p:sp>
        <p:nvSpPr>
          <p:cNvPr id="120" name="Shape 121"/>
          <p:cNvSpPr/>
          <p:nvPr/>
        </p:nvSpPr>
        <p:spPr>
          <a:xfrm>
            <a:off x="8153400" y="1409700"/>
            <a:ext cx="3606800" cy="4826000"/>
          </a:xfrm>
          <a:prstGeom prst="roundRect">
            <a:avLst>
              <a:gd name="adj" fmla="val 7000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1" name="Text 122"/>
          <p:cNvSpPr txBox="1"/>
          <p:nvPr/>
        </p:nvSpPr>
        <p:spPr>
          <a:xfrm>
            <a:off x="8432800" y="16891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D5B170"/>
                </a:solidFill>
                <a:latin typeface="Aptos"/>
              </a:rPr>
              <a:t>{{RJ_MEDIDA_3_CATEGORIA}}</a:t>
            </a:r>
          </a:p>
        </p:txBody>
      </p:sp>
      <p:sp>
        <p:nvSpPr>
          <p:cNvPr id="122" name="Text 123"/>
          <p:cNvSpPr txBox="1"/>
          <p:nvPr/>
        </p:nvSpPr>
        <p:spPr>
          <a:xfrm>
            <a:off x="8432800" y="1968500"/>
            <a:ext cx="304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2000" b="1" dirty="0">
                <a:solidFill>
                  <a:srgbClr val="101F2E"/>
                </a:solidFill>
                <a:latin typeface="Aptos"/>
              </a:rPr>
              <a:t>{{RJ_MEDIDA_3_TITULO}}</a:t>
            </a:r>
          </a:p>
        </p:txBody>
      </p:sp>
      <p:sp>
        <p:nvSpPr>
          <p:cNvPr id="123" name="Shape 124"/>
          <p:cNvSpPr/>
          <p:nvPr/>
        </p:nvSpPr>
        <p:spPr>
          <a:xfrm>
            <a:off x="8432800" y="2705100"/>
            <a:ext cx="914400" cy="381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4" name="Shape 125"/>
          <p:cNvSpPr/>
          <p:nvPr/>
        </p:nvSpPr>
        <p:spPr>
          <a:xfrm>
            <a:off x="8432800" y="2908300"/>
            <a:ext cx="3048000" cy="406400"/>
          </a:xfrm>
          <a:prstGeom prst="roundRect">
            <a:avLst/>
          </a:prstGeom>
          <a:solidFill>
            <a:srgbClr val="D5B17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5" name="Text 126"/>
          <p:cNvSpPr txBox="1"/>
          <p:nvPr/>
        </p:nvSpPr>
        <p:spPr>
          <a:xfrm>
            <a:off x="8585200" y="2908300"/>
            <a:ext cx="2743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FFFFFF"/>
                </a:solidFill>
                <a:latin typeface="Aptos SemiBold"/>
              </a:rPr>
              <a:t>{{RJ_MEDIDA_3_DESTAQUE}}</a:t>
            </a:r>
          </a:p>
        </p:txBody>
      </p:sp>
      <p:sp>
        <p:nvSpPr>
          <p:cNvPr id="126" name="Text 127"/>
          <p:cNvSpPr txBox="1"/>
          <p:nvPr/>
        </p:nvSpPr>
        <p:spPr>
          <a:xfrm>
            <a:off x="8432800" y="35433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101F2E"/>
                </a:solidFill>
                <a:latin typeface="Aptos"/>
              </a:rPr>
              <a:t>O QUE PREVÊ</a:t>
            </a:r>
          </a:p>
        </p:txBody>
      </p:sp>
      <p:sp>
        <p:nvSpPr>
          <p:cNvPr id="127" name="Text 128"/>
          <p:cNvSpPr txBox="1"/>
          <p:nvPr/>
        </p:nvSpPr>
        <p:spPr>
          <a:xfrm>
            <a:off x="8432800" y="3822700"/>
            <a:ext cx="30480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pt-BR" sz="1400" b="0" dirty="0">
                <a:solidFill>
                  <a:srgbClr val="101F2E"/>
                </a:solidFill>
                <a:latin typeface="Aptos"/>
              </a:rPr>
              <a:t>{{RJ_MEDIDA_3_PREVE}}</a:t>
            </a:r>
          </a:p>
        </p:txBody>
      </p:sp>
      <p:sp>
        <p:nvSpPr>
          <p:cNvPr id="128" name="Text 129"/>
          <p:cNvSpPr txBox="1"/>
          <p:nvPr/>
        </p:nvSpPr>
        <p:spPr>
          <a:xfrm>
            <a:off x="8432800" y="51181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dirty="0">
                <a:solidFill>
                  <a:srgbClr val="101F2E"/>
                </a:solidFill>
                <a:latin typeface="Aptos"/>
              </a:rPr>
              <a:t>OBJETIVO</a:t>
            </a:r>
          </a:p>
        </p:txBody>
      </p:sp>
      <p:sp>
        <p:nvSpPr>
          <p:cNvPr id="129" name="Text 130"/>
          <p:cNvSpPr txBox="1"/>
          <p:nvPr/>
        </p:nvSpPr>
        <p:spPr>
          <a:xfrm>
            <a:off x="8432800" y="5397500"/>
            <a:ext cx="3048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pt-BR" sz="1400" b="0" dirty="0">
                <a:solidFill>
                  <a:srgbClr val="101F2E"/>
                </a:solidFill>
                <a:latin typeface="Aptos"/>
              </a:rPr>
              <a:t>{{RJ_MEDIDA_3_OBJETIVO}}</a:t>
            </a:r>
          </a:p>
        </p:txBody>
      </p:sp>
    </p:spTree>
    <p:extLst>
      <p:ext uri="{BB962C8B-B14F-4D97-AF65-F5344CB8AC3E}">
        <p14:creationId xmlns:p14="http://schemas.microsoft.com/office/powerpoint/2010/main" val="272700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8E47F-636D-C440-F902-D9D80370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_RC_DIVISOR">
            <a:extLst>
              <a:ext uri="{FF2B5EF4-FFF2-40B4-BE49-F238E27FC236}">
                <a16:creationId xmlns:a16="http://schemas.microsoft.com/office/drawing/2014/main" id="{0B5F01AD-B785-B9BC-C21F-4CA0D75F5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52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300FD-6C90-0CA0-2484-BF35E93A1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618CB79D-ECEF-62FE-9107-87A2769CE817}"/>
              </a:ext>
            </a:extLst>
          </p:cNvPr>
          <p:cNvSpPr/>
          <p:nvPr/>
        </p:nvSpPr>
        <p:spPr>
          <a:xfrm>
            <a:off x="0" y="-98385"/>
            <a:ext cx="12273023" cy="6956385"/>
          </a:xfrm>
          <a:prstGeom prst="rect">
            <a:avLst/>
          </a:prstGeom>
          <a:solidFill>
            <a:srgbClr val="EBE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E81E0C6A-0807-56D5-5649-90F3DD5431C0}"/>
              </a:ext>
            </a:extLst>
          </p:cNvPr>
          <p:cNvSpPr/>
          <p:nvPr/>
        </p:nvSpPr>
        <p:spPr>
          <a:xfrm>
            <a:off x="3221032" y="898531"/>
            <a:ext cx="2773589" cy="837641"/>
          </a:xfrm>
          <a:prstGeom prst="roundRect">
            <a:avLst>
              <a:gd name="adj" fmla="val 23459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B3893678-16A9-178A-F6D1-BA7FF4080C2B}"/>
              </a:ext>
            </a:extLst>
          </p:cNvPr>
          <p:cNvSpPr/>
          <p:nvPr/>
        </p:nvSpPr>
        <p:spPr>
          <a:xfrm>
            <a:off x="6234847" y="898531"/>
            <a:ext cx="2773589" cy="837641"/>
          </a:xfrm>
          <a:prstGeom prst="roundRect">
            <a:avLst>
              <a:gd name="adj" fmla="val 23459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1CFE53D1-036C-21C8-B37C-38DA946D209F}"/>
              </a:ext>
            </a:extLst>
          </p:cNvPr>
          <p:cNvSpPr/>
          <p:nvPr/>
        </p:nvSpPr>
        <p:spPr>
          <a:xfrm>
            <a:off x="9248663" y="898531"/>
            <a:ext cx="2773589" cy="837641"/>
          </a:xfrm>
          <a:prstGeom prst="roundRect">
            <a:avLst>
              <a:gd name="adj" fmla="val 23459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5C916820-CD85-206B-CE00-E5F31D6E96F3}"/>
              </a:ext>
            </a:extLst>
          </p:cNvPr>
          <p:cNvSpPr/>
          <p:nvPr/>
        </p:nvSpPr>
        <p:spPr>
          <a:xfrm>
            <a:off x="7426377" y="4458728"/>
            <a:ext cx="4595876" cy="2267189"/>
          </a:xfrm>
          <a:prstGeom prst="roundRect">
            <a:avLst>
              <a:gd name="adj" fmla="val 12836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0B62CB6D-39FC-C6B2-8BB2-9B4B316F2ABA}"/>
              </a:ext>
            </a:extLst>
          </p:cNvPr>
          <p:cNvSpPr/>
          <p:nvPr/>
        </p:nvSpPr>
        <p:spPr>
          <a:xfrm>
            <a:off x="4024880" y="4472449"/>
            <a:ext cx="3270184" cy="2267189"/>
          </a:xfrm>
          <a:prstGeom prst="roundRect">
            <a:avLst>
              <a:gd name="adj" fmla="val 12836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55F1C3EB-4D72-D708-D201-CA729300490C}"/>
              </a:ext>
            </a:extLst>
          </p:cNvPr>
          <p:cNvSpPr/>
          <p:nvPr/>
        </p:nvSpPr>
        <p:spPr>
          <a:xfrm>
            <a:off x="239583" y="4472449"/>
            <a:ext cx="3670736" cy="2267189"/>
          </a:xfrm>
          <a:prstGeom prst="roundRect">
            <a:avLst>
              <a:gd name="adj" fmla="val 12836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37BBC07-6EA3-4A22-F026-A92D58FCDB6D}"/>
              </a:ext>
            </a:extLst>
          </p:cNvPr>
          <p:cNvSpPr txBox="1"/>
          <p:nvPr/>
        </p:nvSpPr>
        <p:spPr>
          <a:xfrm>
            <a:off x="372189" y="1955842"/>
            <a:ext cx="355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01F2E"/>
                </a:solidFill>
              </a:rPr>
              <a:t>Valor da causa por tipo de ação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844A76E3-651E-A5D8-EBD3-A257289CDA53}"/>
              </a:ext>
            </a:extLst>
          </p:cNvPr>
          <p:cNvSpPr/>
          <p:nvPr/>
        </p:nvSpPr>
        <p:spPr>
          <a:xfrm>
            <a:off x="230540" y="1843958"/>
            <a:ext cx="7064524" cy="2530679"/>
          </a:xfrm>
          <a:prstGeom prst="roundRect">
            <a:avLst>
              <a:gd name="adj" fmla="val 12836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4AF476D-3099-A0E3-3B06-40C804E898C3}"/>
              </a:ext>
            </a:extLst>
          </p:cNvPr>
          <p:cNvSpPr/>
          <p:nvPr/>
        </p:nvSpPr>
        <p:spPr>
          <a:xfrm>
            <a:off x="207217" y="898531"/>
            <a:ext cx="2773589" cy="837641"/>
          </a:xfrm>
          <a:prstGeom prst="roundRect">
            <a:avLst>
              <a:gd name="adj" fmla="val 23459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4D4421C-B898-685E-47E2-88481D06CC39}"/>
              </a:ext>
            </a:extLst>
          </p:cNvPr>
          <p:cNvSpPr txBox="1"/>
          <p:nvPr/>
        </p:nvSpPr>
        <p:spPr>
          <a:xfrm>
            <a:off x="667579" y="1093524"/>
            <a:ext cx="21742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1200" b="1" dirty="0">
                <a:ea typeface="Lato" panose="020F0502020204030203" pitchFamily="34" charset="0"/>
                <a:cs typeface="Lato" panose="020F0502020204030203" pitchFamily="34" charset="0"/>
              </a:rPr>
              <a:t> TOTAL DE PROCESSOS</a:t>
            </a:r>
          </a:p>
          <a:p>
            <a:pPr lvl="0" algn="ctr"/>
            <a:r>
              <a:rPr lang="pt-BR" sz="1400" dirty="0">
                <a:ea typeface="Lato" panose="020F0502020204030203" pitchFamily="34" charset="0"/>
                <a:cs typeface="Lato" panose="020F0502020204030203" pitchFamily="34" charset="0"/>
              </a:rPr>
              <a:t>{{RC_TOTAL}}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106008C-C73E-4629-52B7-8AB10B895871}"/>
              </a:ext>
            </a:extLst>
          </p:cNvPr>
          <p:cNvSpPr txBox="1"/>
          <p:nvPr/>
        </p:nvSpPr>
        <p:spPr>
          <a:xfrm>
            <a:off x="3730759" y="999354"/>
            <a:ext cx="23303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1200" b="1" dirty="0">
                <a:ea typeface="Lato" panose="020F0502020204030203" pitchFamily="34" charset="0"/>
                <a:cs typeface="Lato" panose="020F0502020204030203" pitchFamily="34" charset="0"/>
              </a:rPr>
              <a:t>SITUAÇÃO PROCESSUAL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335D615-D6FF-74EC-F251-D794489218AB}"/>
              </a:ext>
            </a:extLst>
          </p:cNvPr>
          <p:cNvSpPr txBox="1"/>
          <p:nvPr/>
        </p:nvSpPr>
        <p:spPr>
          <a:xfrm>
            <a:off x="6635966" y="1063291"/>
            <a:ext cx="2438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1200" b="1" dirty="0">
                <a:ea typeface="Lato" panose="020F0502020204030203" pitchFamily="34" charset="0"/>
                <a:cs typeface="Lato" panose="020F0502020204030203" pitchFamily="34" charset="0"/>
              </a:rPr>
              <a:t>VALOR DE CAUSA</a:t>
            </a:r>
          </a:p>
          <a:p>
            <a:pPr algn="ctr"/>
            <a:r>
              <a:rPr lang="pt-BR" sz="1400" dirty="0">
                <a:ea typeface="Lato" panose="020F0502020204030203" pitchFamily="34" charset="0"/>
                <a:cs typeface="Lato" panose="020F0502020204030203" pitchFamily="34" charset="0"/>
              </a:rPr>
              <a:t>{{RC_VALOR_CAUSA}}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7CF62F0D-C5D7-C37E-1A4E-16DEE4B4981A}"/>
              </a:ext>
            </a:extLst>
          </p:cNvPr>
          <p:cNvSpPr/>
          <p:nvPr/>
        </p:nvSpPr>
        <p:spPr>
          <a:xfrm>
            <a:off x="7391707" y="1843958"/>
            <a:ext cx="4630545" cy="2530679"/>
          </a:xfrm>
          <a:prstGeom prst="roundRect">
            <a:avLst>
              <a:gd name="adj" fmla="val 12836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2DD7AB1-5022-4790-8B97-9FA98AB94092}"/>
              </a:ext>
            </a:extLst>
          </p:cNvPr>
          <p:cNvSpPr txBox="1"/>
          <p:nvPr/>
        </p:nvSpPr>
        <p:spPr>
          <a:xfrm>
            <a:off x="9485829" y="1071878"/>
            <a:ext cx="290730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1200" b="1" dirty="0">
                <a:ea typeface="Lato" panose="020F0502020204030203" pitchFamily="34" charset="0"/>
                <a:cs typeface="Lato" panose="020F0502020204030203" pitchFamily="34" charset="0"/>
              </a:rPr>
              <a:t>MÉDIA DE VALOR DE CAUSA</a:t>
            </a:r>
          </a:p>
          <a:p>
            <a:pPr algn="ctr"/>
            <a:r>
              <a:rPr lang="pt-BR" sz="1400" dirty="0">
                <a:ea typeface="Lato" panose="020F0502020204030203" pitchFamily="34" charset="0"/>
                <a:cs typeface="Lato" panose="020F0502020204030203" pitchFamily="34" charset="0"/>
              </a:rPr>
              <a:t>{{RC_MEDIA}}</a:t>
            </a:r>
          </a:p>
        </p:txBody>
      </p:sp>
      <p:graphicFrame>
        <p:nvGraphicFramePr>
          <p:cNvPr id="8" name="CHART_RC_TIPO" descr="Chart">
            <a:extLst>
              <a:ext uri="{FF2B5EF4-FFF2-40B4-BE49-F238E27FC236}">
                <a16:creationId xmlns:a16="http://schemas.microsoft.com/office/drawing/2014/main" id="{B07B431D-E289-490B-42DB-BB28F6872075}"/>
              </a:ext>
            </a:extLst>
          </p:cNvPr>
          <p:cNvGraphicFramePr/>
          <p:nvPr/>
        </p:nvGraphicFramePr>
        <p:xfrm>
          <a:off x="380469" y="2277855"/>
          <a:ext cx="6631317" cy="2056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C_TIPO_QTD_1">
            <a:extLst>
              <a:ext uri="{FF2B5EF4-FFF2-40B4-BE49-F238E27FC236}">
                <a16:creationId xmlns:a16="http://schemas.microsoft.com/office/drawing/2014/main" id="{2DBF5EFC-044E-DCF6-475C-6F8FB3093342}"/>
              </a:ext>
            </a:extLst>
          </p:cNvPr>
          <p:cNvSpPr/>
          <p:nvPr/>
        </p:nvSpPr>
        <p:spPr>
          <a:xfrm>
            <a:off x="6601030" y="2438400"/>
            <a:ext cx="560771" cy="296657"/>
          </a:xfrm>
          <a:prstGeom prst="roundRect">
            <a:avLst/>
          </a:prstGeom>
          <a:solidFill>
            <a:srgbClr val="FC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101F2E"/>
                </a:solidFill>
              </a:rPr>
              <a:t>{{RC_TIPO_QTD_1}}</a:t>
            </a:r>
          </a:p>
        </p:txBody>
      </p:sp>
      <p:sp>
        <p:nvSpPr>
          <p:cNvPr id="15" name="RC_TIPO_QTD_2">
            <a:extLst>
              <a:ext uri="{FF2B5EF4-FFF2-40B4-BE49-F238E27FC236}">
                <a16:creationId xmlns:a16="http://schemas.microsoft.com/office/drawing/2014/main" id="{F09DE414-2595-F7CA-E256-D8AE1D75CD2A}"/>
              </a:ext>
            </a:extLst>
          </p:cNvPr>
          <p:cNvSpPr/>
          <p:nvPr/>
        </p:nvSpPr>
        <p:spPr>
          <a:xfrm>
            <a:off x="6601030" y="2819400"/>
            <a:ext cx="560771" cy="296657"/>
          </a:xfrm>
          <a:prstGeom prst="roundRect">
            <a:avLst/>
          </a:prstGeom>
          <a:solidFill>
            <a:srgbClr val="FC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101F2E"/>
                </a:solidFill>
              </a:rPr>
              <a:t>{{RC_TIPO_QTD_2}}</a:t>
            </a:r>
          </a:p>
        </p:txBody>
      </p:sp>
      <p:sp>
        <p:nvSpPr>
          <p:cNvPr id="19" name="RC_TIPO_QTD_3">
            <a:extLst>
              <a:ext uri="{FF2B5EF4-FFF2-40B4-BE49-F238E27FC236}">
                <a16:creationId xmlns:a16="http://schemas.microsoft.com/office/drawing/2014/main" id="{F89D51EA-D7CA-9710-4E01-0EB6DB842338}"/>
              </a:ext>
            </a:extLst>
          </p:cNvPr>
          <p:cNvSpPr/>
          <p:nvPr/>
        </p:nvSpPr>
        <p:spPr>
          <a:xfrm>
            <a:off x="6601030" y="3200400"/>
            <a:ext cx="560771" cy="296657"/>
          </a:xfrm>
          <a:prstGeom prst="roundRect">
            <a:avLst/>
          </a:prstGeom>
          <a:solidFill>
            <a:srgbClr val="FC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101F2E"/>
                </a:solidFill>
              </a:rPr>
              <a:t>{{RC_TIPO_QTD_3}}</a:t>
            </a:r>
          </a:p>
        </p:txBody>
      </p:sp>
      <p:sp>
        <p:nvSpPr>
          <p:cNvPr id="22" name="RC_TIPO_QTD_4">
            <a:extLst>
              <a:ext uri="{FF2B5EF4-FFF2-40B4-BE49-F238E27FC236}">
                <a16:creationId xmlns:a16="http://schemas.microsoft.com/office/drawing/2014/main" id="{EF290947-1004-ABA4-9A81-60A2F0585E05}"/>
              </a:ext>
            </a:extLst>
          </p:cNvPr>
          <p:cNvSpPr/>
          <p:nvPr/>
        </p:nvSpPr>
        <p:spPr>
          <a:xfrm>
            <a:off x="6601030" y="3568700"/>
            <a:ext cx="560771" cy="296657"/>
          </a:xfrm>
          <a:prstGeom prst="roundRect">
            <a:avLst/>
          </a:prstGeom>
          <a:solidFill>
            <a:srgbClr val="FC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101F2E"/>
                </a:solidFill>
              </a:rPr>
              <a:t>{{RC_TIPO_QTD_4}}</a:t>
            </a:r>
          </a:p>
        </p:txBody>
      </p:sp>
      <p:sp>
        <p:nvSpPr>
          <p:cNvPr id="25" name="RC_TIPO_QTD_5">
            <a:extLst>
              <a:ext uri="{FF2B5EF4-FFF2-40B4-BE49-F238E27FC236}">
                <a16:creationId xmlns:a16="http://schemas.microsoft.com/office/drawing/2014/main" id="{04AFB634-5A79-B06B-1A41-C078CBE6D63B}"/>
              </a:ext>
            </a:extLst>
          </p:cNvPr>
          <p:cNvSpPr/>
          <p:nvPr/>
        </p:nvSpPr>
        <p:spPr>
          <a:xfrm>
            <a:off x="6601030" y="3949700"/>
            <a:ext cx="560771" cy="296657"/>
          </a:xfrm>
          <a:prstGeom prst="roundRect">
            <a:avLst/>
          </a:prstGeom>
          <a:solidFill>
            <a:srgbClr val="FC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101F2E"/>
                </a:solidFill>
              </a:rPr>
              <a:t>{{RC_TIPO_QTD_5}}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B921C705-FEDB-2ED3-9EE5-A36ECACB6F83}"/>
              </a:ext>
            </a:extLst>
          </p:cNvPr>
          <p:cNvSpPr txBox="1"/>
          <p:nvPr/>
        </p:nvSpPr>
        <p:spPr>
          <a:xfrm>
            <a:off x="996916" y="2086240"/>
            <a:ext cx="50682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VALOR DA CAUSA POR TIPO DE AÇÃO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5D66FDB1-FEB4-705E-A505-8ADB2D1A0D63}"/>
              </a:ext>
            </a:extLst>
          </p:cNvPr>
          <p:cNvSpPr txBox="1"/>
          <p:nvPr/>
        </p:nvSpPr>
        <p:spPr>
          <a:xfrm>
            <a:off x="8295689" y="1958109"/>
            <a:ext cx="3595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DISTRIBUIÇÃO DOS PROCESSOS POR FAIXA DE VALOR</a:t>
            </a:r>
          </a:p>
        </p:txBody>
      </p:sp>
      <p:graphicFrame>
        <p:nvGraphicFramePr>
          <p:cNvPr id="48" name="CHART_RC_FAIXA" descr="Chart">
            <a:extLst>
              <a:ext uri="{FF2B5EF4-FFF2-40B4-BE49-F238E27FC236}">
                <a16:creationId xmlns:a16="http://schemas.microsoft.com/office/drawing/2014/main" id="{D47848BF-234C-9235-1C7B-2D212E409A5F}"/>
              </a:ext>
            </a:extLst>
          </p:cNvPr>
          <p:cNvGraphicFramePr/>
          <p:nvPr/>
        </p:nvGraphicFramePr>
        <p:xfrm>
          <a:off x="7753132" y="2508342"/>
          <a:ext cx="4144961" cy="2545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9" name="CaixaDeTexto 48">
            <a:extLst>
              <a:ext uri="{FF2B5EF4-FFF2-40B4-BE49-F238E27FC236}">
                <a16:creationId xmlns:a16="http://schemas.microsoft.com/office/drawing/2014/main" id="{7B331C58-AA17-8733-BF5E-369C9C71277F}"/>
              </a:ext>
            </a:extLst>
          </p:cNvPr>
          <p:cNvSpPr txBox="1"/>
          <p:nvPr/>
        </p:nvSpPr>
        <p:spPr>
          <a:xfrm>
            <a:off x="8356095" y="2965588"/>
            <a:ext cx="644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{{RC_FAIXA_TOTAL}}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6A1C6255-F5A8-1D38-FB69-44388E795D1A}"/>
              </a:ext>
            </a:extLst>
          </p:cNvPr>
          <p:cNvSpPr txBox="1"/>
          <p:nvPr/>
        </p:nvSpPr>
        <p:spPr>
          <a:xfrm>
            <a:off x="8301715" y="3277804"/>
            <a:ext cx="753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processos (polo ativo)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B596A96-DD27-757F-A3D1-8F3B66477745}"/>
              </a:ext>
            </a:extLst>
          </p:cNvPr>
          <p:cNvSpPr txBox="1"/>
          <p:nvPr/>
        </p:nvSpPr>
        <p:spPr>
          <a:xfrm>
            <a:off x="11238055" y="2616350"/>
            <a:ext cx="339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{{RC_FAIXA_QTD_1}}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97B8A9A8-8987-D746-AD53-FE02CE1A6F63}"/>
              </a:ext>
            </a:extLst>
          </p:cNvPr>
          <p:cNvSpPr txBox="1"/>
          <p:nvPr/>
        </p:nvSpPr>
        <p:spPr>
          <a:xfrm>
            <a:off x="11238055" y="2947148"/>
            <a:ext cx="339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{{RC_FAIXA_QTD_2}}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188B22B-3541-7746-B825-85A500F0EE18}"/>
              </a:ext>
            </a:extLst>
          </p:cNvPr>
          <p:cNvSpPr txBox="1"/>
          <p:nvPr/>
        </p:nvSpPr>
        <p:spPr>
          <a:xfrm>
            <a:off x="11238055" y="3225098"/>
            <a:ext cx="339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{{RC_FAIXA_QTD_3}}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8E62DD7B-39C2-1B45-854D-5132BA25AB3D}"/>
              </a:ext>
            </a:extLst>
          </p:cNvPr>
          <p:cNvSpPr txBox="1"/>
          <p:nvPr/>
        </p:nvSpPr>
        <p:spPr>
          <a:xfrm>
            <a:off x="11238055" y="3540087"/>
            <a:ext cx="339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{{RC_FAIXA_QTD_4}}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962C1821-D591-6991-BD86-C505DFA88C9E}"/>
              </a:ext>
            </a:extLst>
          </p:cNvPr>
          <p:cNvSpPr txBox="1"/>
          <p:nvPr/>
        </p:nvSpPr>
        <p:spPr>
          <a:xfrm>
            <a:off x="11238055" y="3825639"/>
            <a:ext cx="339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{{RC_FAIXA_QTD_5}}</a:t>
            </a:r>
          </a:p>
        </p:txBody>
      </p:sp>
      <p:graphicFrame>
        <p:nvGraphicFramePr>
          <p:cNvPr id="64" name="CHART_RC_ANO" descr="Chart">
            <a:extLst>
              <a:ext uri="{FF2B5EF4-FFF2-40B4-BE49-F238E27FC236}">
                <a16:creationId xmlns:a16="http://schemas.microsoft.com/office/drawing/2014/main" id="{E3296714-0290-401F-5459-51CCC06164ED}"/>
              </a:ext>
            </a:extLst>
          </p:cNvPr>
          <p:cNvGraphicFramePr/>
          <p:nvPr/>
        </p:nvGraphicFramePr>
        <p:xfrm>
          <a:off x="275937" y="4994789"/>
          <a:ext cx="3539601" cy="1525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6" name="CaixaDeTexto 65">
            <a:extLst>
              <a:ext uri="{FF2B5EF4-FFF2-40B4-BE49-F238E27FC236}">
                <a16:creationId xmlns:a16="http://schemas.microsoft.com/office/drawing/2014/main" id="{374144D8-06AA-DBED-9EA3-05589C9595A6}"/>
              </a:ext>
            </a:extLst>
          </p:cNvPr>
          <p:cNvSpPr txBox="1"/>
          <p:nvPr/>
        </p:nvSpPr>
        <p:spPr>
          <a:xfrm>
            <a:off x="940856" y="4659041"/>
            <a:ext cx="303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EVOLUÇÃO DO VALOR DA CAUSA POR ANO DE AJUIZAMENTO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8852B2F6-A93C-1314-1EF1-FC747B6F55F8}"/>
              </a:ext>
            </a:extLst>
          </p:cNvPr>
          <p:cNvSpPr txBox="1"/>
          <p:nvPr/>
        </p:nvSpPr>
        <p:spPr>
          <a:xfrm>
            <a:off x="4841504" y="4600625"/>
            <a:ext cx="2607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TEMPO DE TRAMITAÇÃO DOS PROCESSOS</a:t>
            </a:r>
          </a:p>
        </p:txBody>
      </p:sp>
      <p:graphicFrame>
        <p:nvGraphicFramePr>
          <p:cNvPr id="74" name="CHART_RC_TEMPO" descr="Chart">
            <a:extLst>
              <a:ext uri="{FF2B5EF4-FFF2-40B4-BE49-F238E27FC236}">
                <a16:creationId xmlns:a16="http://schemas.microsoft.com/office/drawing/2014/main" id="{EC1A6C10-8FB2-4B33-3250-5ED0B732ABBC}"/>
              </a:ext>
            </a:extLst>
          </p:cNvPr>
          <p:cNvGraphicFramePr/>
          <p:nvPr/>
        </p:nvGraphicFramePr>
        <p:xfrm>
          <a:off x="4156608" y="5107600"/>
          <a:ext cx="3516899" cy="22492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6" name="CaixaDeTexto 75">
            <a:extLst>
              <a:ext uri="{FF2B5EF4-FFF2-40B4-BE49-F238E27FC236}">
                <a16:creationId xmlns:a16="http://schemas.microsoft.com/office/drawing/2014/main" id="{6F55FA69-2583-8F46-BBF7-16F4ACD78984}"/>
              </a:ext>
            </a:extLst>
          </p:cNvPr>
          <p:cNvSpPr txBox="1"/>
          <p:nvPr/>
        </p:nvSpPr>
        <p:spPr>
          <a:xfrm>
            <a:off x="6882693" y="5202273"/>
            <a:ext cx="339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{{RC_TEMPO_QTD_1}}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6F7A9E59-23E9-4ACB-7585-2F67B71358CB}"/>
              </a:ext>
            </a:extLst>
          </p:cNvPr>
          <p:cNvSpPr txBox="1"/>
          <p:nvPr/>
        </p:nvSpPr>
        <p:spPr>
          <a:xfrm>
            <a:off x="6882693" y="5513919"/>
            <a:ext cx="339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{{RC_TEMPO_QTD_2}}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61E2CEFF-73F1-03CD-E143-570F2931C112}"/>
              </a:ext>
            </a:extLst>
          </p:cNvPr>
          <p:cNvSpPr txBox="1"/>
          <p:nvPr/>
        </p:nvSpPr>
        <p:spPr>
          <a:xfrm>
            <a:off x="6882693" y="5824569"/>
            <a:ext cx="339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{{RC_TEMPO_QTD_3}}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D0D60722-5ED3-6B71-7C2B-8CDCAB443E87}"/>
              </a:ext>
            </a:extLst>
          </p:cNvPr>
          <p:cNvSpPr txBox="1"/>
          <p:nvPr/>
        </p:nvSpPr>
        <p:spPr>
          <a:xfrm>
            <a:off x="6898789" y="6117252"/>
            <a:ext cx="339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/>
              <a:t>{{RC_TEMPO_QTD_4}}</a:t>
            </a:r>
          </a:p>
        </p:txBody>
      </p:sp>
      <p:graphicFrame>
        <p:nvGraphicFramePr>
          <p:cNvPr id="85" name="TBL_RC_TOP5">
            <a:extLst>
              <a:ext uri="{FF2B5EF4-FFF2-40B4-BE49-F238E27FC236}">
                <a16:creationId xmlns:a16="http://schemas.microsoft.com/office/drawing/2014/main" id="{9639A12E-4F39-1932-234D-52F3CF2CD804}"/>
              </a:ext>
            </a:extLst>
          </p:cNvPr>
          <p:cNvGraphicFramePr>
            <a:graphicFrameLocks noGrp="1"/>
          </p:cNvGraphicFramePr>
          <p:nvPr/>
        </p:nvGraphicFramePr>
        <p:xfrm>
          <a:off x="8166100" y="4843299"/>
          <a:ext cx="381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">
                  <a:extLst>
                    <a:ext uri="{9D8B030D-6E8A-4147-A177-3AD203B41FA5}">
                      <a16:colId xmlns:a16="http://schemas.microsoft.com/office/drawing/2014/main" val="415892162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12361928"/>
                    </a:ext>
                  </a:extLst>
                </a:gridCol>
                <a:gridCol w="1830000">
                  <a:extLst>
                    <a:ext uri="{9D8B030D-6E8A-4147-A177-3AD203B41FA5}">
                      <a16:colId xmlns:a16="http://schemas.microsoft.com/office/drawing/2014/main" val="79910336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545637661"/>
                    </a:ext>
                  </a:extLst>
                </a:gridCol>
              </a:tblGrid>
              <a:tr h="205529">
                <a:tc>
                  <a:txBody>
                    <a:bodyPr/>
                    <a:lstStyle/>
                    <a:p>
                      <a:r>
                        <a:rPr lang="pt-BR" sz="900" dirty="0"/>
                        <a:t>#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Devedor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Nº do processo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Valor da causa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681595782"/>
                  </a:ext>
                </a:extLst>
              </a:tr>
              <a:tr h="205529">
                <a:tc>
                  <a:txBody>
                    <a:bodyPr/>
                    <a:lstStyle/>
                    <a:p>
                      <a:r>
                        <a:rPr lang="pt-BR" sz="900" dirty="0"/>
                        <a:t>{{row.pos}}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{{row.devedor}}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{{row.processo}}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{{row.valor}}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738591458"/>
                  </a:ext>
                </a:extLst>
              </a:tr>
            </a:tbl>
          </a:graphicData>
        </a:graphic>
      </p:graphicFrame>
      <p:sp>
        <p:nvSpPr>
          <p:cNvPr id="87" name="CaixaDeTexto 86">
            <a:extLst>
              <a:ext uri="{FF2B5EF4-FFF2-40B4-BE49-F238E27FC236}">
                <a16:creationId xmlns:a16="http://schemas.microsoft.com/office/drawing/2014/main" id="{5867B7B3-157D-967E-4A01-D06DEC4F7413}"/>
              </a:ext>
            </a:extLst>
          </p:cNvPr>
          <p:cNvSpPr txBox="1"/>
          <p:nvPr/>
        </p:nvSpPr>
        <p:spPr>
          <a:xfrm>
            <a:off x="8098020" y="4513912"/>
            <a:ext cx="3767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{{RC_TOP5_TITULO}}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60CBF8B1-B670-A21A-5E24-B0FE5654D7C8}"/>
              </a:ext>
            </a:extLst>
          </p:cNvPr>
          <p:cNvSpPr txBox="1"/>
          <p:nvPr/>
        </p:nvSpPr>
        <p:spPr>
          <a:xfrm>
            <a:off x="8223612" y="6229452"/>
            <a:ext cx="1122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Total dos {{RC_TOP5_N}}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F0214995-CBBF-7B32-2FB3-3E9C1A081659}"/>
              </a:ext>
            </a:extLst>
          </p:cNvPr>
          <p:cNvSpPr txBox="1"/>
          <p:nvPr/>
        </p:nvSpPr>
        <p:spPr>
          <a:xfrm>
            <a:off x="10685647" y="6229451"/>
            <a:ext cx="1122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{{RC_TOP5_TOTAL}}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75590555-6442-8C7E-527A-4CE5A63CC07B}"/>
              </a:ext>
            </a:extLst>
          </p:cNvPr>
          <p:cNvSpPr txBox="1"/>
          <p:nvPr/>
        </p:nvSpPr>
        <p:spPr>
          <a:xfrm>
            <a:off x="9849853" y="6430114"/>
            <a:ext cx="1958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/>
              <a:t>({{RC_TOP5_PCT}} do valor total da carteira)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088C7BAA-5429-4EE4-089C-8A2C5CD28BF4}"/>
              </a:ext>
            </a:extLst>
          </p:cNvPr>
          <p:cNvSpPr txBox="1"/>
          <p:nvPr/>
        </p:nvSpPr>
        <p:spPr>
          <a:xfrm>
            <a:off x="4407053" y="5567808"/>
            <a:ext cx="10497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Tempo médio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7A19C8E9-D807-D58E-9619-477D7ED387AA}"/>
              </a:ext>
            </a:extLst>
          </p:cNvPr>
          <p:cNvSpPr txBox="1"/>
          <p:nvPr/>
        </p:nvSpPr>
        <p:spPr>
          <a:xfrm>
            <a:off x="4555412" y="5742969"/>
            <a:ext cx="837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/>
              <a:t>{{RC_TEMPO_MEDIO}}</a:t>
            </a:r>
          </a:p>
        </p:txBody>
      </p:sp>
      <p:sp>
        <p:nvSpPr>
          <p:cNvPr id="5" name="SLIDE_RC_PAINEL">
            <a:extLst>
              <a:ext uri="{FF2B5EF4-FFF2-40B4-BE49-F238E27FC236}">
                <a16:creationId xmlns:a16="http://schemas.microsoft.com/office/drawing/2014/main" id="{61C25FD1-B804-7147-EEF3-BBCF4DDBC2E3}"/>
              </a:ext>
            </a:extLst>
          </p:cNvPr>
          <p:cNvSpPr txBox="1"/>
          <p:nvPr/>
        </p:nvSpPr>
        <p:spPr>
          <a:xfrm>
            <a:off x="593963" y="194862"/>
            <a:ext cx="4570482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111F2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Recuperação de Crédito</a:t>
            </a:r>
            <a:endParaRPr lang="pt-BR" sz="2000" b="1" dirty="0">
              <a:solidFill>
                <a:srgbClr val="D5B17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C0DB61E-8ACF-CA9B-02AF-3C4225C40583}"/>
              </a:ext>
            </a:extLst>
          </p:cNvPr>
          <p:cNvSpPr/>
          <p:nvPr/>
        </p:nvSpPr>
        <p:spPr>
          <a:xfrm>
            <a:off x="491051" y="167429"/>
            <a:ext cx="45719" cy="639642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364D7878-7A42-11C2-A2BF-2FC36DBF9DE5}"/>
              </a:ext>
            </a:extLst>
          </p:cNvPr>
          <p:cNvSpPr/>
          <p:nvPr/>
        </p:nvSpPr>
        <p:spPr>
          <a:xfrm>
            <a:off x="275937" y="990070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7FA11210-C8E1-A2D4-CDB8-42423AB6EB90}"/>
              </a:ext>
            </a:extLst>
          </p:cNvPr>
          <p:cNvSpPr/>
          <p:nvPr/>
        </p:nvSpPr>
        <p:spPr>
          <a:xfrm>
            <a:off x="3303708" y="1000786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9F878678-FAFA-E01B-1CA9-11618FCE25E2}"/>
              </a:ext>
            </a:extLst>
          </p:cNvPr>
          <p:cNvSpPr/>
          <p:nvPr/>
        </p:nvSpPr>
        <p:spPr>
          <a:xfrm>
            <a:off x="6307005" y="993414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pic>
        <p:nvPicPr>
          <p:cNvPr id="35" name="Gráfico 34" descr="Moedas com preenchimento sólido">
            <a:extLst>
              <a:ext uri="{FF2B5EF4-FFF2-40B4-BE49-F238E27FC236}">
                <a16:creationId xmlns:a16="http://schemas.microsoft.com/office/drawing/2014/main" id="{354C8ED7-ACF1-697C-0C54-7B3E14E646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23927" y="1091775"/>
            <a:ext cx="377911" cy="377911"/>
          </a:xfrm>
          <a:prstGeom prst="rect">
            <a:avLst/>
          </a:prstGeom>
        </p:spPr>
      </p:pic>
      <p:sp>
        <p:nvSpPr>
          <p:cNvPr id="45" name="Elipse 44">
            <a:extLst>
              <a:ext uri="{FF2B5EF4-FFF2-40B4-BE49-F238E27FC236}">
                <a16:creationId xmlns:a16="http://schemas.microsoft.com/office/drawing/2014/main" id="{05CFBF6D-E582-EE3C-C372-72B761DE075A}"/>
              </a:ext>
            </a:extLst>
          </p:cNvPr>
          <p:cNvSpPr/>
          <p:nvPr/>
        </p:nvSpPr>
        <p:spPr>
          <a:xfrm>
            <a:off x="9337397" y="997053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pic>
        <p:nvPicPr>
          <p:cNvPr id="47" name="Gráfico 46" descr="Moedas com preenchimento sólido">
            <a:extLst>
              <a:ext uri="{FF2B5EF4-FFF2-40B4-BE49-F238E27FC236}">
                <a16:creationId xmlns:a16="http://schemas.microsoft.com/office/drawing/2014/main" id="{D40A58E8-F9E2-69B1-5480-9E89350DC3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85476" y="1132980"/>
            <a:ext cx="377911" cy="377911"/>
          </a:xfrm>
          <a:prstGeom prst="rect">
            <a:avLst/>
          </a:prstGeom>
        </p:spPr>
      </p:pic>
      <p:sp>
        <p:nvSpPr>
          <p:cNvPr id="52" name="Elipse 51">
            <a:extLst>
              <a:ext uri="{FF2B5EF4-FFF2-40B4-BE49-F238E27FC236}">
                <a16:creationId xmlns:a16="http://schemas.microsoft.com/office/drawing/2014/main" id="{C82BF218-5D8D-69E1-89D6-733381F3E6B0}"/>
              </a:ext>
            </a:extLst>
          </p:cNvPr>
          <p:cNvSpPr/>
          <p:nvPr/>
        </p:nvSpPr>
        <p:spPr>
          <a:xfrm>
            <a:off x="300505" y="1936111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E538B42A-A11F-EA1F-C768-B820086B28E5}"/>
              </a:ext>
            </a:extLst>
          </p:cNvPr>
          <p:cNvSpPr/>
          <p:nvPr/>
        </p:nvSpPr>
        <p:spPr>
          <a:xfrm>
            <a:off x="7662809" y="1908574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FEB65487-7661-552D-2BD9-9A78CA363BEB}"/>
              </a:ext>
            </a:extLst>
          </p:cNvPr>
          <p:cNvSpPr/>
          <p:nvPr/>
        </p:nvSpPr>
        <p:spPr>
          <a:xfrm>
            <a:off x="300505" y="4581248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4F27AF87-9EF5-E862-5E24-544E360B9B98}"/>
              </a:ext>
            </a:extLst>
          </p:cNvPr>
          <p:cNvSpPr/>
          <p:nvPr/>
        </p:nvSpPr>
        <p:spPr>
          <a:xfrm>
            <a:off x="4218678" y="4546965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E5E3CE75-0597-2925-EA78-4ACEA568BB26}"/>
              </a:ext>
            </a:extLst>
          </p:cNvPr>
          <p:cNvSpPr/>
          <p:nvPr/>
        </p:nvSpPr>
        <p:spPr>
          <a:xfrm>
            <a:off x="7518634" y="4520356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pic>
        <p:nvPicPr>
          <p:cNvPr id="92" name="Gráfico 91" descr="Cartão de crédito com preenchimento sólido">
            <a:extLst>
              <a:ext uri="{FF2B5EF4-FFF2-40B4-BE49-F238E27FC236}">
                <a16:creationId xmlns:a16="http://schemas.microsoft.com/office/drawing/2014/main" id="{28C72088-8C55-F7D8-118A-54966810E7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13831" y="4609880"/>
            <a:ext cx="441283" cy="441283"/>
          </a:xfrm>
          <a:prstGeom prst="rect">
            <a:avLst/>
          </a:prstGeom>
        </p:spPr>
      </p:pic>
      <p:pic>
        <p:nvPicPr>
          <p:cNvPr id="96" name="Gráfico 95" descr="Dólar com preenchimento sólido">
            <a:extLst>
              <a:ext uri="{FF2B5EF4-FFF2-40B4-BE49-F238E27FC236}">
                <a16:creationId xmlns:a16="http://schemas.microsoft.com/office/drawing/2014/main" id="{A8B8DEA3-8082-9578-B183-2C9A54A956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41084" y="1955842"/>
            <a:ext cx="482528" cy="482528"/>
          </a:xfrm>
          <a:prstGeom prst="rect">
            <a:avLst/>
          </a:prstGeom>
        </p:spPr>
      </p:pic>
      <p:pic>
        <p:nvPicPr>
          <p:cNvPr id="99" name="Gráfico 98" descr="Folhinha com preenchimento sólido">
            <a:extLst>
              <a:ext uri="{FF2B5EF4-FFF2-40B4-BE49-F238E27FC236}">
                <a16:creationId xmlns:a16="http://schemas.microsoft.com/office/drawing/2014/main" id="{5EF3E7E1-A975-BC21-3602-E34E488F50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2354" y="4633308"/>
            <a:ext cx="447189" cy="447189"/>
          </a:xfrm>
          <a:prstGeom prst="rect">
            <a:avLst/>
          </a:prstGeom>
        </p:spPr>
      </p:pic>
      <p:pic>
        <p:nvPicPr>
          <p:cNvPr id="101" name="Gráfico 100" descr="Relógio com preenchimento sólido">
            <a:extLst>
              <a:ext uri="{FF2B5EF4-FFF2-40B4-BE49-F238E27FC236}">
                <a16:creationId xmlns:a16="http://schemas.microsoft.com/office/drawing/2014/main" id="{6620CB26-7304-CBAE-0564-4737BDFEE8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65971" y="4604551"/>
            <a:ext cx="504701" cy="504701"/>
          </a:xfrm>
          <a:prstGeom prst="rect">
            <a:avLst/>
          </a:prstGeom>
        </p:spPr>
      </p:pic>
      <p:pic>
        <p:nvPicPr>
          <p:cNvPr id="103" name="Gráfico 102" descr="Pesquisa de Pasta com preenchimento sólido">
            <a:extLst>
              <a:ext uri="{FF2B5EF4-FFF2-40B4-BE49-F238E27FC236}">
                <a16:creationId xmlns:a16="http://schemas.microsoft.com/office/drawing/2014/main" id="{C1D6B456-50A3-702D-D78F-677190521C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77012" y="1027198"/>
            <a:ext cx="508578" cy="508578"/>
          </a:xfrm>
          <a:prstGeom prst="rect">
            <a:avLst/>
          </a:prstGeom>
        </p:spPr>
      </p:pic>
      <p:pic>
        <p:nvPicPr>
          <p:cNvPr id="105" name="Gráfico 104" descr="Documento com preenchimento sólido">
            <a:extLst>
              <a:ext uri="{FF2B5EF4-FFF2-40B4-BE49-F238E27FC236}">
                <a16:creationId xmlns:a16="http://schemas.microsoft.com/office/drawing/2014/main" id="{B72D3DC6-C2CD-192D-7C24-D45A5D6138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0469" y="1085378"/>
            <a:ext cx="390704" cy="390704"/>
          </a:xfrm>
          <a:prstGeom prst="rect">
            <a:avLst/>
          </a:prstGeom>
        </p:spPr>
      </p:pic>
      <p:pic>
        <p:nvPicPr>
          <p:cNvPr id="107" name="Gráfico 106" descr="Lista com preenchimento sólido">
            <a:extLst>
              <a:ext uri="{FF2B5EF4-FFF2-40B4-BE49-F238E27FC236}">
                <a16:creationId xmlns:a16="http://schemas.microsoft.com/office/drawing/2014/main" id="{1E6E81B6-92DA-D143-8459-5F16725DD4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5704" y="2003379"/>
            <a:ext cx="463335" cy="463335"/>
          </a:xfrm>
          <a:prstGeom prst="rect">
            <a:avLst/>
          </a:prstGeom>
        </p:spPr>
      </p:pic>
      <p:pic>
        <p:nvPicPr>
          <p:cNvPr id="109" name="Gráfico 108" descr="Engrenagem única com preenchimento sólido">
            <a:extLst>
              <a:ext uri="{FF2B5EF4-FFF2-40B4-BE49-F238E27FC236}">
                <a16:creationId xmlns:a16="http://schemas.microsoft.com/office/drawing/2014/main" id="{2420E3EE-6B38-01F9-88EC-402D15142F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12067" y="1050646"/>
            <a:ext cx="280219" cy="28021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34D6AF1-EE47-47C9-0DAE-97D3343F5F51}"/>
              </a:ext>
            </a:extLst>
          </p:cNvPr>
          <p:cNvSpPr txBox="1"/>
          <p:nvPr/>
        </p:nvSpPr>
        <p:spPr>
          <a:xfrm>
            <a:off x="4077874" y="1433144"/>
            <a:ext cx="599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101F2E"/>
                </a:solidFill>
              </a:rPr>
              <a:t>{{RC_ATIVOS}}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6F07EF5-CF21-784E-287D-6812B79108EF}"/>
              </a:ext>
            </a:extLst>
          </p:cNvPr>
          <p:cNvSpPr txBox="1"/>
          <p:nvPr/>
        </p:nvSpPr>
        <p:spPr>
          <a:xfrm>
            <a:off x="5012757" y="1439958"/>
            <a:ext cx="599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101F2E"/>
                </a:solidFill>
              </a:rPr>
              <a:t>{{RC_ARQUIVADOS}}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561C0D5-FA6E-5477-24F6-1A6395EE5D7F}"/>
              </a:ext>
            </a:extLst>
          </p:cNvPr>
          <p:cNvSpPr txBox="1"/>
          <p:nvPr/>
        </p:nvSpPr>
        <p:spPr>
          <a:xfrm>
            <a:off x="3961523" y="1260235"/>
            <a:ext cx="8463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>
                <a:solidFill>
                  <a:srgbClr val="101F2E"/>
                </a:solidFill>
              </a:rPr>
              <a:t>Ativos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6D9FBEC-65B4-577D-B112-2516887F4E1B}"/>
              </a:ext>
            </a:extLst>
          </p:cNvPr>
          <p:cNvSpPr txBox="1"/>
          <p:nvPr/>
        </p:nvSpPr>
        <p:spPr>
          <a:xfrm>
            <a:off x="4824303" y="1268553"/>
            <a:ext cx="9975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solidFill>
                  <a:srgbClr val="101F2E"/>
                </a:solidFill>
              </a:rPr>
              <a:t>Arquivados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2FD6182-1A84-060B-C218-77AC4B7B7D19}"/>
              </a:ext>
            </a:extLst>
          </p:cNvPr>
          <p:cNvSpPr/>
          <p:nvPr/>
        </p:nvSpPr>
        <p:spPr>
          <a:xfrm>
            <a:off x="3933669" y="1255267"/>
            <a:ext cx="879987" cy="447151"/>
          </a:xfrm>
          <a:prstGeom prst="roundRect">
            <a:avLst/>
          </a:prstGeom>
          <a:noFill/>
          <a:ln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D6B6580-DFF7-D892-2C68-A63B2C0E24A2}"/>
              </a:ext>
            </a:extLst>
          </p:cNvPr>
          <p:cNvSpPr/>
          <p:nvPr/>
        </p:nvSpPr>
        <p:spPr>
          <a:xfrm>
            <a:off x="4896823" y="1249670"/>
            <a:ext cx="879987" cy="447758"/>
          </a:xfrm>
          <a:prstGeom prst="roundRect">
            <a:avLst/>
          </a:prstGeom>
          <a:noFill/>
          <a:ln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2" name="Disclaimer">
            <a:extLst>
              <a:ext uri="{FF2B5EF4-FFF2-40B4-BE49-F238E27FC236}">
                <a16:creationId xmlns:a16="http://schemas.microsoft.com/office/drawing/2014/main" id="{1851A74F-37A0-4860-B822-E6CFD53440C5}"/>
              </a:ext>
            </a:extLst>
          </p:cNvPr>
          <p:cNvSpPr txBox="1"/>
          <p:nvPr/>
        </p:nvSpPr>
        <p:spPr>
          <a:xfrm>
            <a:off x="7620000" y="355600"/>
            <a:ext cx="43942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r"/>
            <a:r>
              <a:rPr lang="pt-BR" sz="1100" i="1">
                <a:solidFill>
                  <a:srgbClr val="5A6270"/>
                </a:solidFill>
                <a:latin typeface="Lato"/>
                <a:ea typeface="Lato"/>
                <a:cs typeface="Lato"/>
              </a:rPr>
              <a:t>*Valores consideram apenas processos ativos.</a:t>
            </a:r>
          </a:p>
        </p:txBody>
      </p:sp>
    </p:spTree>
    <p:extLst>
      <p:ext uri="{BB962C8B-B14F-4D97-AF65-F5344CB8AC3E}">
        <p14:creationId xmlns:p14="http://schemas.microsoft.com/office/powerpoint/2010/main" val="3534563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Background"/>
          <p:cNvSpPr/>
          <p:nvPr/>
        </p:nvSpPr>
        <p:spPr>
          <a:xfrm>
            <a:off x="0" y="-101600"/>
            <a:ext cx="12268200" cy="6959600"/>
          </a:xfrm>
          <a:prstGeom prst="rect">
            <a:avLst/>
          </a:prstGeom>
          <a:solidFill>
            <a:srgbClr val="EBE7E1"/>
          </a:solidFill>
          <a:ln>
            <a:noFill/>
          </a:ln>
        </p:spPr>
        <p:txBody>
          <a:bodyPr wrap="square" lIns="152400" tIns="0" rIns="127000" bIns="0" anchor="ctr">
            <a:noAutofit/>
          </a:bodyPr>
          <a:lstStyle/>
          <a:p>
            <a:endParaRPr lang="pt-BR"/>
          </a:p>
        </p:txBody>
      </p:sp>
      <p:sp>
        <p:nvSpPr>
          <p:cNvPr id="7" name="SLIDE_DETALHE">
            <a:extLst>
              <a:ext uri="{FF2B5EF4-FFF2-40B4-BE49-F238E27FC236}">
                <a16:creationId xmlns:a16="http://schemas.microsoft.com/office/drawing/2014/main" id="{7AAEC093-BE20-5B8A-A73E-CF673443059B}"/>
              </a:ext>
            </a:extLst>
          </p:cNvPr>
          <p:cNvSpPr txBox="1"/>
          <p:nvPr/>
        </p:nvSpPr>
        <p:spPr>
          <a:xfrm>
            <a:off x="533248" y="181286"/>
            <a:ext cx="5118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>
                <a:solidFill>
                  <a:srgbClr val="111F2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{{DET_AREA}}</a:t>
            </a:r>
            <a:endParaRPr lang="pt-BR" sz="2400" b="1">
              <a:solidFill>
                <a:srgbClr val="D5B17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F5113D8-1A91-6F30-2C2E-90C19EE9E36D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ptos" panose="020B0004020202020204" pitchFamily="34" charset="0"/>
            </a:endParaRPr>
          </a:p>
        </p:txBody>
      </p:sp>
      <p:sp>
        <p:nvSpPr>
          <p:cNvPr id="301" name="Processo Label"/>
          <p:cNvSpPr txBox="1"/>
          <p:nvPr/>
        </p:nvSpPr>
        <p:spPr>
          <a:xfrm>
            <a:off x="431800" y="14097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>
                <a:solidFill>
                  <a:srgbClr val="D5B170"/>
                </a:solidFill>
                <a:latin typeface="Aptos"/>
              </a:rPr>
              <a:t>PROCESSO Nº</a:t>
            </a:r>
          </a:p>
        </p:txBody>
      </p:sp>
      <p:sp>
        <p:nvSpPr>
          <p:cNvPr id="302" name="Processo Number"/>
          <p:cNvSpPr txBox="1"/>
          <p:nvPr/>
        </p:nvSpPr>
        <p:spPr>
          <a:xfrm>
            <a:off x="431800" y="1676400"/>
            <a:ext cx="787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2200" b="1">
                <a:solidFill>
                  <a:srgbClr val="101F2E"/>
                </a:solidFill>
                <a:latin typeface="Aptos SemiBold"/>
              </a:rPr>
              <a:t>{{DET_PROCESSO}}</a:t>
            </a:r>
          </a:p>
        </p:txBody>
      </p:sp>
      <p:sp>
        <p:nvSpPr>
          <p:cNvPr id="303" name="Divider"/>
          <p:cNvSpPr/>
          <p:nvPr/>
        </p:nvSpPr>
        <p:spPr>
          <a:xfrm>
            <a:off x="431800" y="2171700"/>
            <a:ext cx="7950200" cy="254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txBody>
          <a:bodyPr wrap="square" lIns="152400" tIns="0" rIns="127000" bIns="0" anchor="ctr">
            <a:noAutofit/>
          </a:bodyPr>
          <a:lstStyle/>
          <a:p>
            <a:endParaRPr lang="pt-BR"/>
          </a:p>
        </p:txBody>
      </p:sp>
      <p:sp>
        <p:nvSpPr>
          <p:cNvPr id="304" name="Reclamante Label"/>
          <p:cNvSpPr txBox="1"/>
          <p:nvPr/>
        </p:nvSpPr>
        <p:spPr>
          <a:xfrm>
            <a:off x="431800" y="2311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>
                <a:solidFill>
                  <a:srgbClr val="D5B170"/>
                </a:solidFill>
                <a:latin typeface="Aptos"/>
              </a:rPr>
              <a:t>{{DET_L_PARTE_A}}</a:t>
            </a:r>
          </a:p>
        </p:txBody>
      </p:sp>
      <p:sp>
        <p:nvSpPr>
          <p:cNvPr id="305" name="Reclamante Value"/>
          <p:cNvSpPr txBox="1"/>
          <p:nvPr/>
        </p:nvSpPr>
        <p:spPr>
          <a:xfrm>
            <a:off x="431800" y="25400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>
                <a:solidFill>
                  <a:srgbClr val="101F2E"/>
                </a:solidFill>
                <a:latin typeface="Aptos"/>
              </a:rPr>
              <a:t>{{DET_PARTE_A}}</a:t>
            </a:r>
          </a:p>
        </p:txBody>
      </p:sp>
      <p:sp>
        <p:nvSpPr>
          <p:cNvPr id="306" name="Reclamadas Label"/>
          <p:cNvSpPr txBox="1"/>
          <p:nvPr/>
        </p:nvSpPr>
        <p:spPr>
          <a:xfrm>
            <a:off x="4445000" y="2311400"/>
            <a:ext cx="393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>
                <a:solidFill>
                  <a:srgbClr val="D5B170"/>
                </a:solidFill>
                <a:latin typeface="Aptos"/>
              </a:rPr>
              <a:t>{{DET_L_PARTE_B}}</a:t>
            </a:r>
          </a:p>
        </p:txBody>
      </p:sp>
      <p:sp>
        <p:nvSpPr>
          <p:cNvPr id="307" name="Reclamadas Value"/>
          <p:cNvSpPr txBox="1"/>
          <p:nvPr/>
        </p:nvSpPr>
        <p:spPr>
          <a:xfrm>
            <a:off x="4445000" y="2540000"/>
            <a:ext cx="393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>
                <a:solidFill>
                  <a:srgbClr val="101F2E"/>
                </a:solidFill>
                <a:latin typeface="Aptos"/>
              </a:rPr>
              <a:t>{{DET_PARTE_B}}</a:t>
            </a:r>
          </a:p>
        </p:txBody>
      </p:sp>
      <p:sp>
        <p:nvSpPr>
          <p:cNvPr id="308" name="Pedidos Label"/>
          <p:cNvSpPr txBox="1"/>
          <p:nvPr/>
        </p:nvSpPr>
        <p:spPr>
          <a:xfrm>
            <a:off x="431800" y="2946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>
                <a:solidFill>
                  <a:srgbClr val="D5B170"/>
                </a:solidFill>
                <a:latin typeface="Aptos"/>
              </a:rPr>
              <a:t>{{DET_L_BLOCO_1}}</a:t>
            </a:r>
          </a:p>
        </p:txBody>
      </p:sp>
      <p:sp>
        <p:nvSpPr>
          <p:cNvPr id="309" name="Pedidos Value"/>
          <p:cNvSpPr txBox="1"/>
          <p:nvPr/>
        </p:nvSpPr>
        <p:spPr>
          <a:xfrm>
            <a:off x="431800" y="3175000"/>
            <a:ext cx="7950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200" b="1">
                <a:solidFill>
                  <a:srgbClr val="101F2E"/>
                </a:solidFill>
                <a:latin typeface="Aptos"/>
              </a:rPr>
              <a:t>{{DET_BLOCO_1}}</a:t>
            </a:r>
          </a:p>
        </p:txBody>
      </p:sp>
      <p:sp>
        <p:nvSpPr>
          <p:cNvPr id="310" name="Alegacoes Label"/>
          <p:cNvSpPr txBox="1"/>
          <p:nvPr/>
        </p:nvSpPr>
        <p:spPr>
          <a:xfrm>
            <a:off x="431800" y="3962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>
                <a:solidFill>
                  <a:srgbClr val="D5B170"/>
                </a:solidFill>
                <a:latin typeface="Aptos"/>
              </a:rPr>
              <a:t>{{DET_L_BLOCO_2}}</a:t>
            </a:r>
          </a:p>
        </p:txBody>
      </p:sp>
      <p:sp>
        <p:nvSpPr>
          <p:cNvPr id="311" name="Alegacoes Value"/>
          <p:cNvSpPr txBox="1"/>
          <p:nvPr/>
        </p:nvSpPr>
        <p:spPr>
          <a:xfrm>
            <a:off x="431800" y="4191000"/>
            <a:ext cx="79502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52400" indent="-152400" algn="l">
              <a:spcBef>
                <a:spcPts val="300"/>
              </a:spcBef>
              <a:buClr>
                <a:srgbClr val="D5B170"/>
              </a:buClr>
              <a:buFont typeface="Arial"/>
              <a:buChar char="▪"/>
            </a:pPr>
            <a:r>
              <a:rPr lang="pt-BR" sz="1200" b="1">
                <a:solidFill>
                  <a:srgbClr val="101F2E"/>
                </a:solidFill>
                <a:latin typeface="Aptos"/>
              </a:rPr>
              <a:t>{{DET_BLOCO_2}}</a:t>
            </a:r>
          </a:p>
        </p:txBody>
      </p:sp>
      <p:sp>
        <p:nvSpPr>
          <p:cNvPr id="312" name="Status Rail"/>
          <p:cNvSpPr/>
          <p:nvPr/>
        </p:nvSpPr>
        <p:spPr>
          <a:xfrm>
            <a:off x="8763000" y="1409700"/>
            <a:ext cx="2997200" cy="4775200"/>
          </a:xfrm>
          <a:prstGeom prst="roundRect">
            <a:avLst/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52400" tIns="0" rIns="127000" bIns="0" anchor="ctr">
            <a:noAutofit/>
          </a:bodyPr>
          <a:lstStyle/>
          <a:p>
            <a:endParaRPr lang="pt-BR"/>
          </a:p>
        </p:txBody>
      </p:sp>
      <p:sp>
        <p:nvSpPr>
          <p:cNvPr id="313" name="Passivo Label"/>
          <p:cNvSpPr txBox="1"/>
          <p:nvPr/>
        </p:nvSpPr>
        <p:spPr>
          <a:xfrm>
            <a:off x="9042400" y="1663700"/>
            <a:ext cx="241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>
                <a:solidFill>
                  <a:srgbClr val="D5B170"/>
                </a:solidFill>
                <a:latin typeface="Aptos"/>
              </a:rPr>
              <a:t>{{DET_L_VALOR}}</a:t>
            </a:r>
          </a:p>
        </p:txBody>
      </p:sp>
      <p:sp>
        <p:nvSpPr>
          <p:cNvPr id="314" name="Passivo Value"/>
          <p:cNvSpPr txBox="1"/>
          <p:nvPr/>
        </p:nvSpPr>
        <p:spPr>
          <a:xfrm>
            <a:off x="9042400" y="1917700"/>
            <a:ext cx="241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2000" b="1">
                <a:solidFill>
                  <a:srgbClr val="101F2E"/>
                </a:solidFill>
                <a:latin typeface="Aptos"/>
              </a:rPr>
              <a:t>{{DET_VALOR}}</a:t>
            </a:r>
          </a:p>
        </p:txBody>
      </p:sp>
      <p:sp>
        <p:nvSpPr>
          <p:cNvPr id="315" name="Passivo Accent"/>
          <p:cNvSpPr/>
          <p:nvPr/>
        </p:nvSpPr>
        <p:spPr>
          <a:xfrm>
            <a:off x="9042400" y="2349500"/>
            <a:ext cx="736600" cy="381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txBody>
          <a:bodyPr wrap="square" lIns="152400" tIns="0" rIns="127000" bIns="0" anchor="ctr">
            <a:noAutofit/>
          </a:bodyPr>
          <a:lstStyle/>
          <a:p>
            <a:endParaRPr lang="pt-BR"/>
          </a:p>
        </p:txBody>
      </p:sp>
      <p:sp>
        <p:nvSpPr>
          <p:cNvPr id="316" name="Status Label"/>
          <p:cNvSpPr txBox="1"/>
          <p:nvPr/>
        </p:nvSpPr>
        <p:spPr>
          <a:xfrm>
            <a:off x="9042400" y="2514600"/>
            <a:ext cx="241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200" b="1">
                <a:solidFill>
                  <a:srgbClr val="000000"/>
                </a:solidFill>
                <a:latin typeface="Aptos"/>
              </a:rPr>
              <a:t>STATUS</a:t>
            </a:r>
          </a:p>
        </p:txBody>
      </p:sp>
      <p:sp>
        <p:nvSpPr>
          <p:cNvPr id="317" name="Status Chip"/>
          <p:cNvSpPr/>
          <p:nvPr/>
        </p:nvSpPr>
        <p:spPr>
          <a:xfrm>
            <a:off x="9042400" y="2743200"/>
            <a:ext cx="2438400" cy="584200"/>
          </a:xfrm>
          <a:prstGeom prst="roundRect">
            <a:avLst/>
          </a:prstGeom>
          <a:solidFill>
            <a:srgbClr val="D5B170"/>
          </a:solidFill>
          <a:ln>
            <a:noFill/>
          </a:ln>
        </p:spPr>
        <p:txBody>
          <a:bodyPr wrap="square" lIns="152400" tIns="0" rIns="127000" bIns="0" anchor="ctr">
            <a:noAutofit/>
          </a:bodyPr>
          <a:lstStyle/>
          <a:p>
            <a:pPr algn="l"/>
            <a:r>
              <a:rPr lang="pt-BR" sz="1200" b="1">
                <a:solidFill>
                  <a:srgbClr val="101F2E"/>
                </a:solidFill>
                <a:latin typeface="Aptos"/>
              </a:rPr>
              <a:t>{{DET_STATUS}}</a:t>
            </a:r>
          </a:p>
        </p:txBody>
      </p:sp>
      <p:sp>
        <p:nvSpPr>
          <p:cNvPr id="318" name="Vara Label"/>
          <p:cNvSpPr txBox="1"/>
          <p:nvPr/>
        </p:nvSpPr>
        <p:spPr>
          <a:xfrm>
            <a:off x="9042400" y="3505200"/>
            <a:ext cx="241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200" b="1">
                <a:solidFill>
                  <a:srgbClr val="000000"/>
                </a:solidFill>
                <a:latin typeface="Aptos"/>
              </a:rPr>
              <a:t>VARA</a:t>
            </a:r>
          </a:p>
        </p:txBody>
      </p:sp>
      <p:sp>
        <p:nvSpPr>
          <p:cNvPr id="319" name="Vara Value"/>
          <p:cNvSpPr txBox="1"/>
          <p:nvPr/>
        </p:nvSpPr>
        <p:spPr>
          <a:xfrm>
            <a:off x="9042400" y="3721100"/>
            <a:ext cx="243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300" b="0">
                <a:solidFill>
                  <a:srgbClr val="101F2E"/>
                </a:solidFill>
                <a:latin typeface="Aptos"/>
              </a:rPr>
              <a:t>{{DET_VARA}}</a:t>
            </a:r>
          </a:p>
        </p:txBody>
      </p:sp>
      <p:sp>
        <p:nvSpPr>
          <p:cNvPr id="320" name="Valor Label"/>
          <p:cNvSpPr txBox="1"/>
          <p:nvPr/>
        </p:nvSpPr>
        <p:spPr>
          <a:xfrm>
            <a:off x="9042400" y="4292600"/>
            <a:ext cx="1206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000" b="1">
                <a:solidFill>
                  <a:srgbClr val="000000"/>
                </a:solidFill>
                <a:latin typeface="Aptos"/>
              </a:rPr>
              <a:t>TRIBUNAL</a:t>
            </a:r>
          </a:p>
        </p:txBody>
      </p:sp>
      <p:sp>
        <p:nvSpPr>
          <p:cNvPr id="321" name="Valor Value"/>
          <p:cNvSpPr txBox="1"/>
          <p:nvPr/>
        </p:nvSpPr>
        <p:spPr>
          <a:xfrm>
            <a:off x="9042400" y="44958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200" b="0">
                <a:solidFill>
                  <a:srgbClr val="101F2E"/>
                </a:solidFill>
                <a:latin typeface="Aptos"/>
              </a:rPr>
              <a:t>{{DET_TRIBUNAL}}</a:t>
            </a:r>
          </a:p>
        </p:txBody>
      </p:sp>
      <p:sp>
        <p:nvSpPr>
          <p:cNvPr id="322" name="Distrib Label"/>
          <p:cNvSpPr txBox="1"/>
          <p:nvPr/>
        </p:nvSpPr>
        <p:spPr>
          <a:xfrm>
            <a:off x="10337800" y="42926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000" b="1">
                <a:solidFill>
                  <a:srgbClr val="000000"/>
                </a:solidFill>
                <a:latin typeface="Aptos"/>
              </a:rPr>
              <a:t>AJUIZAMENTO</a:t>
            </a:r>
          </a:p>
        </p:txBody>
      </p:sp>
      <p:sp>
        <p:nvSpPr>
          <p:cNvPr id="323" name="Distrib Value"/>
          <p:cNvSpPr txBox="1"/>
          <p:nvPr/>
        </p:nvSpPr>
        <p:spPr>
          <a:xfrm>
            <a:off x="10337800" y="44958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200" b="0">
                <a:solidFill>
                  <a:srgbClr val="101F2E"/>
                </a:solidFill>
                <a:latin typeface="Aptos"/>
              </a:rPr>
              <a:t>{{DET_AJUIZAMENTO}}</a:t>
            </a:r>
          </a:p>
        </p:txBody>
      </p:sp>
      <p:sp>
        <p:nvSpPr>
          <p:cNvPr id="324" name="Contrato Label"/>
          <p:cNvSpPr txBox="1"/>
          <p:nvPr/>
        </p:nvSpPr>
        <p:spPr>
          <a:xfrm>
            <a:off x="9042400" y="4876800"/>
            <a:ext cx="241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000" b="1">
                <a:solidFill>
                  <a:srgbClr val="000000"/>
                </a:solidFill>
                <a:latin typeface="Aptos"/>
              </a:rPr>
              <a:t>{{DET_L_INFO_1}}</a:t>
            </a:r>
          </a:p>
        </p:txBody>
      </p:sp>
      <p:sp>
        <p:nvSpPr>
          <p:cNvPr id="325" name="Contrato Value"/>
          <p:cNvSpPr txBox="1"/>
          <p:nvPr/>
        </p:nvSpPr>
        <p:spPr>
          <a:xfrm>
            <a:off x="9042400" y="5080000"/>
            <a:ext cx="2438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200" b="0">
                <a:solidFill>
                  <a:srgbClr val="101F2E"/>
                </a:solidFill>
                <a:latin typeface="Aptos"/>
              </a:rPr>
              <a:t>{{DET_INFO_1}}</a:t>
            </a:r>
          </a:p>
        </p:txBody>
      </p:sp>
      <p:sp>
        <p:nvSpPr>
          <p:cNvPr id="326" name="Cargo Label"/>
          <p:cNvSpPr txBox="1"/>
          <p:nvPr/>
        </p:nvSpPr>
        <p:spPr>
          <a:xfrm>
            <a:off x="9042400" y="55626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000" b="1">
                <a:solidFill>
                  <a:srgbClr val="000000"/>
                </a:solidFill>
                <a:latin typeface="Aptos"/>
              </a:rPr>
              <a:t>{{DET_L_INFO_2}}</a:t>
            </a:r>
          </a:p>
        </p:txBody>
      </p:sp>
      <p:sp>
        <p:nvSpPr>
          <p:cNvPr id="327" name="Cargo Value"/>
          <p:cNvSpPr txBox="1"/>
          <p:nvPr/>
        </p:nvSpPr>
        <p:spPr>
          <a:xfrm>
            <a:off x="9042400" y="57658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200" b="0">
                <a:solidFill>
                  <a:srgbClr val="101F2E"/>
                </a:solidFill>
                <a:latin typeface="Aptos"/>
              </a:rPr>
              <a:t>{{DET_INFO_2}}</a:t>
            </a:r>
          </a:p>
        </p:txBody>
      </p:sp>
      <p:sp>
        <p:nvSpPr>
          <p:cNvPr id="328" name="Remun Label"/>
          <p:cNvSpPr txBox="1"/>
          <p:nvPr/>
        </p:nvSpPr>
        <p:spPr>
          <a:xfrm>
            <a:off x="10210800" y="5562600"/>
            <a:ext cx="1320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000" b="1">
                <a:solidFill>
                  <a:srgbClr val="000000"/>
                </a:solidFill>
                <a:latin typeface="Aptos"/>
              </a:rPr>
              <a:t>{{DET_L_INFO_3}}</a:t>
            </a:r>
          </a:p>
        </p:txBody>
      </p:sp>
      <p:sp>
        <p:nvSpPr>
          <p:cNvPr id="329" name="Remun Value"/>
          <p:cNvSpPr txBox="1"/>
          <p:nvPr/>
        </p:nvSpPr>
        <p:spPr>
          <a:xfrm>
            <a:off x="10210800" y="5765800"/>
            <a:ext cx="1320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200" b="0">
                <a:solidFill>
                  <a:srgbClr val="101F2E"/>
                </a:solidFill>
                <a:latin typeface="Aptos"/>
              </a:rPr>
              <a:t>{{DET_INFO_3}}</a:t>
            </a:r>
          </a:p>
        </p:txBody>
      </p:sp>
      <p:sp>
        <p:nvSpPr>
          <p:cNvPr id="340" name="Resumo Label"/>
          <p:cNvSpPr txBox="1"/>
          <p:nvPr/>
        </p:nvSpPr>
        <p:spPr>
          <a:xfrm>
            <a:off x="431800" y="5486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1">
                <a:solidFill>
                  <a:srgbClr val="D5B170"/>
                </a:solidFill>
                <a:latin typeface="Aptos"/>
              </a:rPr>
              <a:t>RESUMO PROCESSUAL</a:t>
            </a:r>
          </a:p>
        </p:txBody>
      </p:sp>
      <p:sp>
        <p:nvSpPr>
          <p:cNvPr id="341" name="Resumo Value"/>
          <p:cNvSpPr txBox="1"/>
          <p:nvPr/>
        </p:nvSpPr>
        <p:spPr>
          <a:xfrm>
            <a:off x="431800" y="5740400"/>
            <a:ext cx="79502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200" b="0">
                <a:solidFill>
                  <a:srgbClr val="101F2E"/>
                </a:solidFill>
                <a:latin typeface="Aptos"/>
              </a:rPr>
              <a:t>{{DET_RESUMO}}</a:t>
            </a:r>
          </a:p>
        </p:txBody>
      </p:sp>
    </p:spTree>
    <p:extLst>
      <p:ext uri="{BB962C8B-B14F-4D97-AF65-F5344CB8AC3E}">
        <p14:creationId xmlns:p14="http://schemas.microsoft.com/office/powerpoint/2010/main" val="991052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_CIVEL_DIVISOR">
            <a:extLst>
              <a:ext uri="{FF2B5EF4-FFF2-40B4-BE49-F238E27FC236}">
                <a16:creationId xmlns:a16="http://schemas.microsoft.com/office/drawing/2014/main" id="{CF5999C7-D275-23C3-67FD-BC607992D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682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2E4FC-5420-F7BE-A701-0A8430A2E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1E929E3A-FB73-ECCE-C254-45D728BCD385}"/>
              </a:ext>
            </a:extLst>
          </p:cNvPr>
          <p:cNvSpPr/>
          <p:nvPr/>
        </p:nvSpPr>
        <p:spPr>
          <a:xfrm>
            <a:off x="0" y="-98385"/>
            <a:ext cx="12273023" cy="6956385"/>
          </a:xfrm>
          <a:prstGeom prst="rect">
            <a:avLst/>
          </a:prstGeom>
          <a:solidFill>
            <a:srgbClr val="EBE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32472A8-9E26-017C-AD68-ECCEFF52D27A}"/>
              </a:ext>
            </a:extLst>
          </p:cNvPr>
          <p:cNvSpPr/>
          <p:nvPr/>
        </p:nvSpPr>
        <p:spPr>
          <a:xfrm>
            <a:off x="157317" y="1077722"/>
            <a:ext cx="2910348" cy="1111045"/>
          </a:xfrm>
          <a:prstGeom prst="roundRect">
            <a:avLst>
              <a:gd name="adj" fmla="val 14012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0502A9A-33E6-140F-C4AC-08C49FB85546}"/>
              </a:ext>
            </a:extLst>
          </p:cNvPr>
          <p:cNvSpPr/>
          <p:nvPr/>
        </p:nvSpPr>
        <p:spPr>
          <a:xfrm>
            <a:off x="3147143" y="1077722"/>
            <a:ext cx="2910348" cy="1111045"/>
          </a:xfrm>
          <a:prstGeom prst="roundRect">
            <a:avLst>
              <a:gd name="adj" fmla="val 14012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B0138CF-F095-17C9-74A5-D1833C131669}"/>
              </a:ext>
            </a:extLst>
          </p:cNvPr>
          <p:cNvSpPr/>
          <p:nvPr/>
        </p:nvSpPr>
        <p:spPr>
          <a:xfrm>
            <a:off x="6136969" y="1077722"/>
            <a:ext cx="2910348" cy="1111045"/>
          </a:xfrm>
          <a:prstGeom prst="roundRect">
            <a:avLst>
              <a:gd name="adj" fmla="val 14012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2CF896B-F05E-065F-850F-760754F02A3B}"/>
              </a:ext>
            </a:extLst>
          </p:cNvPr>
          <p:cNvSpPr/>
          <p:nvPr/>
        </p:nvSpPr>
        <p:spPr>
          <a:xfrm>
            <a:off x="9126794" y="1077722"/>
            <a:ext cx="2910348" cy="1111045"/>
          </a:xfrm>
          <a:prstGeom prst="roundRect">
            <a:avLst>
              <a:gd name="adj" fmla="val 14012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7" name="SLIDE_CIVEL_PAINEL">
            <a:extLst>
              <a:ext uri="{FF2B5EF4-FFF2-40B4-BE49-F238E27FC236}">
                <a16:creationId xmlns:a16="http://schemas.microsoft.com/office/drawing/2014/main" id="{0C451E3D-F69E-F9BF-4AEC-943453D63FF8}"/>
              </a:ext>
            </a:extLst>
          </p:cNvPr>
          <p:cNvSpPr txBox="1"/>
          <p:nvPr/>
        </p:nvSpPr>
        <p:spPr>
          <a:xfrm>
            <a:off x="533248" y="181286"/>
            <a:ext cx="121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Cível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4408662-9885-C861-59C8-7275DF9D6140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  <a:latin typeface="Aptos" panose="020B0004020202020204" pitchFamily="34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F0A0AFE6-6188-A0D0-A1AE-A254FE63E008}"/>
              </a:ext>
            </a:extLst>
          </p:cNvPr>
          <p:cNvSpPr/>
          <p:nvPr/>
        </p:nvSpPr>
        <p:spPr>
          <a:xfrm>
            <a:off x="235974" y="1179871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3CA2FC4D-2D54-EC76-C3F3-F36B36A34AA7}"/>
              </a:ext>
            </a:extLst>
          </p:cNvPr>
          <p:cNvSpPr/>
          <p:nvPr/>
        </p:nvSpPr>
        <p:spPr>
          <a:xfrm>
            <a:off x="3220065" y="1179871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A68EF712-77A1-5B2C-EAAB-9639C625FA0B}"/>
              </a:ext>
            </a:extLst>
          </p:cNvPr>
          <p:cNvSpPr/>
          <p:nvPr/>
        </p:nvSpPr>
        <p:spPr>
          <a:xfrm>
            <a:off x="6200057" y="1151463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66401CC7-332F-6444-CBC0-FF08BF606F9B}"/>
              </a:ext>
            </a:extLst>
          </p:cNvPr>
          <p:cNvSpPr/>
          <p:nvPr/>
        </p:nvSpPr>
        <p:spPr>
          <a:xfrm>
            <a:off x="9159566" y="1180960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343FC55-A50F-1A72-7D95-165A91793122}"/>
              </a:ext>
            </a:extLst>
          </p:cNvPr>
          <p:cNvSpPr txBox="1"/>
          <p:nvPr/>
        </p:nvSpPr>
        <p:spPr>
          <a:xfrm>
            <a:off x="898830" y="1271818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POTENCIAL PASSIVO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D181E9B-A8A2-C54D-DCE3-7303573F1C2F}"/>
              </a:ext>
            </a:extLst>
          </p:cNvPr>
          <p:cNvSpPr txBox="1"/>
          <p:nvPr/>
        </p:nvSpPr>
        <p:spPr>
          <a:xfrm>
            <a:off x="3823929" y="1271818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SITUAÇÃO PROCESSUAL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FB15B97-4E23-607F-6D58-7CC3779BAA64}"/>
              </a:ext>
            </a:extLst>
          </p:cNvPr>
          <p:cNvSpPr txBox="1"/>
          <p:nvPr/>
        </p:nvSpPr>
        <p:spPr>
          <a:xfrm>
            <a:off x="6775243" y="1271818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VALORES DE REFERÊNCIA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8302FB7-2B71-5244-2B6A-18F453F098A0}"/>
              </a:ext>
            </a:extLst>
          </p:cNvPr>
          <p:cNvSpPr txBox="1"/>
          <p:nvPr/>
        </p:nvSpPr>
        <p:spPr>
          <a:xfrm>
            <a:off x="9725741" y="1271818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PROCESSOS POR REGIÃO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9679602-1EC7-6491-94D4-E91F038A823D}"/>
              </a:ext>
            </a:extLst>
          </p:cNvPr>
          <p:cNvSpPr txBox="1"/>
          <p:nvPr/>
        </p:nvSpPr>
        <p:spPr>
          <a:xfrm>
            <a:off x="898834" y="1724053"/>
            <a:ext cx="223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01F2E"/>
                </a:solidFill>
              </a:rPr>
              <a:t>{{CIVEL_PASSIVO}}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6BDAC6D-5622-E2FC-0F9A-B0C4322B0304}"/>
              </a:ext>
            </a:extLst>
          </p:cNvPr>
          <p:cNvSpPr txBox="1"/>
          <p:nvPr/>
        </p:nvSpPr>
        <p:spPr>
          <a:xfrm>
            <a:off x="4027126" y="1777322"/>
            <a:ext cx="599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101F2E"/>
                </a:solidFill>
              </a:rPr>
              <a:t>{{CIVEL_ATIVOS}}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6A0BD30F-01E0-916E-44D1-11B42F336305}"/>
              </a:ext>
            </a:extLst>
          </p:cNvPr>
          <p:cNvSpPr txBox="1"/>
          <p:nvPr/>
        </p:nvSpPr>
        <p:spPr>
          <a:xfrm>
            <a:off x="4962009" y="1784136"/>
            <a:ext cx="599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101F2E"/>
                </a:solidFill>
              </a:rPr>
              <a:t>{{CIVEL_SUSPENSOS}}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FAD49B1-1201-E6FE-FBFD-40435768D43F}"/>
              </a:ext>
            </a:extLst>
          </p:cNvPr>
          <p:cNvSpPr txBox="1"/>
          <p:nvPr/>
        </p:nvSpPr>
        <p:spPr>
          <a:xfrm>
            <a:off x="3910775" y="1604413"/>
            <a:ext cx="8463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>
                <a:solidFill>
                  <a:srgbClr val="101F2E"/>
                </a:solidFill>
              </a:rPr>
              <a:t>Ativos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0448888-190D-03EB-8CFC-60F20525447E}"/>
              </a:ext>
            </a:extLst>
          </p:cNvPr>
          <p:cNvSpPr txBox="1"/>
          <p:nvPr/>
        </p:nvSpPr>
        <p:spPr>
          <a:xfrm>
            <a:off x="4773555" y="1612731"/>
            <a:ext cx="9975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solidFill>
                  <a:srgbClr val="101F2E"/>
                </a:solidFill>
              </a:rPr>
              <a:t>Suspenso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2C5EACAC-BDEE-2A50-CC03-AE2B90E4D8EC}"/>
              </a:ext>
            </a:extLst>
          </p:cNvPr>
          <p:cNvSpPr/>
          <p:nvPr/>
        </p:nvSpPr>
        <p:spPr>
          <a:xfrm>
            <a:off x="3882921" y="1599445"/>
            <a:ext cx="879987" cy="537808"/>
          </a:xfrm>
          <a:prstGeom prst="roundRect">
            <a:avLst/>
          </a:prstGeom>
          <a:noFill/>
          <a:ln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DF394586-B06D-8CB2-7C2E-7D8E081EC6A2}"/>
              </a:ext>
            </a:extLst>
          </p:cNvPr>
          <p:cNvSpPr/>
          <p:nvPr/>
        </p:nvSpPr>
        <p:spPr>
          <a:xfrm>
            <a:off x="4846075" y="1593848"/>
            <a:ext cx="879987" cy="537808"/>
          </a:xfrm>
          <a:prstGeom prst="roundRect">
            <a:avLst/>
          </a:prstGeom>
          <a:noFill/>
          <a:ln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83D3EACA-982A-B331-D64E-F092DAC040CA}"/>
              </a:ext>
            </a:extLst>
          </p:cNvPr>
          <p:cNvSpPr txBox="1"/>
          <p:nvPr/>
        </p:nvSpPr>
        <p:spPr>
          <a:xfrm>
            <a:off x="6055032" y="1696957"/>
            <a:ext cx="15492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rgbClr val="101F2E"/>
                </a:solidFill>
              </a:rPr>
              <a:t>Média valor de causa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A14DA7A-9C31-F140-0205-86078EFF9AA6}"/>
              </a:ext>
            </a:extLst>
          </p:cNvPr>
          <p:cNvSpPr txBox="1"/>
          <p:nvPr/>
        </p:nvSpPr>
        <p:spPr>
          <a:xfrm>
            <a:off x="7904419" y="1675234"/>
            <a:ext cx="894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>
                <a:solidFill>
                  <a:srgbClr val="101F2E"/>
                </a:solidFill>
              </a:rPr>
              <a:t>Maior valor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598E0DBE-A2FB-A3ED-6E45-94681F52A321}"/>
              </a:ext>
            </a:extLst>
          </p:cNvPr>
          <p:cNvCxnSpPr>
            <a:cxnSpLocks/>
          </p:cNvCxnSpPr>
          <p:nvPr/>
        </p:nvCxnSpPr>
        <p:spPr>
          <a:xfrm>
            <a:off x="7579728" y="1612731"/>
            <a:ext cx="0" cy="456511"/>
          </a:xfrm>
          <a:prstGeom prst="line">
            <a:avLst/>
          </a:prstGeom>
          <a:ln>
            <a:solidFill>
              <a:srgbClr val="D5B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DAAB1C37-1D55-33A8-E8EE-4BE300336638}"/>
              </a:ext>
            </a:extLst>
          </p:cNvPr>
          <p:cNvSpPr txBox="1"/>
          <p:nvPr/>
        </p:nvSpPr>
        <p:spPr>
          <a:xfrm>
            <a:off x="6073877" y="1849429"/>
            <a:ext cx="1515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101F2E"/>
                </a:solidFill>
              </a:rPr>
              <a:t>{{CIVEL_MEDIA}}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77A40C1F-A836-5C76-A084-721F2C26AADD}"/>
              </a:ext>
            </a:extLst>
          </p:cNvPr>
          <p:cNvSpPr txBox="1"/>
          <p:nvPr/>
        </p:nvSpPr>
        <p:spPr>
          <a:xfrm>
            <a:off x="7537888" y="1871186"/>
            <a:ext cx="1579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101F2E"/>
                </a:solidFill>
              </a:rPr>
              <a:t>{{CIVEL_MAIOR}}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E1ED050-7E52-22A5-3F30-561C31361D0E}"/>
              </a:ext>
            </a:extLst>
          </p:cNvPr>
          <p:cNvSpPr txBox="1"/>
          <p:nvPr/>
        </p:nvSpPr>
        <p:spPr>
          <a:xfrm>
            <a:off x="9922789" y="1920599"/>
            <a:ext cx="409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101F2E"/>
                </a:solidFill>
              </a:rPr>
              <a:t>{{CIVEL_REGIAO_1_QTD}}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DE832FA-E101-493B-6D3F-57ED447F9EB0}"/>
              </a:ext>
            </a:extLst>
          </p:cNvPr>
          <p:cNvSpPr txBox="1"/>
          <p:nvPr/>
        </p:nvSpPr>
        <p:spPr>
          <a:xfrm>
            <a:off x="10994952" y="1920599"/>
            <a:ext cx="409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101F2E"/>
                </a:solidFill>
              </a:rPr>
              <a:t>{{CIVEL_REGIAO_2_QTD}}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7DCFD7EF-D9F7-4792-539C-1F69F2196CDA}"/>
              </a:ext>
            </a:extLst>
          </p:cNvPr>
          <p:cNvSpPr txBox="1"/>
          <p:nvPr/>
        </p:nvSpPr>
        <p:spPr>
          <a:xfrm>
            <a:off x="9879245" y="1770712"/>
            <a:ext cx="4939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rgbClr val="101F2E"/>
                </a:solidFill>
              </a:rPr>
              <a:t>{{CIVEL_REGIAO_1}}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15F27B7-E7C8-FE8C-2A31-468A31587698}"/>
              </a:ext>
            </a:extLst>
          </p:cNvPr>
          <p:cNvSpPr txBox="1"/>
          <p:nvPr/>
        </p:nvSpPr>
        <p:spPr>
          <a:xfrm>
            <a:off x="10795000" y="1770712"/>
            <a:ext cx="8128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100" dirty="0">
                <a:solidFill>
                  <a:srgbClr val="101F2E"/>
                </a:solidFill>
              </a:rPr>
              <a:t>{{CIVEL_REGIAO_2}}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CF89854D-1450-DBD3-AFD0-BBA1EED1467A}"/>
              </a:ext>
            </a:extLst>
          </p:cNvPr>
          <p:cNvSpPr/>
          <p:nvPr/>
        </p:nvSpPr>
        <p:spPr>
          <a:xfrm>
            <a:off x="157317" y="2317954"/>
            <a:ext cx="3725604" cy="3462323"/>
          </a:xfrm>
          <a:prstGeom prst="roundRect">
            <a:avLst>
              <a:gd name="adj" fmla="val 9038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8D0357B4-8FAE-1563-0E9C-2A9EFE8E8982}"/>
              </a:ext>
            </a:extLst>
          </p:cNvPr>
          <p:cNvSpPr/>
          <p:nvPr/>
        </p:nvSpPr>
        <p:spPr>
          <a:xfrm>
            <a:off x="235974" y="2403745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1573D5A0-6BE5-F1EC-B9F1-FBF6F94D2858}"/>
              </a:ext>
            </a:extLst>
          </p:cNvPr>
          <p:cNvSpPr/>
          <p:nvPr/>
        </p:nvSpPr>
        <p:spPr>
          <a:xfrm>
            <a:off x="3961578" y="2332365"/>
            <a:ext cx="4041880" cy="3447911"/>
          </a:xfrm>
          <a:prstGeom prst="roundRect">
            <a:avLst>
              <a:gd name="adj" fmla="val 9038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AAC32B42-564E-CD80-5BBF-144DF2B831F7}"/>
              </a:ext>
            </a:extLst>
          </p:cNvPr>
          <p:cNvSpPr/>
          <p:nvPr/>
        </p:nvSpPr>
        <p:spPr>
          <a:xfrm>
            <a:off x="4040241" y="2403745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138F37B0-4AC0-E8DB-2973-0E68A6535B41}"/>
              </a:ext>
            </a:extLst>
          </p:cNvPr>
          <p:cNvSpPr/>
          <p:nvPr/>
        </p:nvSpPr>
        <p:spPr>
          <a:xfrm>
            <a:off x="8087902" y="2358768"/>
            <a:ext cx="3946781" cy="3421507"/>
          </a:xfrm>
          <a:prstGeom prst="roundRect">
            <a:avLst>
              <a:gd name="adj" fmla="val 9038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01" name="Retângulo: Cantos Arredondados 100">
            <a:extLst>
              <a:ext uri="{FF2B5EF4-FFF2-40B4-BE49-F238E27FC236}">
                <a16:creationId xmlns:a16="http://schemas.microsoft.com/office/drawing/2014/main" id="{A7113C29-E96F-9635-CD60-BFE119E23F08}"/>
              </a:ext>
            </a:extLst>
          </p:cNvPr>
          <p:cNvSpPr/>
          <p:nvPr/>
        </p:nvSpPr>
        <p:spPr>
          <a:xfrm>
            <a:off x="157317" y="5906694"/>
            <a:ext cx="11877366" cy="791313"/>
          </a:xfrm>
          <a:prstGeom prst="roundRect">
            <a:avLst>
              <a:gd name="adj" fmla="val 18978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CD1F5952-E37D-387C-E96A-2B0DE77B4427}"/>
              </a:ext>
            </a:extLst>
          </p:cNvPr>
          <p:cNvSpPr/>
          <p:nvPr/>
        </p:nvSpPr>
        <p:spPr>
          <a:xfrm>
            <a:off x="233364" y="6002466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CDBD625D-EEA0-78A2-65B8-EB7392B4BEAF}"/>
              </a:ext>
            </a:extLst>
          </p:cNvPr>
          <p:cNvSpPr txBox="1"/>
          <p:nvPr/>
        </p:nvSpPr>
        <p:spPr>
          <a:xfrm>
            <a:off x="863325" y="2537298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FASE PROCESSUAL</a:t>
            </a:r>
          </a:p>
        </p:txBody>
      </p:sp>
      <p:sp>
        <p:nvSpPr>
          <p:cNvPr id="107" name="CIVEL_FASE_1_BARRA">
            <a:extLst>
              <a:ext uri="{FF2B5EF4-FFF2-40B4-BE49-F238E27FC236}">
                <a16:creationId xmlns:a16="http://schemas.microsoft.com/office/drawing/2014/main" id="{DC516EFF-3492-5E54-104E-656827F3D869}"/>
              </a:ext>
            </a:extLst>
          </p:cNvPr>
          <p:cNvSpPr/>
          <p:nvPr/>
        </p:nvSpPr>
        <p:spPr>
          <a:xfrm>
            <a:off x="775650" y="3089577"/>
            <a:ext cx="2557213" cy="166419"/>
          </a:xfrm>
          <a:prstGeom prst="roundRect">
            <a:avLst>
              <a:gd name="adj" fmla="val 50000"/>
            </a:avLst>
          </a:prstGeom>
          <a:solidFill>
            <a:schemeClr val="tx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06" name="CIVEL_FASE_1_PONTO">
            <a:extLst>
              <a:ext uri="{FF2B5EF4-FFF2-40B4-BE49-F238E27FC236}">
                <a16:creationId xmlns:a16="http://schemas.microsoft.com/office/drawing/2014/main" id="{414B00FD-734F-65FE-2CBA-CA9B1DBDE42D}"/>
              </a:ext>
            </a:extLst>
          </p:cNvPr>
          <p:cNvSpPr/>
          <p:nvPr/>
        </p:nvSpPr>
        <p:spPr>
          <a:xfrm>
            <a:off x="723481" y="3089577"/>
            <a:ext cx="166419" cy="166419"/>
          </a:xfrm>
          <a:prstGeom prst="ellipse">
            <a:avLst/>
          </a:prstGeom>
          <a:solidFill>
            <a:srgbClr val="10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09" name="CIVEL_FASE_1_NOME">
            <a:extLst>
              <a:ext uri="{FF2B5EF4-FFF2-40B4-BE49-F238E27FC236}">
                <a16:creationId xmlns:a16="http://schemas.microsoft.com/office/drawing/2014/main" id="{8D296AE5-2EB9-D0E2-AE03-027538A5BE44}"/>
              </a:ext>
            </a:extLst>
          </p:cNvPr>
          <p:cNvSpPr txBox="1"/>
          <p:nvPr/>
        </p:nvSpPr>
        <p:spPr>
          <a:xfrm>
            <a:off x="863325" y="3034286"/>
            <a:ext cx="1576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{{CIVEL_FASE_1}}</a:t>
            </a:r>
          </a:p>
        </p:txBody>
      </p:sp>
      <p:sp>
        <p:nvSpPr>
          <p:cNvPr id="111" name="CIVEL_FASE_1_QTD">
            <a:extLst>
              <a:ext uri="{FF2B5EF4-FFF2-40B4-BE49-F238E27FC236}">
                <a16:creationId xmlns:a16="http://schemas.microsoft.com/office/drawing/2014/main" id="{CB59C706-BA49-D61A-769D-3BDC1E9BF80C}"/>
              </a:ext>
            </a:extLst>
          </p:cNvPr>
          <p:cNvSpPr txBox="1"/>
          <p:nvPr/>
        </p:nvSpPr>
        <p:spPr>
          <a:xfrm>
            <a:off x="872392" y="3251930"/>
            <a:ext cx="1576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Processos: </a:t>
            </a:r>
            <a:r>
              <a:rPr lang="pt-BR" sz="1200" dirty="0">
                <a:solidFill>
                  <a:srgbClr val="101F2E"/>
                </a:solidFill>
              </a:rPr>
              <a:t>{{CIVEL_FASE_1_QTD}}</a:t>
            </a:r>
          </a:p>
        </p:txBody>
      </p:sp>
      <p:sp>
        <p:nvSpPr>
          <p:cNvPr id="113" name="CIVEL_FASE_1_VALOR">
            <a:extLst>
              <a:ext uri="{FF2B5EF4-FFF2-40B4-BE49-F238E27FC236}">
                <a16:creationId xmlns:a16="http://schemas.microsoft.com/office/drawing/2014/main" id="{20D68B27-D92B-C41B-C46D-AC3FB4489630}"/>
              </a:ext>
            </a:extLst>
          </p:cNvPr>
          <p:cNvSpPr txBox="1"/>
          <p:nvPr/>
        </p:nvSpPr>
        <p:spPr>
          <a:xfrm>
            <a:off x="872391" y="3440989"/>
            <a:ext cx="2557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Valor envolvido: </a:t>
            </a:r>
            <a:r>
              <a:rPr lang="pt-BR" sz="1200" dirty="0">
                <a:solidFill>
                  <a:srgbClr val="101F2E"/>
                </a:solidFill>
              </a:rPr>
              <a:t>{{CIVEL_FASE_1_VALOR}}</a:t>
            </a:r>
          </a:p>
        </p:txBody>
      </p:sp>
      <p:sp>
        <p:nvSpPr>
          <p:cNvPr id="115" name="CIVEL_FASE_2_BARRA">
            <a:extLst>
              <a:ext uri="{FF2B5EF4-FFF2-40B4-BE49-F238E27FC236}">
                <a16:creationId xmlns:a16="http://schemas.microsoft.com/office/drawing/2014/main" id="{E56A90B8-9CBF-1450-6C28-2F000402510B}"/>
              </a:ext>
            </a:extLst>
          </p:cNvPr>
          <p:cNvSpPr/>
          <p:nvPr/>
        </p:nvSpPr>
        <p:spPr>
          <a:xfrm>
            <a:off x="775650" y="4391383"/>
            <a:ext cx="2557213" cy="166419"/>
          </a:xfrm>
          <a:prstGeom prst="roundRect">
            <a:avLst>
              <a:gd name="adj" fmla="val 50000"/>
            </a:avLst>
          </a:prstGeom>
          <a:solidFill>
            <a:schemeClr val="tx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19" name="CIVEL_FASE_2_NOME">
            <a:extLst>
              <a:ext uri="{FF2B5EF4-FFF2-40B4-BE49-F238E27FC236}">
                <a16:creationId xmlns:a16="http://schemas.microsoft.com/office/drawing/2014/main" id="{71E1AC17-639F-A36D-6B4D-F749ECB24EA6}"/>
              </a:ext>
            </a:extLst>
          </p:cNvPr>
          <p:cNvSpPr txBox="1"/>
          <p:nvPr/>
        </p:nvSpPr>
        <p:spPr>
          <a:xfrm>
            <a:off x="863325" y="4336092"/>
            <a:ext cx="1576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{{CIVEL_FASE_2}}</a:t>
            </a:r>
          </a:p>
        </p:txBody>
      </p:sp>
      <p:sp>
        <p:nvSpPr>
          <p:cNvPr id="121" name="CIVEL_FASE_2_QTD">
            <a:extLst>
              <a:ext uri="{FF2B5EF4-FFF2-40B4-BE49-F238E27FC236}">
                <a16:creationId xmlns:a16="http://schemas.microsoft.com/office/drawing/2014/main" id="{F8EF6031-7C1C-FF39-F13A-98A1CC742AB0}"/>
              </a:ext>
            </a:extLst>
          </p:cNvPr>
          <p:cNvSpPr txBox="1"/>
          <p:nvPr/>
        </p:nvSpPr>
        <p:spPr>
          <a:xfrm>
            <a:off x="863325" y="4553736"/>
            <a:ext cx="1576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Processos: </a:t>
            </a:r>
            <a:r>
              <a:rPr lang="pt-BR" sz="1200" dirty="0">
                <a:solidFill>
                  <a:srgbClr val="101F2E"/>
                </a:solidFill>
              </a:rPr>
              <a:t>{{CIVEL_FASE_2_QTD}}</a:t>
            </a:r>
          </a:p>
        </p:txBody>
      </p:sp>
      <p:sp>
        <p:nvSpPr>
          <p:cNvPr id="123" name="CIVEL_FASE_2_VALOR">
            <a:extLst>
              <a:ext uri="{FF2B5EF4-FFF2-40B4-BE49-F238E27FC236}">
                <a16:creationId xmlns:a16="http://schemas.microsoft.com/office/drawing/2014/main" id="{717F528F-A111-13B6-5A72-A6D4F0802E98}"/>
              </a:ext>
            </a:extLst>
          </p:cNvPr>
          <p:cNvSpPr txBox="1"/>
          <p:nvPr/>
        </p:nvSpPr>
        <p:spPr>
          <a:xfrm>
            <a:off x="863324" y="4742795"/>
            <a:ext cx="2641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Valor envolvido: </a:t>
            </a:r>
            <a:r>
              <a:rPr lang="pt-BR" sz="1200" dirty="0">
                <a:solidFill>
                  <a:srgbClr val="101F2E"/>
                </a:solidFill>
              </a:rPr>
              <a:t>{{CIVEL_FASE_2_VALOR}}</a:t>
            </a:r>
          </a:p>
        </p:txBody>
      </p:sp>
      <p:sp>
        <p:nvSpPr>
          <p:cNvPr id="127" name="CIVEL_FASE_2_PONTO">
            <a:extLst>
              <a:ext uri="{FF2B5EF4-FFF2-40B4-BE49-F238E27FC236}">
                <a16:creationId xmlns:a16="http://schemas.microsoft.com/office/drawing/2014/main" id="{3D1796FE-5A2B-24A6-6B95-549E83DB1955}"/>
              </a:ext>
            </a:extLst>
          </p:cNvPr>
          <p:cNvSpPr/>
          <p:nvPr/>
        </p:nvSpPr>
        <p:spPr>
          <a:xfrm>
            <a:off x="728096" y="4387836"/>
            <a:ext cx="166419" cy="166419"/>
          </a:xfrm>
          <a:prstGeom prst="ellipse">
            <a:avLst/>
          </a:prstGeom>
          <a:solidFill>
            <a:srgbClr val="10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cxnSp>
        <p:nvCxnSpPr>
          <p:cNvPr id="147" name="CIVEL_FASE_1_CONECTOR">
            <a:extLst>
              <a:ext uri="{FF2B5EF4-FFF2-40B4-BE49-F238E27FC236}">
                <a16:creationId xmlns:a16="http://schemas.microsoft.com/office/drawing/2014/main" id="{558590BB-6AE1-E528-E9A2-36EAA494084C}"/>
              </a:ext>
            </a:extLst>
          </p:cNvPr>
          <p:cNvCxnSpPr>
            <a:cxnSpLocks/>
          </p:cNvCxnSpPr>
          <p:nvPr/>
        </p:nvCxnSpPr>
        <p:spPr>
          <a:xfrm>
            <a:off x="411974" y="3175492"/>
            <a:ext cx="396951" cy="0"/>
          </a:xfrm>
          <a:prstGeom prst="line">
            <a:avLst/>
          </a:prstGeom>
          <a:ln w="19050" cap="flat" cmpd="sng" algn="ctr">
            <a:solidFill>
              <a:srgbClr val="101F2E">
                <a:alpha val="36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CIVEL_FASE_2_CONECTOR">
            <a:extLst>
              <a:ext uri="{FF2B5EF4-FFF2-40B4-BE49-F238E27FC236}">
                <a16:creationId xmlns:a16="http://schemas.microsoft.com/office/drawing/2014/main" id="{F76F0003-8621-7BD2-97A7-6E41E39AD25A}"/>
              </a:ext>
            </a:extLst>
          </p:cNvPr>
          <p:cNvCxnSpPr>
            <a:cxnSpLocks/>
          </p:cNvCxnSpPr>
          <p:nvPr/>
        </p:nvCxnSpPr>
        <p:spPr>
          <a:xfrm>
            <a:off x="411974" y="4474592"/>
            <a:ext cx="396951" cy="0"/>
          </a:xfrm>
          <a:prstGeom prst="line">
            <a:avLst/>
          </a:prstGeom>
          <a:ln w="19050" cap="flat" cmpd="sng" algn="ctr">
            <a:solidFill>
              <a:srgbClr val="101F2E">
                <a:alpha val="36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2" name="CIVEL_FASE_LINHA">
            <a:extLst>
              <a:ext uri="{FF2B5EF4-FFF2-40B4-BE49-F238E27FC236}">
                <a16:creationId xmlns:a16="http://schemas.microsoft.com/office/drawing/2014/main" id="{91A5B3A8-BAAF-655B-DD14-073220F4E553}"/>
              </a:ext>
            </a:extLst>
          </p:cNvPr>
          <p:cNvCxnSpPr>
            <a:cxnSpLocks/>
          </p:cNvCxnSpPr>
          <p:nvPr/>
        </p:nvCxnSpPr>
        <p:spPr>
          <a:xfrm>
            <a:off x="411974" y="3175492"/>
            <a:ext cx="0" cy="1299100"/>
          </a:xfrm>
          <a:prstGeom prst="line">
            <a:avLst/>
          </a:prstGeom>
          <a:ln w="19050" cap="flat" cmpd="sng" algn="ctr">
            <a:solidFill>
              <a:srgbClr val="101F2E">
                <a:alpha val="36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6" name="CaixaDeTexto 155">
            <a:extLst>
              <a:ext uri="{FF2B5EF4-FFF2-40B4-BE49-F238E27FC236}">
                <a16:creationId xmlns:a16="http://schemas.microsoft.com/office/drawing/2014/main" id="{2D625657-B9CF-187F-A499-E6F80ABABBE6}"/>
              </a:ext>
            </a:extLst>
          </p:cNvPr>
          <p:cNvSpPr txBox="1"/>
          <p:nvPr/>
        </p:nvSpPr>
        <p:spPr>
          <a:xfrm>
            <a:off x="4677285" y="2537298"/>
            <a:ext cx="3047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SÓCIO NO POLO PASSIVO</a:t>
            </a:r>
          </a:p>
        </p:txBody>
      </p:sp>
      <p:sp>
        <p:nvSpPr>
          <p:cNvPr id="175" name="CaixaDeTexto 174">
            <a:extLst>
              <a:ext uri="{FF2B5EF4-FFF2-40B4-BE49-F238E27FC236}">
                <a16:creationId xmlns:a16="http://schemas.microsoft.com/office/drawing/2014/main" id="{D47DC174-7ABA-4172-EB5F-ED84CF36A2F3}"/>
              </a:ext>
            </a:extLst>
          </p:cNvPr>
          <p:cNvSpPr txBox="1"/>
          <p:nvPr/>
        </p:nvSpPr>
        <p:spPr>
          <a:xfrm>
            <a:off x="925492" y="6186956"/>
            <a:ext cx="1690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LEITURA EXECUTIVA</a:t>
            </a:r>
          </a:p>
        </p:txBody>
      </p:sp>
      <p:cxnSp>
        <p:nvCxnSpPr>
          <p:cNvPr id="176" name="Conector reto 175">
            <a:extLst>
              <a:ext uri="{FF2B5EF4-FFF2-40B4-BE49-F238E27FC236}">
                <a16:creationId xmlns:a16="http://schemas.microsoft.com/office/drawing/2014/main" id="{2AE9D5FD-231D-00EF-B1FE-7394B810DAB6}"/>
              </a:ext>
            </a:extLst>
          </p:cNvPr>
          <p:cNvCxnSpPr>
            <a:cxnSpLocks/>
          </p:cNvCxnSpPr>
          <p:nvPr/>
        </p:nvCxnSpPr>
        <p:spPr>
          <a:xfrm>
            <a:off x="2853904" y="6074094"/>
            <a:ext cx="0" cy="456511"/>
          </a:xfrm>
          <a:prstGeom prst="line">
            <a:avLst/>
          </a:prstGeom>
          <a:ln>
            <a:solidFill>
              <a:srgbClr val="D5B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6C408601-FF6E-FFC1-ABE7-98570FBF227A}"/>
              </a:ext>
            </a:extLst>
          </p:cNvPr>
          <p:cNvSpPr txBox="1"/>
          <p:nvPr/>
        </p:nvSpPr>
        <p:spPr>
          <a:xfrm>
            <a:off x="3067665" y="6071517"/>
            <a:ext cx="8634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101F2E"/>
                </a:solidFill>
              </a:rPr>
              <a:t>{{CIVEL_LEITURA}}</a:t>
            </a:r>
          </a:p>
        </p:txBody>
      </p:sp>
      <p:pic>
        <p:nvPicPr>
          <p:cNvPr id="180" name="Gráfico 179" descr="Pesquisa com preenchimento sólido">
            <a:extLst>
              <a:ext uri="{FF2B5EF4-FFF2-40B4-BE49-F238E27FC236}">
                <a16:creationId xmlns:a16="http://schemas.microsoft.com/office/drawing/2014/main" id="{7A84A487-F70B-AD2C-C1A1-F548AB260D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036" y="6115594"/>
            <a:ext cx="373512" cy="373512"/>
          </a:xfrm>
          <a:prstGeom prst="rect">
            <a:avLst/>
          </a:prstGeom>
        </p:spPr>
      </p:pic>
      <p:pic>
        <p:nvPicPr>
          <p:cNvPr id="182" name="Gráfico 181" descr="Engrenagem única com preenchimento sólido">
            <a:extLst>
              <a:ext uri="{FF2B5EF4-FFF2-40B4-BE49-F238E27FC236}">
                <a16:creationId xmlns:a16="http://schemas.microsoft.com/office/drawing/2014/main" id="{0DFAF29E-CE68-FED1-FDC4-1B3AFE825C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528" y="2405722"/>
            <a:ext cx="586813" cy="586813"/>
          </a:xfrm>
          <a:prstGeom prst="rect">
            <a:avLst/>
          </a:prstGeom>
        </p:spPr>
      </p:pic>
      <p:pic>
        <p:nvPicPr>
          <p:cNvPr id="184" name="Gráfico 183" descr="Documento com preenchimento sólido">
            <a:extLst>
              <a:ext uri="{FF2B5EF4-FFF2-40B4-BE49-F238E27FC236}">
                <a16:creationId xmlns:a16="http://schemas.microsoft.com/office/drawing/2014/main" id="{B02B20BE-0197-9F92-C40F-F1E8CBAFF6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13308" y="1238234"/>
            <a:ext cx="426226" cy="426226"/>
          </a:xfrm>
          <a:prstGeom prst="rect">
            <a:avLst/>
          </a:prstGeom>
        </p:spPr>
      </p:pic>
      <p:pic>
        <p:nvPicPr>
          <p:cNvPr id="188" name="Gráfico 187" descr="Folhinha com preenchimento sólido">
            <a:extLst>
              <a:ext uri="{FF2B5EF4-FFF2-40B4-BE49-F238E27FC236}">
                <a16:creationId xmlns:a16="http://schemas.microsoft.com/office/drawing/2014/main" id="{7FF887E4-139C-A0E5-C111-CE2C4E5994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97567" y="2478282"/>
            <a:ext cx="450694" cy="450694"/>
          </a:xfrm>
          <a:prstGeom prst="rect">
            <a:avLst/>
          </a:prstGeom>
        </p:spPr>
      </p:pic>
      <p:pic>
        <p:nvPicPr>
          <p:cNvPr id="190" name="Gráfico 189" descr="Marcador com preenchimento sólido">
            <a:extLst>
              <a:ext uri="{FF2B5EF4-FFF2-40B4-BE49-F238E27FC236}">
                <a16:creationId xmlns:a16="http://schemas.microsoft.com/office/drawing/2014/main" id="{AAC88D0D-E8F8-AC49-4D43-BF9B3B1FC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13252" y="1146333"/>
            <a:ext cx="666845" cy="637804"/>
          </a:xfrm>
          <a:prstGeom prst="rect">
            <a:avLst/>
          </a:prstGeom>
        </p:spPr>
      </p:pic>
      <p:pic>
        <p:nvPicPr>
          <p:cNvPr id="192" name="Gráfico 191" descr="Sinal com preenchimento sólido">
            <a:extLst>
              <a:ext uri="{FF2B5EF4-FFF2-40B4-BE49-F238E27FC236}">
                <a16:creationId xmlns:a16="http://schemas.microsoft.com/office/drawing/2014/main" id="{7284F7AC-FCAE-4408-FA9E-98A8160EC6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68881" y="1181248"/>
            <a:ext cx="439473" cy="439473"/>
          </a:xfrm>
          <a:prstGeom prst="rect">
            <a:avLst/>
          </a:prstGeom>
        </p:spPr>
      </p:pic>
      <p:pic>
        <p:nvPicPr>
          <p:cNvPr id="194" name="Gráfico 193" descr="Moedas com preenchimento sólido">
            <a:extLst>
              <a:ext uri="{FF2B5EF4-FFF2-40B4-BE49-F238E27FC236}">
                <a16:creationId xmlns:a16="http://schemas.microsoft.com/office/drawing/2014/main" id="{66646BF9-D14C-8871-4D8D-F4CB0BC0B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2896" y="1278232"/>
            <a:ext cx="377911" cy="377911"/>
          </a:xfrm>
          <a:prstGeom prst="rect">
            <a:avLst/>
          </a:prstGeom>
        </p:spPr>
      </p:pic>
      <p:cxnSp>
        <p:nvCxnSpPr>
          <p:cNvPr id="195" name="Conector reto 194">
            <a:extLst>
              <a:ext uri="{FF2B5EF4-FFF2-40B4-BE49-F238E27FC236}">
                <a16:creationId xmlns:a16="http://schemas.microsoft.com/office/drawing/2014/main" id="{6C9F747E-26DE-363B-7DDE-724CCF5EEDAB}"/>
              </a:ext>
            </a:extLst>
          </p:cNvPr>
          <p:cNvCxnSpPr>
            <a:cxnSpLocks/>
          </p:cNvCxnSpPr>
          <p:nvPr/>
        </p:nvCxnSpPr>
        <p:spPr>
          <a:xfrm>
            <a:off x="10646519" y="1865420"/>
            <a:ext cx="0" cy="250742"/>
          </a:xfrm>
          <a:prstGeom prst="line">
            <a:avLst/>
          </a:prstGeom>
          <a:ln>
            <a:solidFill>
              <a:srgbClr val="D5B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IVEL_SOCIO_1_BARRA">
            <a:extLst>
              <a:ext uri="{FF2B5EF4-FFF2-40B4-BE49-F238E27FC236}">
                <a16:creationId xmlns:a16="http://schemas.microsoft.com/office/drawing/2014/main" id="{DD595D1F-5FD2-90A0-DD72-7C79EF0712DC}"/>
              </a:ext>
            </a:extLst>
          </p:cNvPr>
          <p:cNvSpPr/>
          <p:nvPr/>
        </p:nvSpPr>
        <p:spPr>
          <a:xfrm>
            <a:off x="4626894" y="3262581"/>
            <a:ext cx="2557213" cy="166419"/>
          </a:xfrm>
          <a:prstGeom prst="roundRect">
            <a:avLst>
              <a:gd name="adj" fmla="val 50000"/>
            </a:avLst>
          </a:prstGeom>
          <a:solidFill>
            <a:schemeClr val="tx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2" name="CIVEL_SOCIO_1_PONTO">
            <a:extLst>
              <a:ext uri="{FF2B5EF4-FFF2-40B4-BE49-F238E27FC236}">
                <a16:creationId xmlns:a16="http://schemas.microsoft.com/office/drawing/2014/main" id="{2E485D14-1184-751A-A448-DD9E42E9AD68}"/>
              </a:ext>
            </a:extLst>
          </p:cNvPr>
          <p:cNvSpPr/>
          <p:nvPr/>
        </p:nvSpPr>
        <p:spPr>
          <a:xfrm>
            <a:off x="4574725" y="3262581"/>
            <a:ext cx="166419" cy="166419"/>
          </a:xfrm>
          <a:prstGeom prst="ellipse">
            <a:avLst/>
          </a:prstGeom>
          <a:solidFill>
            <a:srgbClr val="10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4" name="CIVEL_SOCIO_1_NOME">
            <a:extLst>
              <a:ext uri="{FF2B5EF4-FFF2-40B4-BE49-F238E27FC236}">
                <a16:creationId xmlns:a16="http://schemas.microsoft.com/office/drawing/2014/main" id="{093AE847-BB09-46E0-5535-236DA64A3523}"/>
              </a:ext>
            </a:extLst>
          </p:cNvPr>
          <p:cNvSpPr txBox="1"/>
          <p:nvPr/>
        </p:nvSpPr>
        <p:spPr>
          <a:xfrm>
            <a:off x="4714569" y="3207290"/>
            <a:ext cx="1576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{{CIVEL_SOCIO_1}}</a:t>
            </a:r>
          </a:p>
        </p:txBody>
      </p:sp>
      <p:sp>
        <p:nvSpPr>
          <p:cNvPr id="16" name="CIVEL_SOCIO_1_QTD">
            <a:extLst>
              <a:ext uri="{FF2B5EF4-FFF2-40B4-BE49-F238E27FC236}">
                <a16:creationId xmlns:a16="http://schemas.microsoft.com/office/drawing/2014/main" id="{280A8C51-DED6-EBD8-8DBD-4CC27EC48C10}"/>
              </a:ext>
            </a:extLst>
          </p:cNvPr>
          <p:cNvSpPr txBox="1"/>
          <p:nvPr/>
        </p:nvSpPr>
        <p:spPr>
          <a:xfrm>
            <a:off x="4714569" y="3424934"/>
            <a:ext cx="1576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Processos: </a:t>
            </a:r>
            <a:r>
              <a:rPr lang="pt-BR" sz="1200" dirty="0">
                <a:solidFill>
                  <a:srgbClr val="101F2E"/>
                </a:solidFill>
              </a:rPr>
              <a:t>{{CIVEL_SOCIO_1_QTD}}</a:t>
            </a:r>
          </a:p>
        </p:txBody>
      </p:sp>
      <p:sp>
        <p:nvSpPr>
          <p:cNvPr id="18" name="CIVEL_SOCIO_1_VALOR">
            <a:extLst>
              <a:ext uri="{FF2B5EF4-FFF2-40B4-BE49-F238E27FC236}">
                <a16:creationId xmlns:a16="http://schemas.microsoft.com/office/drawing/2014/main" id="{13382DC1-6C3B-05E0-4217-F8B10935AFC6}"/>
              </a:ext>
            </a:extLst>
          </p:cNvPr>
          <p:cNvSpPr txBox="1"/>
          <p:nvPr/>
        </p:nvSpPr>
        <p:spPr>
          <a:xfrm>
            <a:off x="4714568" y="3613993"/>
            <a:ext cx="2783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Valor envolvido: </a:t>
            </a:r>
            <a:r>
              <a:rPr lang="pt-BR" sz="1200" dirty="0">
                <a:solidFill>
                  <a:srgbClr val="101F2E"/>
                </a:solidFill>
              </a:rPr>
              <a:t>{{CIVEL_SOCIO_1_VALOR}}</a:t>
            </a:r>
          </a:p>
          <a:p>
            <a:endParaRPr lang="pt-BR" sz="1200" dirty="0">
              <a:solidFill>
                <a:srgbClr val="101F2E"/>
              </a:solidFill>
            </a:endParaRPr>
          </a:p>
        </p:txBody>
      </p:sp>
      <p:cxnSp>
        <p:nvCxnSpPr>
          <p:cNvPr id="30" name="CIVEL_SOCIO_1_CONECTOR">
            <a:extLst>
              <a:ext uri="{FF2B5EF4-FFF2-40B4-BE49-F238E27FC236}">
                <a16:creationId xmlns:a16="http://schemas.microsoft.com/office/drawing/2014/main" id="{A696F308-961B-F7E6-0F58-28693F4C451F}"/>
              </a:ext>
            </a:extLst>
          </p:cNvPr>
          <p:cNvCxnSpPr>
            <a:cxnSpLocks/>
          </p:cNvCxnSpPr>
          <p:nvPr/>
        </p:nvCxnSpPr>
        <p:spPr>
          <a:xfrm>
            <a:off x="4333875" y="3359591"/>
            <a:ext cx="326294" cy="0"/>
          </a:xfrm>
          <a:prstGeom prst="line">
            <a:avLst/>
          </a:prstGeom>
          <a:ln w="19050" cap="flat" cmpd="sng" algn="ctr">
            <a:solidFill>
              <a:srgbClr val="101F2E">
                <a:alpha val="36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52" name="TBL_CIVEL_TOP5">
            <a:extLst>
              <a:ext uri="{FF2B5EF4-FFF2-40B4-BE49-F238E27FC236}">
                <a16:creationId xmlns:a16="http://schemas.microsoft.com/office/drawing/2014/main" id="{AF715C4D-10E0-8471-7A22-D8EB274B367E}"/>
              </a:ext>
            </a:extLst>
          </p:cNvPr>
          <p:cNvGraphicFramePr>
            <a:graphicFrameLocks noGrp="1"/>
          </p:cNvGraphicFramePr>
          <p:nvPr/>
        </p:nvGraphicFramePr>
        <p:xfrm>
          <a:off x="8202811" y="3039634"/>
          <a:ext cx="3724532" cy="2293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4956">
                  <a:extLst>
                    <a:ext uri="{9D8B030D-6E8A-4147-A177-3AD203B41FA5}">
                      <a16:colId xmlns:a16="http://schemas.microsoft.com/office/drawing/2014/main" val="2112361928"/>
                    </a:ext>
                  </a:extLst>
                </a:gridCol>
                <a:gridCol w="1038130">
                  <a:extLst>
                    <a:ext uri="{9D8B030D-6E8A-4147-A177-3AD203B41FA5}">
                      <a16:colId xmlns:a16="http://schemas.microsoft.com/office/drawing/2014/main" val="799103360"/>
                    </a:ext>
                  </a:extLst>
                </a:gridCol>
                <a:gridCol w="1221446">
                  <a:extLst>
                    <a:ext uri="{9D8B030D-6E8A-4147-A177-3AD203B41FA5}">
                      <a16:colId xmlns:a16="http://schemas.microsoft.com/office/drawing/2014/main" val="15456376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900" dirty="0"/>
                        <a:t>{{CIVEL_TOP5_L_PARTE}}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Nº do processo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Valor da causa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595782"/>
                  </a:ext>
                </a:extLst>
              </a:tr>
              <a:tr h="402001">
                <a:tc>
                  <a:txBody>
                    <a:bodyPr/>
                    <a:lstStyle/>
                    <a:p>
                      <a:r>
                        <a:rPr lang="pt-BR" sz="800" dirty="0"/>
                        <a:t>{{row.parte}}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{{row.processo}}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{{row.valor}}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591458"/>
                  </a:ext>
                </a:extLst>
              </a:tr>
            </a:tbl>
          </a:graphicData>
        </a:graphic>
      </p:graphicFrame>
      <p:sp>
        <p:nvSpPr>
          <p:cNvPr id="56" name="CaixaDeTexto 55">
            <a:extLst>
              <a:ext uri="{FF2B5EF4-FFF2-40B4-BE49-F238E27FC236}">
                <a16:creationId xmlns:a16="http://schemas.microsoft.com/office/drawing/2014/main" id="{7063B5B8-4F2B-EB79-1F71-2E8F675206B8}"/>
              </a:ext>
            </a:extLst>
          </p:cNvPr>
          <p:cNvSpPr txBox="1"/>
          <p:nvPr/>
        </p:nvSpPr>
        <p:spPr>
          <a:xfrm>
            <a:off x="8824331" y="2560628"/>
            <a:ext cx="21103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{{CIVEL_TOP5_TITULO}}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0315AAB-E631-CF3E-F02F-2AD600B2F34D}"/>
              </a:ext>
            </a:extLst>
          </p:cNvPr>
          <p:cNvSpPr txBox="1"/>
          <p:nvPr/>
        </p:nvSpPr>
        <p:spPr>
          <a:xfrm>
            <a:off x="8237718" y="5473251"/>
            <a:ext cx="1122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Total dos {{CIVEL_TOP5_N}}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F8F679AD-3E93-FC86-A9DC-70E5A9A8B2F6}"/>
              </a:ext>
            </a:extLst>
          </p:cNvPr>
          <p:cNvSpPr txBox="1"/>
          <p:nvPr/>
        </p:nvSpPr>
        <p:spPr>
          <a:xfrm>
            <a:off x="10604022" y="5473250"/>
            <a:ext cx="1373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{{CIVEL_TOP5_TOTAL}}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486B212-04A3-5D57-E780-4F90E887F795}"/>
              </a:ext>
            </a:extLst>
          </p:cNvPr>
          <p:cNvSpPr/>
          <p:nvPr/>
        </p:nvSpPr>
        <p:spPr>
          <a:xfrm>
            <a:off x="8151592" y="2403745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pic>
        <p:nvPicPr>
          <p:cNvPr id="23" name="Gráfico 22" descr="Dólar com preenchimento sólido">
            <a:extLst>
              <a:ext uri="{FF2B5EF4-FFF2-40B4-BE49-F238E27FC236}">
                <a16:creationId xmlns:a16="http://schemas.microsoft.com/office/drawing/2014/main" id="{D114E6E1-9D1D-4950-CC17-A07D837FA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237493" y="2450450"/>
            <a:ext cx="450694" cy="450694"/>
          </a:xfrm>
          <a:prstGeom prst="rect">
            <a:avLst/>
          </a:prstGeom>
        </p:spPr>
      </p:pic>
      <p:cxnSp>
        <p:nvCxnSpPr>
          <p:cNvPr id="2" name="CIVEL_SOCIO_LINHA">
            <a:extLst>
              <a:ext uri="{FF2B5EF4-FFF2-40B4-BE49-F238E27FC236}">
                <a16:creationId xmlns:a16="http://schemas.microsoft.com/office/drawing/2014/main" id="{A682A377-9FA1-4314-8F97-F8D04A06807D}"/>
              </a:ext>
            </a:extLst>
          </p:cNvPr>
          <p:cNvCxnSpPr>
            <a:cxnSpLocks/>
          </p:cNvCxnSpPr>
          <p:nvPr/>
        </p:nvCxnSpPr>
        <p:spPr>
          <a:xfrm flipH="1" flipV="1">
            <a:off x="4333875" y="3003513"/>
            <a:ext cx="396" cy="356078"/>
          </a:xfrm>
          <a:prstGeom prst="line">
            <a:avLst/>
          </a:prstGeom>
          <a:ln w="19050" cap="flat" cmpd="sng" algn="ctr">
            <a:solidFill>
              <a:srgbClr val="101F2E">
                <a:alpha val="36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6" name="CIVEL_SOCIO_2_BARRA">
            <a:extLst>
              <a:ext uri="{FF2B5EF4-FFF2-40B4-BE49-F238E27FC236}">
                <a16:creationId xmlns:a16="http://schemas.microsoft.com/office/drawing/2014/main" id="{DD595D1F-5FD2-90A0-DD72-7C79EF0712DC}"/>
              </a:ext>
            </a:extLst>
          </p:cNvPr>
          <p:cNvSpPr/>
          <p:nvPr/>
        </p:nvSpPr>
        <p:spPr>
          <a:xfrm>
            <a:off x="4626894" y="4561029"/>
            <a:ext cx="2557213" cy="166419"/>
          </a:xfrm>
          <a:prstGeom prst="roundRect">
            <a:avLst>
              <a:gd name="adj" fmla="val 50000"/>
            </a:avLst>
          </a:prstGeom>
          <a:solidFill>
            <a:schemeClr val="tx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97" name="CIVEL_SOCIO_2_PONTO">
            <a:extLst>
              <a:ext uri="{FF2B5EF4-FFF2-40B4-BE49-F238E27FC236}">
                <a16:creationId xmlns:a16="http://schemas.microsoft.com/office/drawing/2014/main" id="{2E485D14-1184-751A-A448-DD9E42E9AD68}"/>
              </a:ext>
            </a:extLst>
          </p:cNvPr>
          <p:cNvSpPr/>
          <p:nvPr/>
        </p:nvSpPr>
        <p:spPr>
          <a:xfrm>
            <a:off x="4574725" y="4561029"/>
            <a:ext cx="166419" cy="166419"/>
          </a:xfrm>
          <a:prstGeom prst="ellipse">
            <a:avLst/>
          </a:prstGeom>
          <a:solidFill>
            <a:srgbClr val="10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98" name="CIVEL_SOCIO_2_NOME">
            <a:extLst>
              <a:ext uri="{FF2B5EF4-FFF2-40B4-BE49-F238E27FC236}">
                <a16:creationId xmlns:a16="http://schemas.microsoft.com/office/drawing/2014/main" id="{093AE847-BB09-46E0-5535-236DA64A3523}"/>
              </a:ext>
            </a:extLst>
          </p:cNvPr>
          <p:cNvSpPr txBox="1"/>
          <p:nvPr/>
        </p:nvSpPr>
        <p:spPr>
          <a:xfrm>
            <a:off x="4714569" y="4505738"/>
            <a:ext cx="1576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{{CIVEL_SOCIO_1}}</a:t>
            </a:r>
          </a:p>
        </p:txBody>
      </p:sp>
      <p:sp>
        <p:nvSpPr>
          <p:cNvPr id="199" name="CIVEL_SOCIO_2_QTD">
            <a:extLst>
              <a:ext uri="{FF2B5EF4-FFF2-40B4-BE49-F238E27FC236}">
                <a16:creationId xmlns:a16="http://schemas.microsoft.com/office/drawing/2014/main" id="{280A8C51-DED6-EBD8-8DBD-4CC27EC48C10}"/>
              </a:ext>
            </a:extLst>
          </p:cNvPr>
          <p:cNvSpPr txBox="1"/>
          <p:nvPr/>
        </p:nvSpPr>
        <p:spPr>
          <a:xfrm>
            <a:off x="4714569" y="4723382"/>
            <a:ext cx="1576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Processos: </a:t>
            </a:r>
            <a:r>
              <a:rPr lang="pt-BR" sz="1200" dirty="0">
                <a:solidFill>
                  <a:srgbClr val="101F2E"/>
                </a:solidFill>
              </a:rPr>
              <a:t>{{CIVEL_SOCIO_1_QTD}}</a:t>
            </a:r>
          </a:p>
        </p:txBody>
      </p:sp>
      <p:sp>
        <p:nvSpPr>
          <p:cNvPr id="200" name="CIVEL_SOCIO_2_VALOR">
            <a:extLst>
              <a:ext uri="{FF2B5EF4-FFF2-40B4-BE49-F238E27FC236}">
                <a16:creationId xmlns:a16="http://schemas.microsoft.com/office/drawing/2014/main" id="{13382DC1-6C3B-05E0-4217-F8B10935AFC6}"/>
              </a:ext>
            </a:extLst>
          </p:cNvPr>
          <p:cNvSpPr txBox="1"/>
          <p:nvPr/>
        </p:nvSpPr>
        <p:spPr>
          <a:xfrm>
            <a:off x="4714568" y="4912441"/>
            <a:ext cx="2783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Valor envolvido: </a:t>
            </a:r>
            <a:r>
              <a:rPr lang="pt-BR" sz="1200" dirty="0">
                <a:solidFill>
                  <a:srgbClr val="101F2E"/>
                </a:solidFill>
              </a:rPr>
              <a:t>{{CIVEL_SOCIO_1_VALOR}}</a:t>
            </a:r>
          </a:p>
          <a:p>
            <a:endParaRPr lang="pt-BR" sz="1200" dirty="0">
              <a:solidFill>
                <a:srgbClr val="101F2E"/>
              </a:solidFill>
            </a:endParaRPr>
          </a:p>
        </p:txBody>
      </p:sp>
      <p:cxnSp>
        <p:nvCxnSpPr>
          <p:cNvPr id="201" name="CIVEL_SOCIO_2_CONECTOR">
            <a:extLst>
              <a:ext uri="{FF2B5EF4-FFF2-40B4-BE49-F238E27FC236}">
                <a16:creationId xmlns:a16="http://schemas.microsoft.com/office/drawing/2014/main" id="{A696F308-961B-F7E6-0F58-28693F4C451F}"/>
              </a:ext>
            </a:extLst>
          </p:cNvPr>
          <p:cNvCxnSpPr>
            <a:cxnSpLocks/>
          </p:cNvCxnSpPr>
          <p:nvPr/>
        </p:nvCxnSpPr>
        <p:spPr>
          <a:xfrm>
            <a:off x="4333875" y="4658039"/>
            <a:ext cx="326294" cy="0"/>
          </a:xfrm>
          <a:prstGeom prst="line">
            <a:avLst/>
          </a:prstGeom>
          <a:ln w="19050" cap="flat" cmpd="sng" algn="ctr">
            <a:solidFill>
              <a:srgbClr val="101F2E">
                <a:alpha val="36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747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_TRAB_DIVISOR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1C2C79A1-ADC4-E11D-D5D3-3766FA5B7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297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34CC9A3-EC72-1E53-E9A9-E34B48E1321F}"/>
              </a:ext>
            </a:extLst>
          </p:cNvPr>
          <p:cNvSpPr/>
          <p:nvPr/>
        </p:nvSpPr>
        <p:spPr>
          <a:xfrm>
            <a:off x="8082121" y="2340937"/>
            <a:ext cx="4041880" cy="3447911"/>
          </a:xfrm>
          <a:prstGeom prst="roundRect">
            <a:avLst>
              <a:gd name="adj" fmla="val 9038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310AF61-3445-C31F-CE07-D9A3B792944D}"/>
              </a:ext>
            </a:extLst>
          </p:cNvPr>
          <p:cNvSpPr/>
          <p:nvPr/>
        </p:nvSpPr>
        <p:spPr>
          <a:xfrm>
            <a:off x="1398730" y="1022177"/>
            <a:ext cx="2910348" cy="1111045"/>
          </a:xfrm>
          <a:prstGeom prst="roundRect">
            <a:avLst>
              <a:gd name="adj" fmla="val 14012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8557D66-28A1-01F4-1F2E-A28B62100854}"/>
              </a:ext>
            </a:extLst>
          </p:cNvPr>
          <p:cNvSpPr/>
          <p:nvPr/>
        </p:nvSpPr>
        <p:spPr>
          <a:xfrm>
            <a:off x="4388556" y="1022177"/>
            <a:ext cx="2910348" cy="1111045"/>
          </a:xfrm>
          <a:prstGeom prst="roundRect">
            <a:avLst>
              <a:gd name="adj" fmla="val 14012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945FC62A-1353-395A-19D8-6A836B45078F}"/>
              </a:ext>
            </a:extLst>
          </p:cNvPr>
          <p:cNvSpPr/>
          <p:nvPr/>
        </p:nvSpPr>
        <p:spPr>
          <a:xfrm>
            <a:off x="7378382" y="1022177"/>
            <a:ext cx="2910348" cy="1111045"/>
          </a:xfrm>
          <a:prstGeom prst="roundRect">
            <a:avLst>
              <a:gd name="adj" fmla="val 14012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7" name="SLIDE_TRAB_PAINEL">
            <a:extLst>
              <a:ext uri="{FF2B5EF4-FFF2-40B4-BE49-F238E27FC236}">
                <a16:creationId xmlns:a16="http://schemas.microsoft.com/office/drawing/2014/main" id="{7AAEC093-BE20-5B8A-A73E-CF673443059B}"/>
              </a:ext>
            </a:extLst>
          </p:cNvPr>
          <p:cNvSpPr txBox="1"/>
          <p:nvPr/>
        </p:nvSpPr>
        <p:spPr>
          <a:xfrm>
            <a:off x="533248" y="181286"/>
            <a:ext cx="2464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Trabalhista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F5113D8-1A91-6F30-2C2E-90C19EE9E36D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ptos" panose="020B0004020202020204" pitchFamily="34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8A2D1A1-26F8-3472-DBEA-BFEF85DDB866}"/>
              </a:ext>
            </a:extLst>
          </p:cNvPr>
          <p:cNvSpPr/>
          <p:nvPr/>
        </p:nvSpPr>
        <p:spPr>
          <a:xfrm>
            <a:off x="1477387" y="1124326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640D4980-0CF3-9273-CEDD-8A738324E01A}"/>
              </a:ext>
            </a:extLst>
          </p:cNvPr>
          <p:cNvSpPr/>
          <p:nvPr/>
        </p:nvSpPr>
        <p:spPr>
          <a:xfrm>
            <a:off x="4461478" y="1124326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8ED15336-71AC-285C-BC79-A02626E208CF}"/>
              </a:ext>
            </a:extLst>
          </p:cNvPr>
          <p:cNvSpPr/>
          <p:nvPr/>
        </p:nvSpPr>
        <p:spPr>
          <a:xfrm>
            <a:off x="7441470" y="1095918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459C69C-2288-330F-20D5-DE9E8AC59974}"/>
              </a:ext>
            </a:extLst>
          </p:cNvPr>
          <p:cNvSpPr txBox="1"/>
          <p:nvPr/>
        </p:nvSpPr>
        <p:spPr>
          <a:xfrm>
            <a:off x="2140243" y="1216273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POTENCIAL PASSIVO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24311AB-DB98-CEC4-D18A-4250605B6971}"/>
              </a:ext>
            </a:extLst>
          </p:cNvPr>
          <p:cNvSpPr txBox="1"/>
          <p:nvPr/>
        </p:nvSpPr>
        <p:spPr>
          <a:xfrm>
            <a:off x="5065342" y="1216273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SITUAÇÃO PROCESSUAL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68F4F98-7B6B-BA4D-94E3-B7915065DE7F}"/>
              </a:ext>
            </a:extLst>
          </p:cNvPr>
          <p:cNvSpPr txBox="1"/>
          <p:nvPr/>
        </p:nvSpPr>
        <p:spPr>
          <a:xfrm>
            <a:off x="8016656" y="1216273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VALORES DE REFERÊNCIA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51D2E583-634D-82CA-398A-B4EC8189201B}"/>
              </a:ext>
            </a:extLst>
          </p:cNvPr>
          <p:cNvSpPr txBox="1"/>
          <p:nvPr/>
        </p:nvSpPr>
        <p:spPr>
          <a:xfrm>
            <a:off x="2123076" y="1566109"/>
            <a:ext cx="2072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>
                <a:solidFill>
                  <a:srgbClr val="101F2E"/>
                </a:solidFill>
              </a:rPr>
              <a:t>{{TRAB_PASSIVO}}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CE17F33-9336-16B0-6600-EB20E15A6F3A}"/>
              </a:ext>
            </a:extLst>
          </p:cNvPr>
          <p:cNvSpPr txBox="1"/>
          <p:nvPr/>
        </p:nvSpPr>
        <p:spPr>
          <a:xfrm>
            <a:off x="5268539" y="1721777"/>
            <a:ext cx="599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rgbClr val="101F2E"/>
                </a:solidFill>
              </a:rPr>
              <a:t>{{TRAB_ATIVOS}}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03B4E65-0A03-5CC0-1DD7-78BEC4A7A3BA}"/>
              </a:ext>
            </a:extLst>
          </p:cNvPr>
          <p:cNvSpPr txBox="1"/>
          <p:nvPr/>
        </p:nvSpPr>
        <p:spPr>
          <a:xfrm>
            <a:off x="6203422" y="1728591"/>
            <a:ext cx="599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>
                <a:solidFill>
                  <a:srgbClr val="101F2E"/>
                </a:solidFill>
              </a:rPr>
              <a:t>{{TRAB_ARQUIVADOS}}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AA80863-B042-F8B6-DCCF-7B820CE57C0F}"/>
              </a:ext>
            </a:extLst>
          </p:cNvPr>
          <p:cNvSpPr txBox="1"/>
          <p:nvPr/>
        </p:nvSpPr>
        <p:spPr>
          <a:xfrm>
            <a:off x="5152188" y="1548868"/>
            <a:ext cx="8463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>
                <a:solidFill>
                  <a:srgbClr val="101F2E"/>
                </a:solidFill>
              </a:rPr>
              <a:t>Ativos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80A93BB7-6F0E-E693-CCD8-9F132004991A}"/>
              </a:ext>
            </a:extLst>
          </p:cNvPr>
          <p:cNvSpPr txBox="1"/>
          <p:nvPr/>
        </p:nvSpPr>
        <p:spPr>
          <a:xfrm>
            <a:off x="6014968" y="1557186"/>
            <a:ext cx="9975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>
                <a:solidFill>
                  <a:srgbClr val="101F2E"/>
                </a:solidFill>
              </a:rPr>
              <a:t>Arquivados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F44E3409-93A9-A863-FA0A-231B74CAE1A6}"/>
              </a:ext>
            </a:extLst>
          </p:cNvPr>
          <p:cNvSpPr/>
          <p:nvPr/>
        </p:nvSpPr>
        <p:spPr>
          <a:xfrm>
            <a:off x="5124334" y="1543900"/>
            <a:ext cx="879987" cy="537808"/>
          </a:xfrm>
          <a:prstGeom prst="roundRect">
            <a:avLst/>
          </a:prstGeom>
          <a:noFill/>
          <a:ln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1D85823F-34AF-E704-5BD1-940F7F7AB366}"/>
              </a:ext>
            </a:extLst>
          </p:cNvPr>
          <p:cNvSpPr/>
          <p:nvPr/>
        </p:nvSpPr>
        <p:spPr>
          <a:xfrm>
            <a:off x="6087488" y="1538303"/>
            <a:ext cx="879987" cy="537808"/>
          </a:xfrm>
          <a:prstGeom prst="roundRect">
            <a:avLst/>
          </a:prstGeom>
          <a:noFill/>
          <a:ln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5542164-F045-186F-7BA5-74FB7F5D2FCB}"/>
              </a:ext>
            </a:extLst>
          </p:cNvPr>
          <p:cNvSpPr txBox="1"/>
          <p:nvPr/>
        </p:nvSpPr>
        <p:spPr>
          <a:xfrm>
            <a:off x="7296445" y="1641412"/>
            <a:ext cx="15492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>
                <a:solidFill>
                  <a:srgbClr val="101F2E"/>
                </a:solidFill>
              </a:rPr>
              <a:t>Média valor de causa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426D615E-A534-66F6-5B23-5CE72D837555}"/>
              </a:ext>
            </a:extLst>
          </p:cNvPr>
          <p:cNvSpPr txBox="1"/>
          <p:nvPr/>
        </p:nvSpPr>
        <p:spPr>
          <a:xfrm>
            <a:off x="9145832" y="1619689"/>
            <a:ext cx="894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>
                <a:solidFill>
                  <a:srgbClr val="101F2E"/>
                </a:solidFill>
              </a:rPr>
              <a:t>Maior valor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CFD30FB3-05AF-1329-6DB0-EBC2B800A9A3}"/>
              </a:ext>
            </a:extLst>
          </p:cNvPr>
          <p:cNvCxnSpPr>
            <a:cxnSpLocks/>
          </p:cNvCxnSpPr>
          <p:nvPr/>
        </p:nvCxnSpPr>
        <p:spPr>
          <a:xfrm>
            <a:off x="8849716" y="1557186"/>
            <a:ext cx="0" cy="456511"/>
          </a:xfrm>
          <a:prstGeom prst="line">
            <a:avLst/>
          </a:prstGeom>
          <a:ln>
            <a:solidFill>
              <a:srgbClr val="D5B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17446A82-F898-978F-D68A-E7295BD3B558}"/>
              </a:ext>
            </a:extLst>
          </p:cNvPr>
          <p:cNvSpPr txBox="1"/>
          <p:nvPr/>
        </p:nvSpPr>
        <p:spPr>
          <a:xfrm>
            <a:off x="7440590" y="1793884"/>
            <a:ext cx="1298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>
                <a:solidFill>
                  <a:srgbClr val="101F2E"/>
                </a:solidFill>
              </a:rPr>
              <a:t>{{TRAB_MEDIA}}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E056B350-ACF0-1758-847D-0B7E4DB5299C}"/>
              </a:ext>
            </a:extLst>
          </p:cNvPr>
          <p:cNvSpPr txBox="1"/>
          <p:nvPr/>
        </p:nvSpPr>
        <p:spPr>
          <a:xfrm>
            <a:off x="8824701" y="1797060"/>
            <a:ext cx="1456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>
                <a:solidFill>
                  <a:srgbClr val="101F2E"/>
                </a:solidFill>
              </a:rPr>
              <a:t>{{TRAB_MAIOR}}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85F324CB-5996-88E8-5DDD-B4374EEE6741}"/>
              </a:ext>
            </a:extLst>
          </p:cNvPr>
          <p:cNvSpPr/>
          <p:nvPr/>
        </p:nvSpPr>
        <p:spPr>
          <a:xfrm>
            <a:off x="125396" y="2355457"/>
            <a:ext cx="3725604" cy="3462323"/>
          </a:xfrm>
          <a:prstGeom prst="roundRect">
            <a:avLst>
              <a:gd name="adj" fmla="val 9038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A397DDC5-BD98-C5D3-55C8-E22A8BEAB840}"/>
              </a:ext>
            </a:extLst>
          </p:cNvPr>
          <p:cNvSpPr/>
          <p:nvPr/>
        </p:nvSpPr>
        <p:spPr>
          <a:xfrm>
            <a:off x="235974" y="2403745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C4FFB360-4068-F60A-CAB7-35F3DF149C3A}"/>
              </a:ext>
            </a:extLst>
          </p:cNvPr>
          <p:cNvSpPr/>
          <p:nvPr/>
        </p:nvSpPr>
        <p:spPr>
          <a:xfrm>
            <a:off x="3961578" y="2332365"/>
            <a:ext cx="4041880" cy="3447911"/>
          </a:xfrm>
          <a:prstGeom prst="roundRect">
            <a:avLst>
              <a:gd name="adj" fmla="val 9038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95" name="Elipse 94">
            <a:extLst>
              <a:ext uri="{FF2B5EF4-FFF2-40B4-BE49-F238E27FC236}">
                <a16:creationId xmlns:a16="http://schemas.microsoft.com/office/drawing/2014/main" id="{2ABA83C9-9A5F-D214-CC5A-2F3DFE782662}"/>
              </a:ext>
            </a:extLst>
          </p:cNvPr>
          <p:cNvSpPr/>
          <p:nvPr/>
        </p:nvSpPr>
        <p:spPr>
          <a:xfrm>
            <a:off x="4040241" y="2403745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99" name="Elipse 98">
            <a:extLst>
              <a:ext uri="{FF2B5EF4-FFF2-40B4-BE49-F238E27FC236}">
                <a16:creationId xmlns:a16="http://schemas.microsoft.com/office/drawing/2014/main" id="{F6A974BA-8D4D-45AB-96C0-DD3A10421CC1}"/>
              </a:ext>
            </a:extLst>
          </p:cNvPr>
          <p:cNvSpPr/>
          <p:nvPr/>
        </p:nvSpPr>
        <p:spPr>
          <a:xfrm>
            <a:off x="8214035" y="2403745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01" name="Retângulo: Cantos Arredondados 100">
            <a:extLst>
              <a:ext uri="{FF2B5EF4-FFF2-40B4-BE49-F238E27FC236}">
                <a16:creationId xmlns:a16="http://schemas.microsoft.com/office/drawing/2014/main" id="{4A8E2A04-53E4-5D74-8EE4-85C4F4321371}"/>
              </a:ext>
            </a:extLst>
          </p:cNvPr>
          <p:cNvSpPr/>
          <p:nvPr/>
        </p:nvSpPr>
        <p:spPr>
          <a:xfrm>
            <a:off x="157317" y="5906694"/>
            <a:ext cx="11877366" cy="791313"/>
          </a:xfrm>
          <a:prstGeom prst="roundRect">
            <a:avLst>
              <a:gd name="adj" fmla="val 18978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142370F5-AEAF-7BE7-82F6-244FB794CADF}"/>
              </a:ext>
            </a:extLst>
          </p:cNvPr>
          <p:cNvSpPr/>
          <p:nvPr/>
        </p:nvSpPr>
        <p:spPr>
          <a:xfrm>
            <a:off x="233364" y="6002466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0D7FAF20-9EAA-F417-2A97-C36A28E858A8}"/>
              </a:ext>
            </a:extLst>
          </p:cNvPr>
          <p:cNvSpPr txBox="1"/>
          <p:nvPr/>
        </p:nvSpPr>
        <p:spPr>
          <a:xfrm>
            <a:off x="863325" y="2537298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FASE PROCESSUAL</a:t>
            </a:r>
          </a:p>
        </p:txBody>
      </p:sp>
      <p:sp>
        <p:nvSpPr>
          <p:cNvPr id="107" name="TRAB_FASE_1_BARRA">
            <a:extLst>
              <a:ext uri="{FF2B5EF4-FFF2-40B4-BE49-F238E27FC236}">
                <a16:creationId xmlns:a16="http://schemas.microsoft.com/office/drawing/2014/main" id="{3425DE43-E9BD-8DA2-A190-080BA93714EA}"/>
              </a:ext>
            </a:extLst>
          </p:cNvPr>
          <p:cNvSpPr/>
          <p:nvPr/>
        </p:nvSpPr>
        <p:spPr>
          <a:xfrm>
            <a:off x="833132" y="3304987"/>
            <a:ext cx="2557213" cy="166419"/>
          </a:xfrm>
          <a:prstGeom prst="roundRect">
            <a:avLst>
              <a:gd name="adj" fmla="val 50000"/>
            </a:avLst>
          </a:prstGeom>
          <a:solidFill>
            <a:schemeClr val="tx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06" name="TRAB_FASE_1_PONTO">
            <a:extLst>
              <a:ext uri="{FF2B5EF4-FFF2-40B4-BE49-F238E27FC236}">
                <a16:creationId xmlns:a16="http://schemas.microsoft.com/office/drawing/2014/main" id="{93D65363-FE17-42A5-BD3A-595224D656BA}"/>
              </a:ext>
            </a:extLst>
          </p:cNvPr>
          <p:cNvSpPr/>
          <p:nvPr/>
        </p:nvSpPr>
        <p:spPr>
          <a:xfrm>
            <a:off x="780963" y="3304987"/>
            <a:ext cx="166419" cy="166419"/>
          </a:xfrm>
          <a:prstGeom prst="ellipse">
            <a:avLst/>
          </a:prstGeom>
          <a:solidFill>
            <a:srgbClr val="10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09" name="TRAB_FASE_1_NOME">
            <a:extLst>
              <a:ext uri="{FF2B5EF4-FFF2-40B4-BE49-F238E27FC236}">
                <a16:creationId xmlns:a16="http://schemas.microsoft.com/office/drawing/2014/main" id="{91A5FECF-78C0-65E5-A58C-AB0BCEDE3000}"/>
              </a:ext>
            </a:extLst>
          </p:cNvPr>
          <p:cNvSpPr txBox="1"/>
          <p:nvPr/>
        </p:nvSpPr>
        <p:spPr>
          <a:xfrm>
            <a:off x="920807" y="3249696"/>
            <a:ext cx="1576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{{TRAB_FASE_1}}</a:t>
            </a:r>
          </a:p>
        </p:txBody>
      </p:sp>
      <p:sp>
        <p:nvSpPr>
          <p:cNvPr id="111" name="TRAB_FASE_1_QTD">
            <a:extLst>
              <a:ext uri="{FF2B5EF4-FFF2-40B4-BE49-F238E27FC236}">
                <a16:creationId xmlns:a16="http://schemas.microsoft.com/office/drawing/2014/main" id="{6D4EE011-1FB5-59DE-2453-49B15CF6C795}"/>
              </a:ext>
            </a:extLst>
          </p:cNvPr>
          <p:cNvSpPr txBox="1"/>
          <p:nvPr/>
        </p:nvSpPr>
        <p:spPr>
          <a:xfrm>
            <a:off x="929874" y="3467340"/>
            <a:ext cx="1576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Processos: </a:t>
            </a:r>
            <a:r>
              <a:rPr lang="pt-BR" sz="1200">
                <a:solidFill>
                  <a:srgbClr val="101F2E"/>
                </a:solidFill>
              </a:rPr>
              <a:t>{{TRAB_FASE_1_QTD}}</a:t>
            </a:r>
          </a:p>
        </p:txBody>
      </p:sp>
      <p:sp>
        <p:nvSpPr>
          <p:cNvPr id="113" name="TRAB_FASE_1_VALOR">
            <a:extLst>
              <a:ext uri="{FF2B5EF4-FFF2-40B4-BE49-F238E27FC236}">
                <a16:creationId xmlns:a16="http://schemas.microsoft.com/office/drawing/2014/main" id="{FBAB2408-BC9E-EFF8-3867-2752142BB02A}"/>
              </a:ext>
            </a:extLst>
          </p:cNvPr>
          <p:cNvSpPr txBox="1"/>
          <p:nvPr/>
        </p:nvSpPr>
        <p:spPr>
          <a:xfrm>
            <a:off x="929873" y="3656399"/>
            <a:ext cx="2646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Valor envolvido: </a:t>
            </a:r>
            <a:r>
              <a:rPr lang="pt-BR" sz="1200">
                <a:solidFill>
                  <a:srgbClr val="101F2E"/>
                </a:solidFill>
              </a:rPr>
              <a:t>{{TRAB_FASE_1_VALOR}}</a:t>
            </a:r>
          </a:p>
        </p:txBody>
      </p:sp>
      <p:sp>
        <p:nvSpPr>
          <p:cNvPr id="115" name="TRAB_FASE_2_BARRA">
            <a:extLst>
              <a:ext uri="{FF2B5EF4-FFF2-40B4-BE49-F238E27FC236}">
                <a16:creationId xmlns:a16="http://schemas.microsoft.com/office/drawing/2014/main" id="{E777EA84-9711-4C31-7C7C-26CF15426F01}"/>
              </a:ext>
            </a:extLst>
          </p:cNvPr>
          <p:cNvSpPr/>
          <p:nvPr/>
        </p:nvSpPr>
        <p:spPr>
          <a:xfrm>
            <a:off x="833132" y="3946457"/>
            <a:ext cx="2557213" cy="166419"/>
          </a:xfrm>
          <a:prstGeom prst="roundRect">
            <a:avLst>
              <a:gd name="adj" fmla="val 50000"/>
            </a:avLst>
          </a:prstGeom>
          <a:solidFill>
            <a:schemeClr val="tx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17" name="TRAB_FASE_2_PONTO">
            <a:extLst>
              <a:ext uri="{FF2B5EF4-FFF2-40B4-BE49-F238E27FC236}">
                <a16:creationId xmlns:a16="http://schemas.microsoft.com/office/drawing/2014/main" id="{265FDA22-9124-2D56-D274-B4ECCFA684B6}"/>
              </a:ext>
            </a:extLst>
          </p:cNvPr>
          <p:cNvSpPr/>
          <p:nvPr/>
        </p:nvSpPr>
        <p:spPr>
          <a:xfrm>
            <a:off x="780963" y="3946457"/>
            <a:ext cx="166419" cy="166419"/>
          </a:xfrm>
          <a:prstGeom prst="ellipse">
            <a:avLst/>
          </a:prstGeom>
          <a:solidFill>
            <a:srgbClr val="10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19" name="TRAB_FASE_2_NOME">
            <a:extLst>
              <a:ext uri="{FF2B5EF4-FFF2-40B4-BE49-F238E27FC236}">
                <a16:creationId xmlns:a16="http://schemas.microsoft.com/office/drawing/2014/main" id="{6BACD202-C55A-EB45-DFB1-B1BFFE33AEBA}"/>
              </a:ext>
            </a:extLst>
          </p:cNvPr>
          <p:cNvSpPr txBox="1"/>
          <p:nvPr/>
        </p:nvSpPr>
        <p:spPr>
          <a:xfrm>
            <a:off x="920807" y="3891166"/>
            <a:ext cx="1576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{{TRAB_FASE_2}}</a:t>
            </a:r>
          </a:p>
        </p:txBody>
      </p:sp>
      <p:sp>
        <p:nvSpPr>
          <p:cNvPr id="121" name="TRAB_FASE_2_QTD">
            <a:extLst>
              <a:ext uri="{FF2B5EF4-FFF2-40B4-BE49-F238E27FC236}">
                <a16:creationId xmlns:a16="http://schemas.microsoft.com/office/drawing/2014/main" id="{DD421833-23E2-BBFB-A780-10FBB017ABBF}"/>
              </a:ext>
            </a:extLst>
          </p:cNvPr>
          <p:cNvSpPr txBox="1"/>
          <p:nvPr/>
        </p:nvSpPr>
        <p:spPr>
          <a:xfrm>
            <a:off x="920807" y="4108810"/>
            <a:ext cx="1576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Processos: </a:t>
            </a:r>
            <a:r>
              <a:rPr lang="pt-BR" sz="1200">
                <a:solidFill>
                  <a:srgbClr val="101F2E"/>
                </a:solidFill>
              </a:rPr>
              <a:t>{{TRAB_FASE_2_QTD}}</a:t>
            </a:r>
          </a:p>
        </p:txBody>
      </p:sp>
      <p:sp>
        <p:nvSpPr>
          <p:cNvPr id="123" name="TRAB_FASE_2_VALOR">
            <a:extLst>
              <a:ext uri="{FF2B5EF4-FFF2-40B4-BE49-F238E27FC236}">
                <a16:creationId xmlns:a16="http://schemas.microsoft.com/office/drawing/2014/main" id="{7CC849A9-BE08-5195-E19F-5B2E38890399}"/>
              </a:ext>
            </a:extLst>
          </p:cNvPr>
          <p:cNvSpPr txBox="1"/>
          <p:nvPr/>
        </p:nvSpPr>
        <p:spPr>
          <a:xfrm>
            <a:off x="920806" y="4297869"/>
            <a:ext cx="25787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Valor envolvido: </a:t>
            </a:r>
            <a:r>
              <a:rPr lang="pt-BR" sz="1200">
                <a:solidFill>
                  <a:srgbClr val="101F2E"/>
                </a:solidFill>
              </a:rPr>
              <a:t>{{TRAB_FASE_2_VALOR}}</a:t>
            </a:r>
          </a:p>
        </p:txBody>
      </p:sp>
      <p:sp>
        <p:nvSpPr>
          <p:cNvPr id="125" name="TRAB_FASE_3_BARRA">
            <a:extLst>
              <a:ext uri="{FF2B5EF4-FFF2-40B4-BE49-F238E27FC236}">
                <a16:creationId xmlns:a16="http://schemas.microsoft.com/office/drawing/2014/main" id="{59F33563-5667-EC5C-CC15-66CAD52A983A}"/>
              </a:ext>
            </a:extLst>
          </p:cNvPr>
          <p:cNvSpPr/>
          <p:nvPr/>
        </p:nvSpPr>
        <p:spPr>
          <a:xfrm>
            <a:off x="837747" y="4603246"/>
            <a:ext cx="2557213" cy="166419"/>
          </a:xfrm>
          <a:prstGeom prst="roundRect">
            <a:avLst>
              <a:gd name="adj" fmla="val 50000"/>
            </a:avLst>
          </a:prstGeom>
          <a:solidFill>
            <a:schemeClr val="tx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27" name="TRAB_FASE_3_PONTO">
            <a:extLst>
              <a:ext uri="{FF2B5EF4-FFF2-40B4-BE49-F238E27FC236}">
                <a16:creationId xmlns:a16="http://schemas.microsoft.com/office/drawing/2014/main" id="{528CA1E6-845A-2DC0-E244-AE275DCB8655}"/>
              </a:ext>
            </a:extLst>
          </p:cNvPr>
          <p:cNvSpPr/>
          <p:nvPr/>
        </p:nvSpPr>
        <p:spPr>
          <a:xfrm>
            <a:off x="785578" y="4603246"/>
            <a:ext cx="166419" cy="166419"/>
          </a:xfrm>
          <a:prstGeom prst="ellipse">
            <a:avLst/>
          </a:prstGeom>
          <a:solidFill>
            <a:srgbClr val="101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29" name="TRAB_FASE_3_NOME">
            <a:extLst>
              <a:ext uri="{FF2B5EF4-FFF2-40B4-BE49-F238E27FC236}">
                <a16:creationId xmlns:a16="http://schemas.microsoft.com/office/drawing/2014/main" id="{A2615EB6-15C1-033C-1D6A-5064176D08E8}"/>
              </a:ext>
            </a:extLst>
          </p:cNvPr>
          <p:cNvSpPr txBox="1"/>
          <p:nvPr/>
        </p:nvSpPr>
        <p:spPr>
          <a:xfrm>
            <a:off x="925422" y="4547955"/>
            <a:ext cx="1576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{{TRAB_FASE_3}}</a:t>
            </a:r>
          </a:p>
        </p:txBody>
      </p:sp>
      <p:sp>
        <p:nvSpPr>
          <p:cNvPr id="131" name="TRAB_FASE_3_QTD">
            <a:extLst>
              <a:ext uri="{FF2B5EF4-FFF2-40B4-BE49-F238E27FC236}">
                <a16:creationId xmlns:a16="http://schemas.microsoft.com/office/drawing/2014/main" id="{8DA46551-3DCB-1D3F-EBF0-E0EE19E33903}"/>
              </a:ext>
            </a:extLst>
          </p:cNvPr>
          <p:cNvSpPr txBox="1"/>
          <p:nvPr/>
        </p:nvSpPr>
        <p:spPr>
          <a:xfrm>
            <a:off x="920807" y="4800686"/>
            <a:ext cx="1576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Processos: </a:t>
            </a:r>
            <a:r>
              <a:rPr lang="pt-BR" sz="1200">
                <a:solidFill>
                  <a:srgbClr val="101F2E"/>
                </a:solidFill>
              </a:rPr>
              <a:t>{{TRAB_FASE_3_QTD}}</a:t>
            </a:r>
          </a:p>
        </p:txBody>
      </p:sp>
      <p:sp>
        <p:nvSpPr>
          <p:cNvPr id="133" name="TRAB_FASE_3_VALOR">
            <a:extLst>
              <a:ext uri="{FF2B5EF4-FFF2-40B4-BE49-F238E27FC236}">
                <a16:creationId xmlns:a16="http://schemas.microsoft.com/office/drawing/2014/main" id="{1537F11E-B719-2381-569B-45F20DBE3F5D}"/>
              </a:ext>
            </a:extLst>
          </p:cNvPr>
          <p:cNvSpPr txBox="1"/>
          <p:nvPr/>
        </p:nvSpPr>
        <p:spPr>
          <a:xfrm>
            <a:off x="920807" y="4989745"/>
            <a:ext cx="2408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Valor envolvido: </a:t>
            </a:r>
            <a:r>
              <a:rPr lang="pt-BR" sz="1200">
                <a:solidFill>
                  <a:srgbClr val="101F2E"/>
                </a:solidFill>
              </a:rPr>
              <a:t>{{TRAB_FASE_3_VALOR}}</a:t>
            </a:r>
          </a:p>
        </p:txBody>
      </p:sp>
      <p:cxnSp>
        <p:nvCxnSpPr>
          <p:cNvPr id="147" name="TRAB_FASE_1_CONECTOR">
            <a:extLst>
              <a:ext uri="{FF2B5EF4-FFF2-40B4-BE49-F238E27FC236}">
                <a16:creationId xmlns:a16="http://schemas.microsoft.com/office/drawing/2014/main" id="{3EDFD6F0-8843-92A6-53FA-7FA03CBF950E}"/>
              </a:ext>
            </a:extLst>
          </p:cNvPr>
          <p:cNvCxnSpPr>
            <a:cxnSpLocks/>
          </p:cNvCxnSpPr>
          <p:nvPr/>
        </p:nvCxnSpPr>
        <p:spPr>
          <a:xfrm>
            <a:off x="469456" y="3390902"/>
            <a:ext cx="396951" cy="0"/>
          </a:xfrm>
          <a:prstGeom prst="line">
            <a:avLst/>
          </a:prstGeom>
          <a:ln w="19050" cap="flat" cmpd="sng" algn="ctr">
            <a:solidFill>
              <a:srgbClr val="101F2E">
                <a:alpha val="36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TRAB_FASE_2_CONECTOR">
            <a:extLst>
              <a:ext uri="{FF2B5EF4-FFF2-40B4-BE49-F238E27FC236}">
                <a16:creationId xmlns:a16="http://schemas.microsoft.com/office/drawing/2014/main" id="{E06CAE41-F2F9-1E51-E669-BF4C19046B3A}"/>
              </a:ext>
            </a:extLst>
          </p:cNvPr>
          <p:cNvCxnSpPr>
            <a:cxnSpLocks/>
          </p:cNvCxnSpPr>
          <p:nvPr/>
        </p:nvCxnSpPr>
        <p:spPr>
          <a:xfrm>
            <a:off x="469456" y="4031574"/>
            <a:ext cx="396951" cy="0"/>
          </a:xfrm>
          <a:prstGeom prst="line">
            <a:avLst/>
          </a:prstGeom>
          <a:ln w="19050" cap="flat" cmpd="sng" algn="ctr">
            <a:solidFill>
              <a:srgbClr val="101F2E">
                <a:alpha val="36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TRAB_FASE_3_CONECTOR">
            <a:extLst>
              <a:ext uri="{FF2B5EF4-FFF2-40B4-BE49-F238E27FC236}">
                <a16:creationId xmlns:a16="http://schemas.microsoft.com/office/drawing/2014/main" id="{CC492B14-A6A8-758E-C5E3-DEE2A063D0BB}"/>
              </a:ext>
            </a:extLst>
          </p:cNvPr>
          <p:cNvCxnSpPr>
            <a:cxnSpLocks/>
          </p:cNvCxnSpPr>
          <p:nvPr/>
        </p:nvCxnSpPr>
        <p:spPr>
          <a:xfrm>
            <a:off x="469456" y="4690002"/>
            <a:ext cx="396951" cy="0"/>
          </a:xfrm>
          <a:prstGeom prst="line">
            <a:avLst/>
          </a:prstGeom>
          <a:ln w="19050" cap="flat" cmpd="sng" algn="ctr">
            <a:solidFill>
              <a:srgbClr val="101F2E">
                <a:alpha val="36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2" name="TRAB_FASE_LINHA">
            <a:extLst>
              <a:ext uri="{FF2B5EF4-FFF2-40B4-BE49-F238E27FC236}">
                <a16:creationId xmlns:a16="http://schemas.microsoft.com/office/drawing/2014/main" id="{F3F6494C-E798-FB12-B5C6-6D9F04FBCE66}"/>
              </a:ext>
            </a:extLst>
          </p:cNvPr>
          <p:cNvCxnSpPr>
            <a:cxnSpLocks/>
          </p:cNvCxnSpPr>
          <p:nvPr/>
        </p:nvCxnSpPr>
        <p:spPr>
          <a:xfrm>
            <a:off x="469456" y="3390902"/>
            <a:ext cx="0" cy="1295552"/>
          </a:xfrm>
          <a:prstGeom prst="line">
            <a:avLst/>
          </a:prstGeom>
          <a:ln w="19050" cap="flat" cmpd="sng" algn="ctr">
            <a:solidFill>
              <a:srgbClr val="101F2E">
                <a:alpha val="36000"/>
              </a:srgb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6" name="CaixaDeTexto 155">
            <a:extLst>
              <a:ext uri="{FF2B5EF4-FFF2-40B4-BE49-F238E27FC236}">
                <a16:creationId xmlns:a16="http://schemas.microsoft.com/office/drawing/2014/main" id="{749EA37A-E8A5-4E56-2C42-123335FB5DD5}"/>
              </a:ext>
            </a:extLst>
          </p:cNvPr>
          <p:cNvSpPr txBox="1"/>
          <p:nvPr/>
        </p:nvSpPr>
        <p:spPr>
          <a:xfrm>
            <a:off x="4677285" y="2537298"/>
            <a:ext cx="3047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PROCESSOS DISTRIBUÍDOS POR ANO</a:t>
            </a:r>
          </a:p>
        </p:txBody>
      </p:sp>
      <p:sp>
        <p:nvSpPr>
          <p:cNvPr id="160" name="Retângulo: Cantos Arredondados 159">
            <a:extLst>
              <a:ext uri="{FF2B5EF4-FFF2-40B4-BE49-F238E27FC236}">
                <a16:creationId xmlns:a16="http://schemas.microsoft.com/office/drawing/2014/main" id="{89A30C79-7E5F-8439-3D80-BC7756CAF1E7}"/>
              </a:ext>
            </a:extLst>
          </p:cNvPr>
          <p:cNvSpPr/>
          <p:nvPr/>
        </p:nvSpPr>
        <p:spPr>
          <a:xfrm>
            <a:off x="4110944" y="4987872"/>
            <a:ext cx="3763231" cy="673348"/>
          </a:xfrm>
          <a:prstGeom prst="roundRect">
            <a:avLst/>
          </a:prstGeom>
          <a:solidFill>
            <a:srgbClr val="D5B17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D7F86DE7-9D91-F7E8-2E3B-91547978044B}"/>
              </a:ext>
            </a:extLst>
          </p:cNvPr>
          <p:cNvSpPr txBox="1"/>
          <p:nvPr/>
        </p:nvSpPr>
        <p:spPr>
          <a:xfrm>
            <a:off x="4322914" y="5063704"/>
            <a:ext cx="3587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solidFill>
                  <a:srgbClr val="101F2E"/>
                </a:solidFill>
              </a:rPr>
              <a:t>{{TRAB_OBS_ANO}}</a:t>
            </a:r>
          </a:p>
        </p:txBody>
      </p:sp>
      <p:cxnSp>
        <p:nvCxnSpPr>
          <p:cNvPr id="162" name="Conector reto 161">
            <a:extLst>
              <a:ext uri="{FF2B5EF4-FFF2-40B4-BE49-F238E27FC236}">
                <a16:creationId xmlns:a16="http://schemas.microsoft.com/office/drawing/2014/main" id="{FA455A5B-59DB-0BFA-5967-686FDE01DC68}"/>
              </a:ext>
            </a:extLst>
          </p:cNvPr>
          <p:cNvCxnSpPr>
            <a:cxnSpLocks/>
          </p:cNvCxnSpPr>
          <p:nvPr/>
        </p:nvCxnSpPr>
        <p:spPr>
          <a:xfrm>
            <a:off x="4322914" y="5083713"/>
            <a:ext cx="0" cy="456511"/>
          </a:xfrm>
          <a:prstGeom prst="line">
            <a:avLst/>
          </a:prstGeom>
          <a:ln>
            <a:solidFill>
              <a:srgbClr val="D5B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CaixaDeTexto 163">
            <a:extLst>
              <a:ext uri="{FF2B5EF4-FFF2-40B4-BE49-F238E27FC236}">
                <a16:creationId xmlns:a16="http://schemas.microsoft.com/office/drawing/2014/main" id="{225A14CA-196C-0588-E9F6-342AD2E996B2}"/>
              </a:ext>
            </a:extLst>
          </p:cNvPr>
          <p:cNvSpPr txBox="1"/>
          <p:nvPr/>
        </p:nvSpPr>
        <p:spPr>
          <a:xfrm>
            <a:off x="8813803" y="2537298"/>
            <a:ext cx="3047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PEDIDOS POR PROCESSO</a:t>
            </a:r>
          </a:p>
        </p:txBody>
      </p:sp>
      <p:sp>
        <p:nvSpPr>
          <p:cNvPr id="171" name="Retângulo: Cantos Arredondados 170">
            <a:extLst>
              <a:ext uri="{FF2B5EF4-FFF2-40B4-BE49-F238E27FC236}">
                <a16:creationId xmlns:a16="http://schemas.microsoft.com/office/drawing/2014/main" id="{7709F9BF-36C3-B051-DA14-F0622AE73B33}"/>
              </a:ext>
            </a:extLst>
          </p:cNvPr>
          <p:cNvSpPr/>
          <p:nvPr/>
        </p:nvSpPr>
        <p:spPr>
          <a:xfrm>
            <a:off x="8244131" y="4995619"/>
            <a:ext cx="3763231" cy="673348"/>
          </a:xfrm>
          <a:prstGeom prst="roundRect">
            <a:avLst/>
          </a:prstGeom>
          <a:solidFill>
            <a:srgbClr val="D5B17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72" name="CaixaDeTexto 171">
            <a:extLst>
              <a:ext uri="{FF2B5EF4-FFF2-40B4-BE49-F238E27FC236}">
                <a16:creationId xmlns:a16="http://schemas.microsoft.com/office/drawing/2014/main" id="{7C64FB8D-83AC-FAD1-0AFF-5CB2890DA282}"/>
              </a:ext>
            </a:extLst>
          </p:cNvPr>
          <p:cNvSpPr txBox="1"/>
          <p:nvPr/>
        </p:nvSpPr>
        <p:spPr>
          <a:xfrm>
            <a:off x="8456101" y="5001381"/>
            <a:ext cx="3587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solidFill>
                  <a:srgbClr val="101F2E"/>
                </a:solidFill>
              </a:rPr>
              <a:t>{{TRAB_OBS_PEDIDOS}}</a:t>
            </a:r>
          </a:p>
        </p:txBody>
      </p:sp>
      <p:cxnSp>
        <p:nvCxnSpPr>
          <p:cNvPr id="173" name="Conector reto 172">
            <a:extLst>
              <a:ext uri="{FF2B5EF4-FFF2-40B4-BE49-F238E27FC236}">
                <a16:creationId xmlns:a16="http://schemas.microsoft.com/office/drawing/2014/main" id="{D39750A4-67C0-F7AF-B616-68CEC960A5BF}"/>
              </a:ext>
            </a:extLst>
          </p:cNvPr>
          <p:cNvCxnSpPr>
            <a:cxnSpLocks/>
          </p:cNvCxnSpPr>
          <p:nvPr/>
        </p:nvCxnSpPr>
        <p:spPr>
          <a:xfrm>
            <a:off x="8456101" y="5100690"/>
            <a:ext cx="0" cy="456511"/>
          </a:xfrm>
          <a:prstGeom prst="line">
            <a:avLst/>
          </a:prstGeom>
          <a:ln>
            <a:solidFill>
              <a:srgbClr val="D5B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CaixaDeTexto 174">
            <a:extLst>
              <a:ext uri="{FF2B5EF4-FFF2-40B4-BE49-F238E27FC236}">
                <a16:creationId xmlns:a16="http://schemas.microsoft.com/office/drawing/2014/main" id="{6183CC14-3FA3-B384-6DC9-15EFF27A4272}"/>
              </a:ext>
            </a:extLst>
          </p:cNvPr>
          <p:cNvSpPr txBox="1"/>
          <p:nvPr/>
        </p:nvSpPr>
        <p:spPr>
          <a:xfrm>
            <a:off x="925492" y="6186956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rgbClr val="101F2E"/>
                </a:solidFill>
              </a:rPr>
              <a:t>LEITURA EXECUTIVA</a:t>
            </a:r>
          </a:p>
        </p:txBody>
      </p:sp>
      <p:cxnSp>
        <p:nvCxnSpPr>
          <p:cNvPr id="176" name="Conector reto 175">
            <a:extLst>
              <a:ext uri="{FF2B5EF4-FFF2-40B4-BE49-F238E27FC236}">
                <a16:creationId xmlns:a16="http://schemas.microsoft.com/office/drawing/2014/main" id="{9E47C622-685C-2102-579E-79D81CCEDB23}"/>
              </a:ext>
            </a:extLst>
          </p:cNvPr>
          <p:cNvCxnSpPr>
            <a:cxnSpLocks/>
          </p:cNvCxnSpPr>
          <p:nvPr/>
        </p:nvCxnSpPr>
        <p:spPr>
          <a:xfrm>
            <a:off x="2853904" y="6074094"/>
            <a:ext cx="0" cy="456511"/>
          </a:xfrm>
          <a:prstGeom prst="line">
            <a:avLst/>
          </a:prstGeom>
          <a:ln>
            <a:solidFill>
              <a:srgbClr val="D5B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A2D310A5-16CA-1A66-82E5-351C0B5B9D16}"/>
              </a:ext>
            </a:extLst>
          </p:cNvPr>
          <p:cNvSpPr txBox="1"/>
          <p:nvPr/>
        </p:nvSpPr>
        <p:spPr>
          <a:xfrm>
            <a:off x="3011779" y="6005946"/>
            <a:ext cx="8793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solidFill>
                  <a:srgbClr val="101F2E"/>
                </a:solidFill>
              </a:rPr>
              <a:t>{{TRAB_LEITURA}}</a:t>
            </a:r>
          </a:p>
        </p:txBody>
      </p:sp>
      <p:pic>
        <p:nvPicPr>
          <p:cNvPr id="180" name="Gráfico 179" descr="Pesquisa com preenchimento sólido">
            <a:extLst>
              <a:ext uri="{FF2B5EF4-FFF2-40B4-BE49-F238E27FC236}">
                <a16:creationId xmlns:a16="http://schemas.microsoft.com/office/drawing/2014/main" id="{9759922F-76F3-6874-C328-6557F7FD8B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9036" y="6115594"/>
            <a:ext cx="373512" cy="373512"/>
          </a:xfrm>
          <a:prstGeom prst="rect">
            <a:avLst/>
          </a:prstGeom>
        </p:spPr>
      </p:pic>
      <p:pic>
        <p:nvPicPr>
          <p:cNvPr id="182" name="Gráfico 181" descr="Engrenagem única com preenchimento sólido">
            <a:extLst>
              <a:ext uri="{FF2B5EF4-FFF2-40B4-BE49-F238E27FC236}">
                <a16:creationId xmlns:a16="http://schemas.microsoft.com/office/drawing/2014/main" id="{1100043C-7E7A-ED2F-4239-C2F19751D3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8528" y="2405722"/>
            <a:ext cx="586813" cy="586813"/>
          </a:xfrm>
          <a:prstGeom prst="rect">
            <a:avLst/>
          </a:prstGeom>
        </p:spPr>
      </p:pic>
      <p:pic>
        <p:nvPicPr>
          <p:cNvPr id="184" name="Gráfico 183" descr="Documento com preenchimento sólido">
            <a:extLst>
              <a:ext uri="{FF2B5EF4-FFF2-40B4-BE49-F238E27FC236}">
                <a16:creationId xmlns:a16="http://schemas.microsoft.com/office/drawing/2014/main" id="{F7DD7FB3-E2DF-C454-1D21-A808B7F58A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4721" y="1182689"/>
            <a:ext cx="426226" cy="426226"/>
          </a:xfrm>
          <a:prstGeom prst="rect">
            <a:avLst/>
          </a:prstGeom>
        </p:spPr>
      </p:pic>
      <p:pic>
        <p:nvPicPr>
          <p:cNvPr id="186" name="Gráfico 185" descr="Lista com preenchimento sólido">
            <a:extLst>
              <a:ext uri="{FF2B5EF4-FFF2-40B4-BE49-F238E27FC236}">
                <a16:creationId xmlns:a16="http://schemas.microsoft.com/office/drawing/2014/main" id="{410C277A-A781-73A9-5D2D-BE32B1C50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0983" y="2491326"/>
            <a:ext cx="445871" cy="445871"/>
          </a:xfrm>
          <a:prstGeom prst="rect">
            <a:avLst/>
          </a:prstGeom>
        </p:spPr>
      </p:pic>
      <p:pic>
        <p:nvPicPr>
          <p:cNvPr id="188" name="Gráfico 187" descr="Folhinha com preenchimento sólido">
            <a:extLst>
              <a:ext uri="{FF2B5EF4-FFF2-40B4-BE49-F238E27FC236}">
                <a16:creationId xmlns:a16="http://schemas.microsoft.com/office/drawing/2014/main" id="{CA63BD1A-CDEC-5214-6A11-55905FE19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97567" y="2478282"/>
            <a:ext cx="450694" cy="450694"/>
          </a:xfrm>
          <a:prstGeom prst="rect">
            <a:avLst/>
          </a:prstGeom>
        </p:spPr>
      </p:pic>
      <p:pic>
        <p:nvPicPr>
          <p:cNvPr id="192" name="Gráfico 191" descr="Sinal com preenchimento sólido">
            <a:extLst>
              <a:ext uri="{FF2B5EF4-FFF2-40B4-BE49-F238E27FC236}">
                <a16:creationId xmlns:a16="http://schemas.microsoft.com/office/drawing/2014/main" id="{E5DB1B6C-5FA4-DF12-2F1E-A0963893E4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10294" y="1125703"/>
            <a:ext cx="439473" cy="439473"/>
          </a:xfrm>
          <a:prstGeom prst="rect">
            <a:avLst/>
          </a:prstGeom>
        </p:spPr>
      </p:pic>
      <p:pic>
        <p:nvPicPr>
          <p:cNvPr id="194" name="Gráfico 193" descr="Moedas com preenchimento sólido">
            <a:extLst>
              <a:ext uri="{FF2B5EF4-FFF2-40B4-BE49-F238E27FC236}">
                <a16:creationId xmlns:a16="http://schemas.microsoft.com/office/drawing/2014/main" id="{7EB7D257-56D4-89EE-B9A9-048CFE103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94309" y="1222687"/>
            <a:ext cx="377911" cy="377911"/>
          </a:xfrm>
          <a:prstGeom prst="rect">
            <a:avLst/>
          </a:prstGeom>
        </p:spPr>
      </p:pic>
      <p:graphicFrame>
        <p:nvGraphicFramePr>
          <p:cNvPr id="304" name="CHART_TRAB_PEDIDOS"/>
          <p:cNvGraphicFramePr/>
          <p:nvPr/>
        </p:nvGraphicFramePr>
        <p:xfrm>
          <a:off x="8255000" y="2832100"/>
          <a:ext cx="3708400" cy="21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05" name="CHART_TRAB_ANO"/>
          <p:cNvGraphicFramePr/>
          <p:nvPr/>
        </p:nvGraphicFramePr>
        <p:xfrm>
          <a:off x="4089400" y="2832100"/>
          <a:ext cx="3810000" cy="21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1939078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_TRIB_DIVISOR" descr="Interface gráfica do usuário&#10;&#10;Descrição gerada automaticamente">
            <a:extLst>
              <a:ext uri="{FF2B5EF4-FFF2-40B4-BE49-F238E27FC236}">
                <a16:creationId xmlns:a16="http://schemas.microsoft.com/office/drawing/2014/main" id="{23608CB3-A872-4FBD-4D75-927AC60EB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09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1F2AF-AB89-3444-F0DE-23C761286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69D428FF-A264-40B9-5B77-D8C71D884785}"/>
              </a:ext>
            </a:extLst>
          </p:cNvPr>
          <p:cNvSpPr/>
          <p:nvPr/>
        </p:nvSpPr>
        <p:spPr>
          <a:xfrm>
            <a:off x="0" y="-98385"/>
            <a:ext cx="12273023" cy="6956385"/>
          </a:xfrm>
          <a:prstGeom prst="rect">
            <a:avLst/>
          </a:prstGeom>
          <a:solidFill>
            <a:srgbClr val="EBE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D01A0F44-4D6B-4A6D-F596-4514DD74395C}"/>
              </a:ext>
            </a:extLst>
          </p:cNvPr>
          <p:cNvSpPr/>
          <p:nvPr/>
        </p:nvSpPr>
        <p:spPr>
          <a:xfrm>
            <a:off x="6200057" y="4840839"/>
            <a:ext cx="5833183" cy="1902731"/>
          </a:xfrm>
          <a:prstGeom prst="roundRect">
            <a:avLst>
              <a:gd name="adj" fmla="val 18978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35" name="Retângulo: Cantos Arredondados 134">
            <a:extLst>
              <a:ext uri="{FF2B5EF4-FFF2-40B4-BE49-F238E27FC236}">
                <a16:creationId xmlns:a16="http://schemas.microsoft.com/office/drawing/2014/main" id="{357AA708-2B87-7E5E-F181-05D57760CFDA}"/>
              </a:ext>
            </a:extLst>
          </p:cNvPr>
          <p:cNvSpPr/>
          <p:nvPr/>
        </p:nvSpPr>
        <p:spPr>
          <a:xfrm>
            <a:off x="6746880" y="5261562"/>
            <a:ext cx="5188294" cy="1336769"/>
          </a:xfrm>
          <a:prstGeom prst="roundRect">
            <a:avLst>
              <a:gd name="adj" fmla="val 18978"/>
            </a:avLst>
          </a:prstGeom>
          <a:solidFill>
            <a:srgbClr val="D5B170">
              <a:alpha val="17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01" name="Retângulo: Cantos Arredondados 100">
            <a:extLst>
              <a:ext uri="{FF2B5EF4-FFF2-40B4-BE49-F238E27FC236}">
                <a16:creationId xmlns:a16="http://schemas.microsoft.com/office/drawing/2014/main" id="{7FE4FF49-4E9E-3CEA-1C3B-EF8D8C2E2671}"/>
              </a:ext>
            </a:extLst>
          </p:cNvPr>
          <p:cNvSpPr/>
          <p:nvPr/>
        </p:nvSpPr>
        <p:spPr>
          <a:xfrm>
            <a:off x="157317" y="4831187"/>
            <a:ext cx="5833183" cy="1902730"/>
          </a:xfrm>
          <a:prstGeom prst="roundRect">
            <a:avLst>
              <a:gd name="adj" fmla="val 18978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33" name="Retângulo: Cantos Arredondados 132">
            <a:extLst>
              <a:ext uri="{FF2B5EF4-FFF2-40B4-BE49-F238E27FC236}">
                <a16:creationId xmlns:a16="http://schemas.microsoft.com/office/drawing/2014/main" id="{B8A7564E-81AF-CDAF-5971-7E32B7EA7ED1}"/>
              </a:ext>
            </a:extLst>
          </p:cNvPr>
          <p:cNvSpPr/>
          <p:nvPr/>
        </p:nvSpPr>
        <p:spPr>
          <a:xfrm>
            <a:off x="582493" y="5379853"/>
            <a:ext cx="5208708" cy="1148766"/>
          </a:xfrm>
          <a:prstGeom prst="roundRect">
            <a:avLst>
              <a:gd name="adj" fmla="val 18978"/>
            </a:avLst>
          </a:prstGeom>
          <a:solidFill>
            <a:srgbClr val="D5B170">
              <a:alpha val="17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100AAFE-EE5E-F233-464E-047AB79B5F2F}"/>
              </a:ext>
            </a:extLst>
          </p:cNvPr>
          <p:cNvSpPr/>
          <p:nvPr/>
        </p:nvSpPr>
        <p:spPr>
          <a:xfrm>
            <a:off x="157317" y="1077722"/>
            <a:ext cx="2910348" cy="1111045"/>
          </a:xfrm>
          <a:prstGeom prst="roundRect">
            <a:avLst>
              <a:gd name="adj" fmla="val 14012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0B20F8F-5DA8-CEB7-E3C4-D3AB60FE4D5D}"/>
              </a:ext>
            </a:extLst>
          </p:cNvPr>
          <p:cNvSpPr/>
          <p:nvPr/>
        </p:nvSpPr>
        <p:spPr>
          <a:xfrm>
            <a:off x="3147143" y="1077722"/>
            <a:ext cx="2910348" cy="1111045"/>
          </a:xfrm>
          <a:prstGeom prst="roundRect">
            <a:avLst>
              <a:gd name="adj" fmla="val 14012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90D46BAE-5A1B-E9FA-E6B1-3202057E37C1}"/>
              </a:ext>
            </a:extLst>
          </p:cNvPr>
          <p:cNvSpPr/>
          <p:nvPr/>
        </p:nvSpPr>
        <p:spPr>
          <a:xfrm>
            <a:off x="6136969" y="1077722"/>
            <a:ext cx="2910348" cy="1111045"/>
          </a:xfrm>
          <a:prstGeom prst="roundRect">
            <a:avLst>
              <a:gd name="adj" fmla="val 14012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2D79539-0119-C1D5-8FCF-02D36BA0D6C7}"/>
              </a:ext>
            </a:extLst>
          </p:cNvPr>
          <p:cNvSpPr/>
          <p:nvPr/>
        </p:nvSpPr>
        <p:spPr>
          <a:xfrm>
            <a:off x="9126794" y="1077722"/>
            <a:ext cx="2910348" cy="1111045"/>
          </a:xfrm>
          <a:prstGeom prst="roundRect">
            <a:avLst>
              <a:gd name="adj" fmla="val 14012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7" name="SLIDE_TRIB_PAINEL">
            <a:extLst>
              <a:ext uri="{FF2B5EF4-FFF2-40B4-BE49-F238E27FC236}">
                <a16:creationId xmlns:a16="http://schemas.microsoft.com/office/drawing/2014/main" id="{8F960C18-6476-0B64-61FE-12C62DC811BD}"/>
              </a:ext>
            </a:extLst>
          </p:cNvPr>
          <p:cNvSpPr txBox="1"/>
          <p:nvPr/>
        </p:nvSpPr>
        <p:spPr>
          <a:xfrm>
            <a:off x="533248" y="181286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Tributário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BB445CF-FAE2-3DA1-A9D5-227BBFF1AB2F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  <a:latin typeface="Aptos" panose="020B0004020202020204" pitchFamily="34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0EF819C-961D-1AB3-DEC1-BAAAFB7B5539}"/>
              </a:ext>
            </a:extLst>
          </p:cNvPr>
          <p:cNvSpPr/>
          <p:nvPr/>
        </p:nvSpPr>
        <p:spPr>
          <a:xfrm>
            <a:off x="235974" y="1179871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C35074B-5279-D1FC-E3DD-2F0A6A261500}"/>
              </a:ext>
            </a:extLst>
          </p:cNvPr>
          <p:cNvSpPr/>
          <p:nvPr/>
        </p:nvSpPr>
        <p:spPr>
          <a:xfrm>
            <a:off x="3220065" y="1179871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9A91B45-DAF1-7AE4-80C2-D22F000B6573}"/>
              </a:ext>
            </a:extLst>
          </p:cNvPr>
          <p:cNvSpPr/>
          <p:nvPr/>
        </p:nvSpPr>
        <p:spPr>
          <a:xfrm>
            <a:off x="6200057" y="1151463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989F7CDC-CA49-CB54-6F78-45B927645A32}"/>
              </a:ext>
            </a:extLst>
          </p:cNvPr>
          <p:cNvSpPr/>
          <p:nvPr/>
        </p:nvSpPr>
        <p:spPr>
          <a:xfrm>
            <a:off x="9159566" y="1180960"/>
            <a:ext cx="599768" cy="599768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22EB5C9-B9ED-A2DD-E7FC-6ECA6FEC0E3A}"/>
              </a:ext>
            </a:extLst>
          </p:cNvPr>
          <p:cNvSpPr txBox="1"/>
          <p:nvPr/>
        </p:nvSpPr>
        <p:spPr>
          <a:xfrm>
            <a:off x="898830" y="1193643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PROCESSOS JUDICIAIS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4FF71E1-9A63-4AC5-1BBB-95ABC517C1DE}"/>
              </a:ext>
            </a:extLst>
          </p:cNvPr>
          <p:cNvSpPr txBox="1"/>
          <p:nvPr/>
        </p:nvSpPr>
        <p:spPr>
          <a:xfrm>
            <a:off x="3829448" y="1193642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POTENCIAL PASSIVO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10A8C73-CC6D-E228-3563-42AEBF3A821A}"/>
              </a:ext>
            </a:extLst>
          </p:cNvPr>
          <p:cNvSpPr txBox="1"/>
          <p:nvPr/>
        </p:nvSpPr>
        <p:spPr>
          <a:xfrm>
            <a:off x="6775243" y="1271818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SITUAÇÃO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C0EA3A4F-B789-F6C1-560A-045174A9BE87}"/>
              </a:ext>
            </a:extLst>
          </p:cNvPr>
          <p:cNvSpPr txBox="1"/>
          <p:nvPr/>
        </p:nvSpPr>
        <p:spPr>
          <a:xfrm>
            <a:off x="9725741" y="1271818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ESFERA ADMINISTRATIVA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0D93136-20D5-B578-D99E-BBA691A5F111}"/>
              </a:ext>
            </a:extLst>
          </p:cNvPr>
          <p:cNvSpPr txBox="1"/>
          <p:nvPr/>
        </p:nvSpPr>
        <p:spPr>
          <a:xfrm>
            <a:off x="908353" y="1567368"/>
            <a:ext cx="48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01F2E"/>
                </a:solidFill>
              </a:rPr>
              <a:t>{{TRIB_PROCESSOS}}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20556DA-C2EA-18CF-1B70-03B6ACD1E4EA}"/>
              </a:ext>
            </a:extLst>
          </p:cNvPr>
          <p:cNvSpPr txBox="1"/>
          <p:nvPr/>
        </p:nvSpPr>
        <p:spPr>
          <a:xfrm>
            <a:off x="6149036" y="1831238"/>
            <a:ext cx="15492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rgbClr val="101F2E"/>
                </a:solidFill>
              </a:rPr>
              <a:t>Em tramitação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07185E19-757A-8490-B657-B0856CEBE3CA}"/>
              </a:ext>
            </a:extLst>
          </p:cNvPr>
          <p:cNvSpPr txBox="1"/>
          <p:nvPr/>
        </p:nvSpPr>
        <p:spPr>
          <a:xfrm>
            <a:off x="7723470" y="1840986"/>
            <a:ext cx="894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solidFill>
                  <a:srgbClr val="101F2E"/>
                </a:solidFill>
              </a:rPr>
              <a:t>Suspensos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68647728-FDB6-4135-223C-996EF760E373}"/>
              </a:ext>
            </a:extLst>
          </p:cNvPr>
          <p:cNvCxnSpPr>
            <a:cxnSpLocks/>
          </p:cNvCxnSpPr>
          <p:nvPr/>
        </p:nvCxnSpPr>
        <p:spPr>
          <a:xfrm>
            <a:off x="7579728" y="1612731"/>
            <a:ext cx="0" cy="456511"/>
          </a:xfrm>
          <a:prstGeom prst="line">
            <a:avLst/>
          </a:prstGeom>
          <a:ln>
            <a:solidFill>
              <a:srgbClr val="D5B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3142F17A-90B9-6F63-C164-50767A317B3D}"/>
              </a:ext>
            </a:extLst>
          </p:cNvPr>
          <p:cNvSpPr/>
          <p:nvPr/>
        </p:nvSpPr>
        <p:spPr>
          <a:xfrm>
            <a:off x="157317" y="2317954"/>
            <a:ext cx="3725604" cy="2407273"/>
          </a:xfrm>
          <a:prstGeom prst="roundRect">
            <a:avLst>
              <a:gd name="adj" fmla="val 9038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96551DDE-422B-4E0A-B43E-A0A1C513C790}"/>
              </a:ext>
            </a:extLst>
          </p:cNvPr>
          <p:cNvSpPr/>
          <p:nvPr/>
        </p:nvSpPr>
        <p:spPr>
          <a:xfrm>
            <a:off x="235974" y="2385017"/>
            <a:ext cx="410552" cy="410552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03" name="Elipse 102">
            <a:extLst>
              <a:ext uri="{FF2B5EF4-FFF2-40B4-BE49-F238E27FC236}">
                <a16:creationId xmlns:a16="http://schemas.microsoft.com/office/drawing/2014/main" id="{FD6A9BDD-E9A1-D099-734D-310F1ABE98F6}"/>
              </a:ext>
            </a:extLst>
          </p:cNvPr>
          <p:cNvSpPr/>
          <p:nvPr/>
        </p:nvSpPr>
        <p:spPr>
          <a:xfrm>
            <a:off x="256826" y="4869371"/>
            <a:ext cx="510482" cy="510482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7BADE582-3B86-25DC-830A-650A3CCB7D1E}"/>
              </a:ext>
            </a:extLst>
          </p:cNvPr>
          <p:cNvSpPr txBox="1"/>
          <p:nvPr/>
        </p:nvSpPr>
        <p:spPr>
          <a:xfrm>
            <a:off x="685801" y="2463387"/>
            <a:ext cx="34082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ORGÃO DE ORIGEM </a:t>
            </a:r>
            <a:r>
              <a:rPr lang="pt-BR" sz="1100" dirty="0">
                <a:solidFill>
                  <a:srgbClr val="101F2E"/>
                </a:solidFill>
              </a:rPr>
              <a:t>(Valor da causa – judicial)</a:t>
            </a:r>
            <a:endParaRPr lang="pt-BR" sz="1200" dirty="0">
              <a:solidFill>
                <a:srgbClr val="101F2E"/>
              </a:solidFill>
            </a:endParaRPr>
          </a:p>
        </p:txBody>
      </p:sp>
      <p:sp>
        <p:nvSpPr>
          <p:cNvPr id="175" name="CaixaDeTexto 174">
            <a:extLst>
              <a:ext uri="{FF2B5EF4-FFF2-40B4-BE49-F238E27FC236}">
                <a16:creationId xmlns:a16="http://schemas.microsoft.com/office/drawing/2014/main" id="{D3436763-2FB9-E2CB-A613-040B2D448509}"/>
              </a:ext>
            </a:extLst>
          </p:cNvPr>
          <p:cNvSpPr txBox="1"/>
          <p:nvPr/>
        </p:nvSpPr>
        <p:spPr>
          <a:xfrm>
            <a:off x="800805" y="4983889"/>
            <a:ext cx="30190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PRINCIPAIS PONTOS DE ATENÇÃO</a:t>
            </a:r>
          </a:p>
        </p:txBody>
      </p:sp>
      <p:sp>
        <p:nvSpPr>
          <p:cNvPr id="178" name="CaixaDeTexto 177">
            <a:extLst>
              <a:ext uri="{FF2B5EF4-FFF2-40B4-BE49-F238E27FC236}">
                <a16:creationId xmlns:a16="http://schemas.microsoft.com/office/drawing/2014/main" id="{BA252C25-BECF-A60D-498A-D2E90ABA75C9}"/>
              </a:ext>
            </a:extLst>
          </p:cNvPr>
          <p:cNvSpPr txBox="1"/>
          <p:nvPr/>
        </p:nvSpPr>
        <p:spPr>
          <a:xfrm>
            <a:off x="679937" y="5442109"/>
            <a:ext cx="50065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pt-BR" sz="1200" dirty="0"/>
              <a:t>{{TRIB_PONTOS}}</a:t>
            </a:r>
          </a:p>
        </p:txBody>
      </p:sp>
      <p:pic>
        <p:nvPicPr>
          <p:cNvPr id="184" name="Gráfico 183" descr="Documento com preenchimento sólido">
            <a:extLst>
              <a:ext uri="{FF2B5EF4-FFF2-40B4-BE49-F238E27FC236}">
                <a16:creationId xmlns:a16="http://schemas.microsoft.com/office/drawing/2014/main" id="{4672729F-5506-1D00-28C6-F4B2FAC7BA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580" y="1238234"/>
            <a:ext cx="426226" cy="426226"/>
          </a:xfrm>
          <a:prstGeom prst="rect">
            <a:avLst/>
          </a:prstGeom>
        </p:spPr>
      </p:pic>
      <p:pic>
        <p:nvPicPr>
          <p:cNvPr id="194" name="Gráfico 193" descr="Moedas com preenchimento sólido">
            <a:extLst>
              <a:ext uri="{FF2B5EF4-FFF2-40B4-BE49-F238E27FC236}">
                <a16:creationId xmlns:a16="http://schemas.microsoft.com/office/drawing/2014/main" id="{2BBCBA82-70AA-16B8-E05C-CA1774280E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2134" y="1275629"/>
            <a:ext cx="377911" cy="377911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9D5FAE27-1278-95E3-A930-5A2B7EC93559}"/>
              </a:ext>
            </a:extLst>
          </p:cNvPr>
          <p:cNvSpPr txBox="1"/>
          <p:nvPr/>
        </p:nvSpPr>
        <p:spPr>
          <a:xfrm>
            <a:off x="894767" y="1355996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101F2E"/>
                </a:solidFill>
              </a:rPr>
              <a:t>(Execuções Fiscais)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8BAD794-7650-F5D9-2A3B-4254BC7C3ED8}"/>
              </a:ext>
            </a:extLst>
          </p:cNvPr>
          <p:cNvSpPr txBox="1"/>
          <p:nvPr/>
        </p:nvSpPr>
        <p:spPr>
          <a:xfrm>
            <a:off x="918731" y="1880207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101F2E"/>
                </a:solidFill>
              </a:rPr>
              <a:t>Processos localizados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2BE810F5-D96F-C95D-1563-0C9D446E5C82}"/>
              </a:ext>
            </a:extLst>
          </p:cNvPr>
          <p:cNvSpPr txBox="1"/>
          <p:nvPr/>
        </p:nvSpPr>
        <p:spPr>
          <a:xfrm>
            <a:off x="3837972" y="1359786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101F2E"/>
                </a:solidFill>
              </a:rPr>
              <a:t>(Judicial)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87374157-CCE2-15E5-9D1C-D1EC793FA4F5}"/>
              </a:ext>
            </a:extLst>
          </p:cNvPr>
          <p:cNvSpPr txBox="1"/>
          <p:nvPr/>
        </p:nvSpPr>
        <p:spPr>
          <a:xfrm>
            <a:off x="3847567" y="1543150"/>
            <a:ext cx="2142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01F2E"/>
                </a:solidFill>
              </a:rPr>
              <a:t>{{TRIB_PASSIVO_JUDICIAL}}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DF57340E-1C65-70D6-4739-DBBE9FA2BC09}"/>
              </a:ext>
            </a:extLst>
          </p:cNvPr>
          <p:cNvSpPr txBox="1"/>
          <p:nvPr/>
        </p:nvSpPr>
        <p:spPr>
          <a:xfrm>
            <a:off x="3857946" y="1855989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101F2E"/>
                </a:solidFill>
              </a:rPr>
              <a:t>Valor da causa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985B2C28-5628-B782-A428-F7AED33D962B}"/>
              </a:ext>
            </a:extLst>
          </p:cNvPr>
          <p:cNvSpPr txBox="1"/>
          <p:nvPr/>
        </p:nvSpPr>
        <p:spPr>
          <a:xfrm>
            <a:off x="6954068" y="1540984"/>
            <a:ext cx="48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01F2E"/>
                </a:solidFill>
              </a:rPr>
              <a:t>{{TRIB_TRAMITACAO}}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4F40F9CB-1DD0-5085-84F8-A6D6B0456EC3}"/>
              </a:ext>
            </a:extLst>
          </p:cNvPr>
          <p:cNvSpPr txBox="1"/>
          <p:nvPr/>
        </p:nvSpPr>
        <p:spPr>
          <a:xfrm>
            <a:off x="7755892" y="1544558"/>
            <a:ext cx="48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01F2E"/>
                </a:solidFill>
              </a:rPr>
              <a:t>{{TRIB_SUSPENSOS}}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E275087A-DEC9-8329-C0F9-63E6359B2E91}"/>
              </a:ext>
            </a:extLst>
          </p:cNvPr>
          <p:cNvSpPr txBox="1"/>
          <p:nvPr/>
        </p:nvSpPr>
        <p:spPr>
          <a:xfrm>
            <a:off x="9738860" y="1566011"/>
            <a:ext cx="2142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01F2E"/>
                </a:solidFill>
              </a:rPr>
              <a:t>{{TRIB_ADMINISTRATIVO}}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6D89415E-6475-E66A-FD26-2D0E783DAF7C}"/>
              </a:ext>
            </a:extLst>
          </p:cNvPr>
          <p:cNvSpPr txBox="1"/>
          <p:nvPr/>
        </p:nvSpPr>
        <p:spPr>
          <a:xfrm>
            <a:off x="9749239" y="1878850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101F2E"/>
                </a:solidFill>
              </a:rPr>
              <a:t>Débitos inscritos em dívida ativa</a:t>
            </a:r>
          </a:p>
        </p:txBody>
      </p:sp>
      <p:graphicFrame>
        <p:nvGraphicFramePr>
          <p:cNvPr id="74" name="TBL_TRIB_ORIGEM">
            <a:extLst>
              <a:ext uri="{FF2B5EF4-FFF2-40B4-BE49-F238E27FC236}">
                <a16:creationId xmlns:a16="http://schemas.microsoft.com/office/drawing/2014/main" id="{4C6A863F-ECBA-BB5C-FBA9-1BC5EF090FE0}"/>
              </a:ext>
            </a:extLst>
          </p:cNvPr>
          <p:cNvGraphicFramePr>
            <a:graphicFrameLocks noGrp="1"/>
          </p:cNvGraphicFramePr>
          <p:nvPr/>
        </p:nvGraphicFramePr>
        <p:xfrm>
          <a:off x="463355" y="2884530"/>
          <a:ext cx="3113527" cy="1169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2223">
                  <a:extLst>
                    <a:ext uri="{9D8B030D-6E8A-4147-A177-3AD203B41FA5}">
                      <a16:colId xmlns:a16="http://schemas.microsoft.com/office/drawing/2014/main" val="2112361928"/>
                    </a:ext>
                  </a:extLst>
                </a:gridCol>
                <a:gridCol w="1291304">
                  <a:extLst>
                    <a:ext uri="{9D8B030D-6E8A-4147-A177-3AD203B41FA5}">
                      <a16:colId xmlns:a16="http://schemas.microsoft.com/office/drawing/2014/main" val="799103360"/>
                    </a:ext>
                  </a:extLst>
                </a:gridCol>
              </a:tblGrid>
              <a:tr h="282750">
                <a:tc>
                  <a:txBody>
                    <a:bodyPr/>
                    <a:lstStyle/>
                    <a:p>
                      <a:r>
                        <a:rPr lang="pt-BR" sz="1050" dirty="0"/>
                        <a:t>Origem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dirty="0"/>
                        <a:t>Valor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595782"/>
                  </a:ext>
                </a:extLst>
              </a:tr>
              <a:tr h="295505">
                <a:tc>
                  <a:txBody>
                    <a:bodyPr/>
                    <a:lstStyle/>
                    <a:p>
                      <a:r>
                        <a:rPr lang="pt-BR" sz="1000" dirty="0"/>
                        <a:t>{{row.origem}}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{{row.valor}}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591458"/>
                  </a:ext>
                </a:extLst>
              </a:tr>
              <a:tr h="295505">
                <a:tc>
                  <a:txBody>
                    <a:bodyPr/>
                    <a:lstStyle/>
                    <a:p>
                      <a:r>
                        <a:rPr lang="pt-BR" sz="1000" b="1" dirty="0">
                          <a:solidFill>
                            <a:srgbClr val="E3E0DB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01F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1" dirty="0">
                          <a:solidFill>
                            <a:srgbClr val="E3E0DB"/>
                          </a:solidFill>
                        </a:rPr>
                        <a:t>{{TRIB_ORIGEM_TOTAL}}</a:t>
                      </a:r>
                    </a:p>
                  </a:txBody>
                  <a:tcPr>
                    <a:solidFill>
                      <a:srgbClr val="10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045714"/>
                  </a:ext>
                </a:extLst>
              </a:tr>
            </a:tbl>
          </a:graphicData>
        </a:graphic>
      </p:graphicFrame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43D5C161-0E86-2AAB-790F-AFB4CFCC0F5C}"/>
              </a:ext>
            </a:extLst>
          </p:cNvPr>
          <p:cNvSpPr/>
          <p:nvPr/>
        </p:nvSpPr>
        <p:spPr>
          <a:xfrm>
            <a:off x="4233198" y="2334954"/>
            <a:ext cx="3725604" cy="2407273"/>
          </a:xfrm>
          <a:prstGeom prst="roundRect">
            <a:avLst>
              <a:gd name="adj" fmla="val 9038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62B28885-03B6-93E5-E878-CFBC229F0182}"/>
              </a:ext>
            </a:extLst>
          </p:cNvPr>
          <p:cNvSpPr/>
          <p:nvPr/>
        </p:nvSpPr>
        <p:spPr>
          <a:xfrm>
            <a:off x="4311855" y="2402017"/>
            <a:ext cx="410552" cy="410552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FF78A294-E30F-7F4A-75D6-6C3E578C3CD7}"/>
              </a:ext>
            </a:extLst>
          </p:cNvPr>
          <p:cNvSpPr txBox="1"/>
          <p:nvPr/>
        </p:nvSpPr>
        <p:spPr>
          <a:xfrm>
            <a:off x="4722945" y="2397090"/>
            <a:ext cx="2381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NATUREZA DAS COBRANÇAS </a:t>
            </a:r>
            <a:r>
              <a:rPr lang="pt-BR" sz="1100" dirty="0">
                <a:solidFill>
                  <a:srgbClr val="101F2E"/>
                </a:solidFill>
              </a:rPr>
              <a:t>(Dívida ativa federal – PGFN)</a:t>
            </a:r>
            <a:endParaRPr lang="pt-BR" sz="1200" dirty="0">
              <a:solidFill>
                <a:srgbClr val="101F2E"/>
              </a:solidFill>
            </a:endParaRPr>
          </a:p>
        </p:txBody>
      </p:sp>
      <p:graphicFrame>
        <p:nvGraphicFramePr>
          <p:cNvPr id="85" name="TBL_TRIB_NATUREZA">
            <a:extLst>
              <a:ext uri="{FF2B5EF4-FFF2-40B4-BE49-F238E27FC236}">
                <a16:creationId xmlns:a16="http://schemas.microsoft.com/office/drawing/2014/main" id="{E7B8D8C8-E131-BF46-0F83-E8142C22FF6C}"/>
              </a:ext>
            </a:extLst>
          </p:cNvPr>
          <p:cNvGraphicFramePr>
            <a:graphicFrameLocks noGrp="1"/>
          </p:cNvGraphicFramePr>
          <p:nvPr/>
        </p:nvGraphicFramePr>
        <p:xfrm>
          <a:off x="4539236" y="2901529"/>
          <a:ext cx="3113527" cy="1226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2223">
                  <a:extLst>
                    <a:ext uri="{9D8B030D-6E8A-4147-A177-3AD203B41FA5}">
                      <a16:colId xmlns:a16="http://schemas.microsoft.com/office/drawing/2014/main" val="2112361928"/>
                    </a:ext>
                  </a:extLst>
                </a:gridCol>
                <a:gridCol w="1291304">
                  <a:extLst>
                    <a:ext uri="{9D8B030D-6E8A-4147-A177-3AD203B41FA5}">
                      <a16:colId xmlns:a16="http://schemas.microsoft.com/office/drawing/2014/main" val="799103360"/>
                    </a:ext>
                  </a:extLst>
                </a:gridCol>
              </a:tblGrid>
              <a:tr h="174231">
                <a:tc>
                  <a:txBody>
                    <a:bodyPr/>
                    <a:lstStyle/>
                    <a:p>
                      <a:r>
                        <a:rPr lang="pt-BR" sz="1050" dirty="0"/>
                        <a:t>Natureza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dirty="0"/>
                        <a:t>Valor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595782"/>
                  </a:ext>
                </a:extLst>
              </a:tr>
              <a:tr h="168952">
                <a:tc>
                  <a:txBody>
                    <a:bodyPr/>
                    <a:lstStyle/>
                    <a:p>
                      <a:r>
                        <a:rPr lang="pt-BR" sz="1000" dirty="0"/>
                        <a:t>Tributário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{{TRIB_PGFN_TRIBUTARIO}}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591458"/>
                  </a:ext>
                </a:extLst>
              </a:tr>
              <a:tr h="168952">
                <a:tc>
                  <a:txBody>
                    <a:bodyPr/>
                    <a:lstStyle/>
                    <a:p>
                      <a:r>
                        <a:rPr lang="pt-BR" sz="1000" dirty="0"/>
                        <a:t>Previdenciário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{{TRIB_PGFN_PREVIDENCIARIO}}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885456"/>
                  </a:ext>
                </a:extLst>
              </a:tr>
              <a:tr h="168952">
                <a:tc>
                  <a:txBody>
                    <a:bodyPr/>
                    <a:lstStyle/>
                    <a:p>
                      <a:r>
                        <a:rPr lang="pt-BR" sz="1000" dirty="0"/>
                        <a:t>Multa trabalhista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{{TRIB_PGFN_MULTA}}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083002"/>
                  </a:ext>
                </a:extLst>
              </a:tr>
              <a:tr h="168952">
                <a:tc>
                  <a:txBody>
                    <a:bodyPr/>
                    <a:lstStyle/>
                    <a:p>
                      <a:r>
                        <a:rPr lang="pt-BR" sz="1000" b="1" dirty="0">
                          <a:solidFill>
                            <a:srgbClr val="E3E0DB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01F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1" dirty="0">
                          <a:solidFill>
                            <a:srgbClr val="E3E0DB"/>
                          </a:solidFill>
                        </a:rPr>
                        <a:t>{{TRIB_PGFN_TOTAL}}</a:t>
                      </a:r>
                    </a:p>
                  </a:txBody>
                  <a:tcPr>
                    <a:solidFill>
                      <a:srgbClr val="10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045714"/>
                  </a:ext>
                </a:extLst>
              </a:tr>
            </a:tbl>
          </a:graphicData>
        </a:graphic>
      </p:graphicFrame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E60231D9-DCBD-0439-949A-420D7D5DD3B0}"/>
              </a:ext>
            </a:extLst>
          </p:cNvPr>
          <p:cNvSpPr/>
          <p:nvPr/>
        </p:nvSpPr>
        <p:spPr>
          <a:xfrm>
            <a:off x="8309079" y="2344606"/>
            <a:ext cx="3725604" cy="2407273"/>
          </a:xfrm>
          <a:prstGeom prst="roundRect">
            <a:avLst>
              <a:gd name="adj" fmla="val 9038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ABB3D280-007A-8CC4-E787-282C0B96519C}"/>
              </a:ext>
            </a:extLst>
          </p:cNvPr>
          <p:cNvSpPr/>
          <p:nvPr/>
        </p:nvSpPr>
        <p:spPr>
          <a:xfrm>
            <a:off x="8387736" y="2411669"/>
            <a:ext cx="410552" cy="410552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B15FF022-42D5-D836-41EC-3163426DEE11}"/>
              </a:ext>
            </a:extLst>
          </p:cNvPr>
          <p:cNvSpPr txBox="1"/>
          <p:nvPr/>
        </p:nvSpPr>
        <p:spPr>
          <a:xfrm>
            <a:off x="8819397" y="2407828"/>
            <a:ext cx="2381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ESFERA ADMINISTRATIVA </a:t>
            </a:r>
            <a:r>
              <a:rPr lang="pt-BR" sz="1100" dirty="0">
                <a:solidFill>
                  <a:srgbClr val="101F2E"/>
                </a:solidFill>
              </a:rPr>
              <a:t>(Dívida ativa)</a:t>
            </a:r>
            <a:endParaRPr lang="pt-BR" sz="1200" dirty="0">
              <a:solidFill>
                <a:srgbClr val="101F2E"/>
              </a:solidFill>
            </a:endParaRPr>
          </a:p>
        </p:txBody>
      </p:sp>
      <p:graphicFrame>
        <p:nvGraphicFramePr>
          <p:cNvPr id="100" name="TBL_TRIB_ADM">
            <a:extLst>
              <a:ext uri="{FF2B5EF4-FFF2-40B4-BE49-F238E27FC236}">
                <a16:creationId xmlns:a16="http://schemas.microsoft.com/office/drawing/2014/main" id="{0B9AE1A4-2DA1-29AE-E2F1-28096A06A38D}"/>
              </a:ext>
            </a:extLst>
          </p:cNvPr>
          <p:cNvGraphicFramePr>
            <a:graphicFrameLocks noGrp="1"/>
          </p:cNvGraphicFramePr>
          <p:nvPr/>
        </p:nvGraphicFramePr>
        <p:xfrm>
          <a:off x="8615117" y="2911181"/>
          <a:ext cx="3113527" cy="1143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2223">
                  <a:extLst>
                    <a:ext uri="{9D8B030D-6E8A-4147-A177-3AD203B41FA5}">
                      <a16:colId xmlns:a16="http://schemas.microsoft.com/office/drawing/2014/main" val="2112361928"/>
                    </a:ext>
                  </a:extLst>
                </a:gridCol>
                <a:gridCol w="1291304">
                  <a:extLst>
                    <a:ext uri="{9D8B030D-6E8A-4147-A177-3AD203B41FA5}">
                      <a16:colId xmlns:a16="http://schemas.microsoft.com/office/drawing/2014/main" val="799103360"/>
                    </a:ext>
                  </a:extLst>
                </a:gridCol>
              </a:tblGrid>
              <a:tr h="282750">
                <a:tc>
                  <a:txBody>
                    <a:bodyPr/>
                    <a:lstStyle/>
                    <a:p>
                      <a:r>
                        <a:rPr lang="pt-BR" sz="1050" dirty="0"/>
                        <a:t>Origem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dirty="0"/>
                        <a:t>Valor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595782"/>
                  </a:ext>
                </a:extLst>
              </a:tr>
              <a:tr h="286976">
                <a:tc>
                  <a:txBody>
                    <a:bodyPr/>
                    <a:lstStyle/>
                    <a:p>
                      <a:r>
                        <a:rPr lang="pt-BR" sz="1000" dirty="0"/>
                        <a:t>PGFN – Dívida Ativa Federal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{{TRIB_ADM_PGFN}}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8591458"/>
                  </a:ext>
                </a:extLst>
              </a:tr>
              <a:tr h="286976">
                <a:tc>
                  <a:txBody>
                    <a:bodyPr/>
                    <a:lstStyle/>
                    <a:p>
                      <a:r>
                        <a:rPr lang="pt-BR" sz="1000" dirty="0"/>
                        <a:t>PGE – Dívida Ativa Estadual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{{TRIB_ADM_PGE}}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885456"/>
                  </a:ext>
                </a:extLst>
              </a:tr>
              <a:tr h="286976">
                <a:tc>
                  <a:txBody>
                    <a:bodyPr/>
                    <a:lstStyle/>
                    <a:p>
                      <a:r>
                        <a:rPr lang="pt-BR" sz="1000" b="1" dirty="0">
                          <a:solidFill>
                            <a:srgbClr val="E3E0DB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01F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00" b="1" dirty="0">
                          <a:solidFill>
                            <a:srgbClr val="E3E0DB"/>
                          </a:solidFill>
                        </a:rPr>
                        <a:t>{{TRIB_ADM_TOTAL}}</a:t>
                      </a:r>
                    </a:p>
                  </a:txBody>
                  <a:tcPr>
                    <a:solidFill>
                      <a:srgbClr val="10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045714"/>
                  </a:ext>
                </a:extLst>
              </a:tr>
            </a:tbl>
          </a:graphicData>
        </a:graphic>
      </p:graphicFrame>
      <p:sp>
        <p:nvSpPr>
          <p:cNvPr id="110" name="Elipse 109">
            <a:extLst>
              <a:ext uri="{FF2B5EF4-FFF2-40B4-BE49-F238E27FC236}">
                <a16:creationId xmlns:a16="http://schemas.microsoft.com/office/drawing/2014/main" id="{027AB58C-C3E1-66A5-84ED-3EC5B76E1C60}"/>
              </a:ext>
            </a:extLst>
          </p:cNvPr>
          <p:cNvSpPr/>
          <p:nvPr/>
        </p:nvSpPr>
        <p:spPr>
          <a:xfrm>
            <a:off x="6266577" y="4887814"/>
            <a:ext cx="510482" cy="510482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5A425A5E-8DFC-59DF-A469-260D3458F198}"/>
              </a:ext>
            </a:extLst>
          </p:cNvPr>
          <p:cNvSpPr txBox="1"/>
          <p:nvPr/>
        </p:nvSpPr>
        <p:spPr>
          <a:xfrm>
            <a:off x="6799825" y="4974503"/>
            <a:ext cx="23818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LEITURA EXECUTIVA</a:t>
            </a: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4BD43483-8DF0-15D1-43CB-2B5B30669468}"/>
              </a:ext>
            </a:extLst>
          </p:cNvPr>
          <p:cNvSpPr txBox="1"/>
          <p:nvPr/>
        </p:nvSpPr>
        <p:spPr>
          <a:xfrm>
            <a:off x="6814720" y="5321300"/>
            <a:ext cx="50165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1100" dirty="0"/>
              <a:t>{{TRIB_LEITURA}}</a:t>
            </a:r>
          </a:p>
        </p:txBody>
      </p:sp>
      <p:pic>
        <p:nvPicPr>
          <p:cNvPr id="120" name="Gráfico 119" descr="Dólar com preenchimento sólido">
            <a:extLst>
              <a:ext uri="{FF2B5EF4-FFF2-40B4-BE49-F238E27FC236}">
                <a16:creationId xmlns:a16="http://schemas.microsoft.com/office/drawing/2014/main" id="{C62E913A-31FC-4D14-9097-3ED5600ABB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2401" y="2422705"/>
            <a:ext cx="369459" cy="369459"/>
          </a:xfrm>
          <a:prstGeom prst="rect">
            <a:avLst/>
          </a:prstGeom>
        </p:spPr>
      </p:pic>
      <p:pic>
        <p:nvPicPr>
          <p:cNvPr id="122" name="Gráfico 121" descr="Alvo com preenchimento sólido">
            <a:extLst>
              <a:ext uri="{FF2B5EF4-FFF2-40B4-BE49-F238E27FC236}">
                <a16:creationId xmlns:a16="http://schemas.microsoft.com/office/drawing/2014/main" id="{186A3017-2301-BB65-4007-16FEE67A30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5974" y="2385017"/>
            <a:ext cx="410552" cy="410552"/>
          </a:xfrm>
          <a:prstGeom prst="rect">
            <a:avLst/>
          </a:prstGeom>
        </p:spPr>
      </p:pic>
      <p:pic>
        <p:nvPicPr>
          <p:cNvPr id="124" name="Gráfico 123" descr="Comentar importante com preenchimento sólido">
            <a:extLst>
              <a:ext uri="{FF2B5EF4-FFF2-40B4-BE49-F238E27FC236}">
                <a16:creationId xmlns:a16="http://schemas.microsoft.com/office/drawing/2014/main" id="{7AC87397-CC16-8B2E-F01C-D24D166E28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9292" y="4934867"/>
            <a:ext cx="423111" cy="423111"/>
          </a:xfrm>
          <a:prstGeom prst="rect">
            <a:avLst/>
          </a:prstGeom>
        </p:spPr>
      </p:pic>
      <p:pic>
        <p:nvPicPr>
          <p:cNvPr id="125" name="Gráfico 124" descr="Usuários com preenchimento sólido">
            <a:extLst>
              <a:ext uri="{FF2B5EF4-FFF2-40B4-BE49-F238E27FC236}">
                <a16:creationId xmlns:a16="http://schemas.microsoft.com/office/drawing/2014/main" id="{CC5F9B5F-F022-2AC6-8C83-61D44B9E69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05031" y="1224166"/>
            <a:ext cx="501484" cy="501484"/>
          </a:xfrm>
          <a:prstGeom prst="rect">
            <a:avLst/>
          </a:prstGeom>
        </p:spPr>
      </p:pic>
      <p:pic>
        <p:nvPicPr>
          <p:cNvPr id="126" name="Gráfico 125" descr="Banco com preenchimento sólido">
            <a:extLst>
              <a:ext uri="{FF2B5EF4-FFF2-40B4-BE49-F238E27FC236}">
                <a16:creationId xmlns:a16="http://schemas.microsoft.com/office/drawing/2014/main" id="{C34B8E56-F03C-7DFA-1E53-0ADE43DB87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2348" y="1217587"/>
            <a:ext cx="426353" cy="426353"/>
          </a:xfrm>
          <a:prstGeom prst="rect">
            <a:avLst/>
          </a:prstGeom>
        </p:spPr>
      </p:pic>
      <p:pic>
        <p:nvPicPr>
          <p:cNvPr id="129" name="Gráfico 128" descr="Pesquisa com preenchimento sólido">
            <a:extLst>
              <a:ext uri="{FF2B5EF4-FFF2-40B4-BE49-F238E27FC236}">
                <a16:creationId xmlns:a16="http://schemas.microsoft.com/office/drawing/2014/main" id="{333CCF9D-F8D2-A619-0302-7F0592A6FE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28734" y="4935632"/>
            <a:ext cx="373512" cy="373512"/>
          </a:xfrm>
          <a:prstGeom prst="rect">
            <a:avLst/>
          </a:prstGeom>
        </p:spPr>
      </p:pic>
      <p:pic>
        <p:nvPicPr>
          <p:cNvPr id="131" name="Gráfico 130" descr="Sinal com preenchimento sólido">
            <a:extLst>
              <a:ext uri="{FF2B5EF4-FFF2-40B4-BE49-F238E27FC236}">
                <a16:creationId xmlns:a16="http://schemas.microsoft.com/office/drawing/2014/main" id="{DDAF6A98-6730-A139-A02A-F2BDF802A3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98149" y="2420572"/>
            <a:ext cx="332179" cy="33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17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457200" y="1270000"/>
            <a:ext cx="11277600" cy="4953000"/>
          </a:xfrm>
          <a:prstGeom prst="roundRect">
            <a:avLst>
              <a:gd name="adj" fmla="val 6000"/>
            </a:avLst>
          </a:prstGeom>
          <a:solidFill>
            <a:srgbClr val="FCF9F5"/>
          </a:solidFill>
          <a:ln>
            <a:noFill/>
          </a:ln>
          <a:effectLst>
            <a:outerShdw blurRad="101600" dist="25400" dir="5400000" algn="t" rotWithShape="0">
              <a:prstClr val="black">
                <a:alpha val="16000"/>
              </a:prstClr>
            </a:outerShdw>
          </a:effectLst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02920" y="201168"/>
            <a:ext cx="50292" cy="658368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CONCLUSAO"/>
          <p:cNvSpPr txBox="1"/>
          <p:nvPr/>
        </p:nvSpPr>
        <p:spPr>
          <a:xfrm>
            <a:off x="667512" y="164592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F2D"/>
                </a:solidFill>
                <a:latin typeface="Lato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30936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D2935"/>
                </a:solidFill>
                <a:latin typeface="Aptos"/>
              </a:rPr>
              <a:t>Potencial passivo por área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498600"/>
            <a:ext cx="5080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200" b="1">
                <a:solidFill>
                  <a:srgbClr val="101F2E"/>
                </a:solidFill>
                <a:latin typeface="Aptos"/>
              </a:rPr>
              <a:t>POTENCIAL PASSIVO POR ÁREA</a:t>
            </a:r>
          </a:p>
        </p:txBody>
      </p:sp>
      <p:sp>
        <p:nvSpPr>
          <p:cNvPr id="15" name="CONC_SEPARADOR"/>
          <p:cNvSpPr/>
          <p:nvPr/>
        </p:nvSpPr>
        <p:spPr>
          <a:xfrm>
            <a:off x="762000" y="4876800"/>
            <a:ext cx="10668000" cy="127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6" name="CONC_TRAB_NOME"/>
          <p:cNvSpPr txBox="1"/>
          <p:nvPr/>
        </p:nvSpPr>
        <p:spPr>
          <a:xfrm>
            <a:off x="1219200" y="3251200"/>
            <a:ext cx="2794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600" b="0" dirty="0">
                <a:solidFill>
                  <a:srgbClr val="101F2E"/>
                </a:solidFill>
                <a:latin typeface="Aptos"/>
              </a:rPr>
              <a:t>Trabalhista</a:t>
            </a:r>
          </a:p>
        </p:txBody>
      </p:sp>
      <p:sp>
        <p:nvSpPr>
          <p:cNvPr id="17" name="CONC_TRAB_VALOR"/>
          <p:cNvSpPr txBox="1"/>
          <p:nvPr/>
        </p:nvSpPr>
        <p:spPr>
          <a:xfrm>
            <a:off x="8280400" y="3251200"/>
            <a:ext cx="3149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pt-BR" sz="1600" b="1" dirty="0">
                <a:solidFill>
                  <a:srgbClr val="101F2E"/>
                </a:solidFill>
                <a:latin typeface="Aptos SemiBold"/>
              </a:rPr>
              <a:t>{{CONC_TRAB_VALOR}}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003800"/>
            <a:ext cx="5080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200" b="1">
                <a:solidFill>
                  <a:srgbClr val="101F2E"/>
                </a:solidFill>
                <a:latin typeface="Aptos"/>
              </a:rPr>
              <a:t>INDICATIVO TOTAL DE PASSIVO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5207000"/>
            <a:ext cx="6350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2800" b="1" dirty="0">
                <a:solidFill>
                  <a:srgbClr val="101F2E"/>
                </a:solidFill>
                <a:latin typeface="Aptos SemiBold"/>
              </a:rPr>
              <a:t>{{CONC_TOTAL}}</a:t>
            </a:r>
          </a:p>
        </p:txBody>
      </p:sp>
      <p:sp>
        <p:nvSpPr>
          <p:cNvPr id="204" name="CONC_TRAB_TRILHO"/>
          <p:cNvSpPr/>
          <p:nvPr/>
        </p:nvSpPr>
        <p:spPr>
          <a:xfrm>
            <a:off x="1219200" y="3530600"/>
            <a:ext cx="10210800" cy="101600"/>
          </a:xfrm>
          <a:prstGeom prst="roundRect">
            <a:avLst>
              <a:gd name="adj" fmla="val 6000"/>
            </a:avLst>
          </a:prstGeom>
          <a:solidFill>
            <a:srgbClr val="E6DFD3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205" name="CONC_TRAB_BARRA"/>
          <p:cNvSpPr/>
          <p:nvPr/>
        </p:nvSpPr>
        <p:spPr>
          <a:xfrm>
            <a:off x="1219200" y="3530600"/>
            <a:ext cx="50800" cy="101600"/>
          </a:xfrm>
          <a:prstGeom prst="roundRect">
            <a:avLst>
              <a:gd name="adj" fmla="val 6000"/>
            </a:avLst>
          </a:prstGeom>
          <a:solidFill>
            <a:srgbClr val="D5B170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206" name="CONC_TRAB_PCT"/>
          <p:cNvSpPr txBox="1"/>
          <p:nvPr/>
        </p:nvSpPr>
        <p:spPr>
          <a:xfrm>
            <a:off x="1219200" y="36576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1200" b="0" dirty="0">
                <a:solidFill>
                  <a:srgbClr val="101F2E"/>
                </a:solidFill>
                <a:latin typeface="Aptos"/>
              </a:rPr>
              <a:t>{{CONC_TRAB_PCT}}</a:t>
            </a:r>
          </a:p>
        </p:txBody>
      </p:sp>
      <p:sp>
        <p:nvSpPr>
          <p:cNvPr id="207" name="Shape 207"/>
          <p:cNvSpPr/>
          <p:nvPr/>
        </p:nvSpPr>
        <p:spPr>
          <a:xfrm>
            <a:off x="762000" y="5715000"/>
            <a:ext cx="508000" cy="381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208" name="TextBox 208"/>
          <p:cNvSpPr txBox="1"/>
          <p:nvPr/>
        </p:nvSpPr>
        <p:spPr>
          <a:xfrm>
            <a:off x="762000" y="5816600"/>
            <a:ext cx="10668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0" dirty="0">
                <a:solidFill>
                  <a:srgbClr val="101F2E"/>
                </a:solidFill>
                <a:latin typeface="Aptos"/>
              </a:rPr>
              <a:t>{{CONC_DESCRICAO}}</a:t>
            </a:r>
          </a:p>
        </p:txBody>
      </p:sp>
      <p:sp>
        <p:nvSpPr>
          <p:cNvPr id="304" name="CONC_CIVEL_PCT"/>
          <p:cNvSpPr txBox="1"/>
          <p:nvPr/>
        </p:nvSpPr>
        <p:spPr>
          <a:xfrm>
            <a:off x="1219200" y="43942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1200" b="0" dirty="0">
                <a:solidFill>
                  <a:srgbClr val="101F2E"/>
                </a:solidFill>
                <a:latin typeface="Aptos"/>
              </a:rPr>
              <a:t>{{CONC_CIVEL_PCT}}</a:t>
            </a:r>
          </a:p>
        </p:txBody>
      </p:sp>
      <p:sp>
        <p:nvSpPr>
          <p:cNvPr id="302" name="CONC_CIVEL_TRILHO"/>
          <p:cNvSpPr/>
          <p:nvPr/>
        </p:nvSpPr>
        <p:spPr>
          <a:xfrm>
            <a:off x="1219200" y="4267200"/>
            <a:ext cx="10210800" cy="101600"/>
          </a:xfrm>
          <a:prstGeom prst="roundRect">
            <a:avLst>
              <a:gd name="adj" fmla="val 6000"/>
            </a:avLst>
          </a:prstGeom>
          <a:solidFill>
            <a:srgbClr val="E6DFD3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301" name="CONC_CIVEL_VALOR"/>
          <p:cNvSpPr txBox="1"/>
          <p:nvPr/>
        </p:nvSpPr>
        <p:spPr>
          <a:xfrm>
            <a:off x="8280400" y="3987800"/>
            <a:ext cx="3149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pt-BR" sz="1600" b="1" dirty="0">
                <a:solidFill>
                  <a:srgbClr val="101F2E"/>
                </a:solidFill>
                <a:latin typeface="Aptos SemiBold"/>
              </a:rPr>
              <a:t>{{CONC_CIVEL_VALOR}}</a:t>
            </a:r>
          </a:p>
        </p:txBody>
      </p:sp>
      <p:sp>
        <p:nvSpPr>
          <p:cNvPr id="300" name="CONC_CIVEL_NOME"/>
          <p:cNvSpPr txBox="1"/>
          <p:nvPr/>
        </p:nvSpPr>
        <p:spPr>
          <a:xfrm>
            <a:off x="1219200" y="3987800"/>
            <a:ext cx="2794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600" b="0" dirty="0">
                <a:solidFill>
                  <a:srgbClr val="101F2E"/>
                </a:solidFill>
                <a:latin typeface="Aptos"/>
              </a:rPr>
              <a:t>Cível</a:t>
            </a:r>
          </a:p>
        </p:txBody>
      </p:sp>
      <p:sp>
        <p:nvSpPr>
          <p:cNvPr id="303" name="CONC_CIVEL_BARRA"/>
          <p:cNvSpPr/>
          <p:nvPr/>
        </p:nvSpPr>
        <p:spPr>
          <a:xfrm>
            <a:off x="1219200" y="4267200"/>
            <a:ext cx="38100" cy="101600"/>
          </a:xfrm>
          <a:prstGeom prst="roundRect">
            <a:avLst>
              <a:gd name="adj" fmla="val 6000"/>
            </a:avLst>
          </a:prstGeom>
          <a:solidFill>
            <a:srgbClr val="D5B170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400" name="CONC_TRIB_NOME"/>
          <p:cNvSpPr txBox="1"/>
          <p:nvPr/>
        </p:nvSpPr>
        <p:spPr>
          <a:xfrm>
            <a:off x="1219200" y="2514600"/>
            <a:ext cx="2794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600" b="0" dirty="0">
                <a:solidFill>
                  <a:srgbClr val="101F2E"/>
                </a:solidFill>
                <a:latin typeface="Aptos"/>
              </a:rPr>
              <a:t>Tributário</a:t>
            </a:r>
          </a:p>
        </p:txBody>
      </p:sp>
      <p:sp>
        <p:nvSpPr>
          <p:cNvPr id="401" name="CONC_TRIB_VALOR"/>
          <p:cNvSpPr txBox="1"/>
          <p:nvPr/>
        </p:nvSpPr>
        <p:spPr>
          <a:xfrm>
            <a:off x="8280400" y="2514600"/>
            <a:ext cx="3149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pt-BR" sz="1600" b="1" dirty="0">
                <a:solidFill>
                  <a:srgbClr val="101F2E"/>
                </a:solidFill>
                <a:latin typeface="Aptos SemiBold"/>
              </a:rPr>
              <a:t>{{CONC_TRIB_VALOR}}</a:t>
            </a:r>
          </a:p>
        </p:txBody>
      </p:sp>
      <p:sp>
        <p:nvSpPr>
          <p:cNvPr id="402" name="CONC_TRIB_TRILHO"/>
          <p:cNvSpPr/>
          <p:nvPr/>
        </p:nvSpPr>
        <p:spPr>
          <a:xfrm>
            <a:off x="1219200" y="2794000"/>
            <a:ext cx="10210800" cy="101600"/>
          </a:xfrm>
          <a:prstGeom prst="roundRect">
            <a:avLst>
              <a:gd name="adj" fmla="val 6000"/>
            </a:avLst>
          </a:prstGeom>
          <a:solidFill>
            <a:srgbClr val="E6DFD3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403" name="CONC_TRIB_BARRA"/>
          <p:cNvSpPr/>
          <p:nvPr/>
        </p:nvSpPr>
        <p:spPr>
          <a:xfrm>
            <a:off x="1219200" y="2794000"/>
            <a:ext cx="2857500" cy="101600"/>
          </a:xfrm>
          <a:prstGeom prst="roundRect">
            <a:avLst>
              <a:gd name="adj" fmla="val 6000"/>
            </a:avLst>
          </a:prstGeom>
          <a:solidFill>
            <a:srgbClr val="D5B170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404" name="CONC_TRIB_PCT"/>
          <p:cNvSpPr txBox="1"/>
          <p:nvPr/>
        </p:nvSpPr>
        <p:spPr>
          <a:xfrm>
            <a:off x="1219200" y="29210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1200" b="0" dirty="0">
                <a:solidFill>
                  <a:srgbClr val="101F2E"/>
                </a:solidFill>
                <a:latin typeface="Aptos"/>
              </a:rPr>
              <a:t>{{CONC_TRIB_PCT}}</a:t>
            </a:r>
          </a:p>
        </p:txBody>
      </p:sp>
      <p:sp>
        <p:nvSpPr>
          <p:cNvPr id="500" name="CONC_NOTAS"/>
          <p:cNvSpPr txBox="1"/>
          <p:nvPr/>
        </p:nvSpPr>
        <p:spPr>
          <a:xfrm>
            <a:off x="457200" y="6400800"/>
            <a:ext cx="1127760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pt-BR" sz="1100" dirty="0">
                <a:solidFill>
                  <a:srgbClr val="6B6B6B"/>
                </a:solidFill>
                <a:latin typeface="Aptos"/>
              </a:rPr>
              <a:t>{{CONC_NOTAS}}</a:t>
            </a:r>
          </a:p>
        </p:txBody>
      </p:sp>
      <p:sp>
        <p:nvSpPr>
          <p:cNvPr id="600" name="CONC_REEST_NOME"/>
          <p:cNvSpPr txBox="1"/>
          <p:nvPr/>
        </p:nvSpPr>
        <p:spPr>
          <a:xfrm>
            <a:off x="1219200" y="1778000"/>
            <a:ext cx="2794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600" b="0" dirty="0">
                <a:solidFill>
                  <a:srgbClr val="101F2E"/>
                </a:solidFill>
                <a:latin typeface="Aptos"/>
              </a:rPr>
              <a:t>Reestruturação</a:t>
            </a:r>
          </a:p>
        </p:txBody>
      </p:sp>
      <p:sp>
        <p:nvSpPr>
          <p:cNvPr id="601" name="CONC_REEST_VALOR"/>
          <p:cNvSpPr txBox="1"/>
          <p:nvPr/>
        </p:nvSpPr>
        <p:spPr>
          <a:xfrm>
            <a:off x="8280400" y="1778000"/>
            <a:ext cx="3149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pt-BR" sz="1600" b="1" dirty="0">
                <a:solidFill>
                  <a:srgbClr val="101F2E"/>
                </a:solidFill>
                <a:latin typeface="Aptos SemiBold"/>
              </a:rPr>
              <a:t>{{CONC_REEST_VALOR}}</a:t>
            </a:r>
          </a:p>
        </p:txBody>
      </p:sp>
      <p:sp>
        <p:nvSpPr>
          <p:cNvPr id="602" name="CONC_REEST_TRILHO"/>
          <p:cNvSpPr/>
          <p:nvPr/>
        </p:nvSpPr>
        <p:spPr>
          <a:xfrm>
            <a:off x="1219200" y="2057400"/>
            <a:ext cx="10210800" cy="101600"/>
          </a:xfrm>
          <a:prstGeom prst="roundRect">
            <a:avLst>
              <a:gd name="adj" fmla="val 6000"/>
            </a:avLst>
          </a:prstGeom>
          <a:solidFill>
            <a:srgbClr val="E6DFD3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603" name="CONC_REEST_BARRA"/>
          <p:cNvSpPr/>
          <p:nvPr/>
        </p:nvSpPr>
        <p:spPr>
          <a:xfrm>
            <a:off x="1219200" y="2057400"/>
            <a:ext cx="7289800" cy="101600"/>
          </a:xfrm>
          <a:prstGeom prst="roundRect">
            <a:avLst>
              <a:gd name="adj" fmla="val 6000"/>
            </a:avLst>
          </a:prstGeom>
          <a:solidFill>
            <a:srgbClr val="D5B170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604" name="CONC_REEST_PCT"/>
          <p:cNvSpPr txBox="1"/>
          <p:nvPr/>
        </p:nvSpPr>
        <p:spPr>
          <a:xfrm>
            <a:off x="1219200" y="21844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1200" b="0" dirty="0">
                <a:solidFill>
                  <a:srgbClr val="101F2E"/>
                </a:solidFill>
                <a:latin typeface="Aptos"/>
              </a:rPr>
              <a:t>{{CONC_REEST_PCT}}</a:t>
            </a:r>
          </a:p>
        </p:txBody>
      </p:sp>
      <p:pic>
        <p:nvPicPr>
          <p:cNvPr id="700" name="CONC_REEST_ICONE" descr="Seta circular com preenchimento sólid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23900" y="1824480"/>
            <a:ext cx="355600" cy="355600"/>
          </a:xfrm>
          <a:prstGeom prst="rect">
            <a:avLst/>
          </a:prstGeom>
        </p:spPr>
      </p:pic>
      <p:pic>
        <p:nvPicPr>
          <p:cNvPr id="701" name="CONC_TRIB_ICON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970" y="2541624"/>
            <a:ext cx="251460" cy="355600"/>
          </a:xfrm>
          <a:prstGeom prst="rect">
            <a:avLst/>
          </a:prstGeom>
        </p:spPr>
      </p:pic>
      <p:pic>
        <p:nvPicPr>
          <p:cNvPr id="702" name="CONC_TRAB_ICON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900" y="3278224"/>
            <a:ext cx="355600" cy="347980"/>
          </a:xfrm>
          <a:prstGeom prst="rect">
            <a:avLst/>
          </a:prstGeom>
        </p:spPr>
      </p:pic>
      <p:pic>
        <p:nvPicPr>
          <p:cNvPr id="703" name="CONC_CIVEL_ICON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6920" y="4013200"/>
            <a:ext cx="28956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80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457200" y="1270000"/>
            <a:ext cx="7061200" cy="4572000"/>
          </a:xfrm>
          <a:prstGeom prst="roundRect">
            <a:avLst>
              <a:gd name="adj" fmla="val 6000"/>
            </a:avLst>
          </a:prstGeom>
          <a:solidFill>
            <a:srgbClr val="FCF9F5"/>
          </a:solidFill>
          <a:ln>
            <a:noFill/>
          </a:ln>
          <a:effectLst>
            <a:outerShdw blurRad="101600" dist="25400" dir="5400000" algn="t" rotWithShape="0">
              <a:prstClr val="black">
                <a:alpha val="16000"/>
              </a:prstClr>
            </a:outerShdw>
          </a:effectLst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721600" y="1270000"/>
            <a:ext cx="4013200" cy="4572000"/>
          </a:xfrm>
          <a:prstGeom prst="roundRect">
            <a:avLst>
              <a:gd name="adj" fmla="val 6000"/>
            </a:avLst>
          </a:prstGeom>
          <a:solidFill>
            <a:srgbClr val="FCF9F5"/>
          </a:solidFill>
          <a:ln>
            <a:noFill/>
          </a:ln>
          <a:effectLst>
            <a:outerShdw blurRad="101600" dist="254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02920" y="201168"/>
            <a:ext cx="50292" cy="658368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CONCLUSAO_CREDITO"/>
          <p:cNvSpPr txBox="1"/>
          <p:nvPr/>
        </p:nvSpPr>
        <p:spPr>
          <a:xfrm>
            <a:off x="667512" y="164592"/>
            <a:ext cx="3017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11F2D"/>
                </a:solidFill>
                <a:latin typeface="Lato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630936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D2935"/>
                </a:solidFill>
                <a:latin typeface="Aptos"/>
              </a:rPr>
              <a:t>Passivos por área e potencial de recuperação de créditos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571367"/>
            <a:ext cx="5080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200" b="1">
                <a:solidFill>
                  <a:srgbClr val="101F2E"/>
                </a:solidFill>
                <a:latin typeface="Aptos"/>
              </a:rPr>
              <a:t>POTENCIAL PASSIVO POR ÁREA</a:t>
            </a:r>
          </a:p>
        </p:txBody>
      </p:sp>
      <p:sp>
        <p:nvSpPr>
          <p:cNvPr id="15" name="CONC_SEPARADOR"/>
          <p:cNvSpPr/>
          <p:nvPr/>
        </p:nvSpPr>
        <p:spPr>
          <a:xfrm>
            <a:off x="762000" y="3886200"/>
            <a:ext cx="6451600" cy="127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6" name="CONC_TRAB_NOME"/>
          <p:cNvSpPr txBox="1"/>
          <p:nvPr/>
        </p:nvSpPr>
        <p:spPr>
          <a:xfrm>
            <a:off x="1219200" y="1981200"/>
            <a:ext cx="2794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600" b="0">
                <a:solidFill>
                  <a:srgbClr val="101F2E"/>
                </a:solidFill>
                <a:latin typeface="Aptos"/>
              </a:rPr>
              <a:t>Trabalhista</a:t>
            </a:r>
          </a:p>
        </p:txBody>
      </p:sp>
      <p:sp>
        <p:nvSpPr>
          <p:cNvPr id="17" name="CONC_TRAB_VALOR"/>
          <p:cNvSpPr txBox="1"/>
          <p:nvPr/>
        </p:nvSpPr>
        <p:spPr>
          <a:xfrm>
            <a:off x="4064000" y="1981200"/>
            <a:ext cx="3149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pt-BR" sz="1600" b="1">
                <a:solidFill>
                  <a:srgbClr val="101F2E"/>
                </a:solidFill>
                <a:latin typeface="Aptos SemiBold"/>
              </a:rPr>
              <a:t>{{CONC_TRAB_VALOR}}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140200"/>
            <a:ext cx="5080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200" b="1">
                <a:solidFill>
                  <a:srgbClr val="101F2E"/>
                </a:solidFill>
                <a:latin typeface="Aptos"/>
              </a:rPr>
              <a:t>INDICATIVO TOTAL DE PASSIVO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4419600"/>
            <a:ext cx="6350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2800" b="1">
                <a:solidFill>
                  <a:srgbClr val="101F2E"/>
                </a:solidFill>
                <a:latin typeface="Aptos SemiBold"/>
              </a:rPr>
              <a:t>{{CONC_TOTAL}}</a:t>
            </a:r>
          </a:p>
        </p:txBody>
      </p:sp>
      <p:pic>
        <p:nvPicPr>
          <p:cNvPr id="36" name="CONC_TRAB_ICONE">
            <a:hlinkClick r:id="" action="ppaction://noaction"/>
            <a:extLst>
              <a:ext uri="{FF2B5EF4-FFF2-40B4-BE49-F238E27FC236}">
                <a16:creationId xmlns:a16="http://schemas.microsoft.com/office/drawing/2014/main" id="{69FADD36-CC37-9BE5-E3CE-AA3CBB1260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900" y="1930400"/>
            <a:ext cx="355600" cy="342900"/>
          </a:xfrm>
          <a:prstGeom prst="rect">
            <a:avLst/>
          </a:prstGeom>
        </p:spPr>
      </p:pic>
      <p:sp>
        <p:nvSpPr>
          <p:cNvPr id="204" name="CONC_TRAB_TRILHO"/>
          <p:cNvSpPr/>
          <p:nvPr/>
        </p:nvSpPr>
        <p:spPr>
          <a:xfrm>
            <a:off x="1219200" y="2362200"/>
            <a:ext cx="5994400" cy="101600"/>
          </a:xfrm>
          <a:prstGeom prst="roundRect">
            <a:avLst>
              <a:gd name="adj" fmla="val 6000"/>
            </a:avLst>
          </a:prstGeom>
          <a:solidFill>
            <a:srgbClr val="E6DFD3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205" name="CONC_TRAB_BARRA"/>
          <p:cNvSpPr/>
          <p:nvPr/>
        </p:nvSpPr>
        <p:spPr>
          <a:xfrm>
            <a:off x="1219200" y="2362200"/>
            <a:ext cx="5209540" cy="101600"/>
          </a:xfrm>
          <a:prstGeom prst="roundRect">
            <a:avLst>
              <a:gd name="adj" fmla="val 6000"/>
            </a:avLst>
          </a:prstGeom>
          <a:solidFill>
            <a:srgbClr val="D5B170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206" name="CONC_TRAB_PCT"/>
          <p:cNvSpPr txBox="1"/>
          <p:nvPr/>
        </p:nvSpPr>
        <p:spPr>
          <a:xfrm>
            <a:off x="1219200" y="25146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1200" b="0">
                <a:solidFill>
                  <a:srgbClr val="101F2E"/>
                </a:solidFill>
                <a:latin typeface="Aptos"/>
              </a:rPr>
              <a:t>{{CONC_TRAB_PCT}}</a:t>
            </a:r>
          </a:p>
        </p:txBody>
      </p:sp>
      <p:sp>
        <p:nvSpPr>
          <p:cNvPr id="207" name="Shape 207"/>
          <p:cNvSpPr/>
          <p:nvPr/>
        </p:nvSpPr>
        <p:spPr>
          <a:xfrm>
            <a:off x="762000" y="5054600"/>
            <a:ext cx="508000" cy="381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208" name="TextBox 208"/>
          <p:cNvSpPr txBox="1"/>
          <p:nvPr/>
        </p:nvSpPr>
        <p:spPr>
          <a:xfrm>
            <a:off x="762000" y="5232400"/>
            <a:ext cx="6350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0">
                <a:solidFill>
                  <a:srgbClr val="101F2E"/>
                </a:solidFill>
                <a:latin typeface="Aptos"/>
              </a:rPr>
              <a:t>{{CONC_DESCRICAO}}</a:t>
            </a:r>
          </a:p>
        </p:txBody>
      </p:sp>
      <p:sp>
        <p:nvSpPr>
          <p:cNvPr id="304" name="CONC_CIVEL_PCT"/>
          <p:cNvSpPr txBox="1"/>
          <p:nvPr/>
        </p:nvSpPr>
        <p:spPr>
          <a:xfrm>
            <a:off x="1219200" y="34544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1200" b="0">
                <a:solidFill>
                  <a:srgbClr val="101F2E"/>
                </a:solidFill>
                <a:latin typeface="Aptos"/>
              </a:rPr>
              <a:t>{{CONC_CIVEL_PCT}}</a:t>
            </a:r>
          </a:p>
        </p:txBody>
      </p:sp>
      <p:sp>
        <p:nvSpPr>
          <p:cNvPr id="302" name="CONC_CIVEL_TRILHO"/>
          <p:cNvSpPr/>
          <p:nvPr/>
        </p:nvSpPr>
        <p:spPr>
          <a:xfrm>
            <a:off x="1219200" y="3302000"/>
            <a:ext cx="5994400" cy="101600"/>
          </a:xfrm>
          <a:prstGeom prst="roundRect">
            <a:avLst>
              <a:gd name="adj" fmla="val 6000"/>
            </a:avLst>
          </a:prstGeom>
          <a:solidFill>
            <a:srgbClr val="E6DFD3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301" name="CONC_CIVEL_VALOR"/>
          <p:cNvSpPr txBox="1"/>
          <p:nvPr/>
        </p:nvSpPr>
        <p:spPr>
          <a:xfrm>
            <a:off x="4064000" y="2921000"/>
            <a:ext cx="3149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pt-BR" sz="1600" b="1">
                <a:solidFill>
                  <a:srgbClr val="101F2E"/>
                </a:solidFill>
                <a:latin typeface="Aptos SemiBold"/>
              </a:rPr>
              <a:t>{{CONC_CIVEL_VALOR}}</a:t>
            </a:r>
          </a:p>
        </p:txBody>
      </p:sp>
      <p:sp>
        <p:nvSpPr>
          <p:cNvPr id="300" name="CONC_CIVEL_NOME"/>
          <p:cNvSpPr txBox="1"/>
          <p:nvPr/>
        </p:nvSpPr>
        <p:spPr>
          <a:xfrm>
            <a:off x="1219200" y="2921000"/>
            <a:ext cx="2794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600" b="0">
                <a:solidFill>
                  <a:srgbClr val="101F2E"/>
                </a:solidFill>
                <a:latin typeface="Aptos"/>
              </a:rPr>
              <a:t>Cível</a:t>
            </a:r>
          </a:p>
        </p:txBody>
      </p:sp>
      <p:sp>
        <p:nvSpPr>
          <p:cNvPr id="209" name="Credit Header"/>
          <p:cNvSpPr txBox="1"/>
          <p:nvPr/>
        </p:nvSpPr>
        <p:spPr>
          <a:xfrm>
            <a:off x="8314987" y="1545137"/>
            <a:ext cx="3403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pt-BR"/>
            </a:defPPr>
            <a:lvl1pPr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01F2E"/>
                </a:solidFill>
                <a:latin typeface="Aptos"/>
              </a:defRPr>
            </a:lvl1pPr>
          </a:lstStyle>
          <a:p>
            <a:r>
              <a:rPr lang="pt-BR"/>
              <a:t>Recuperação de Créditos</a:t>
            </a:r>
          </a:p>
        </p:txBody>
      </p:sp>
      <p:sp>
        <p:nvSpPr>
          <p:cNvPr id="210" name="Credit Label 1"/>
          <p:cNvSpPr txBox="1"/>
          <p:nvPr/>
        </p:nvSpPr>
        <p:spPr>
          <a:xfrm>
            <a:off x="8026400" y="2691931"/>
            <a:ext cx="34036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800" b="0">
                <a:solidFill>
                  <a:srgbClr val="101F2E"/>
                </a:solidFill>
                <a:latin typeface="Aptos"/>
              </a:rPr>
              <a:t>{{CRED_DESCRICAO}}</a:t>
            </a:r>
          </a:p>
        </p:txBody>
      </p:sp>
      <p:sp>
        <p:nvSpPr>
          <p:cNvPr id="215" name="Credit Total Header"/>
          <p:cNvSpPr txBox="1"/>
          <p:nvPr/>
        </p:nvSpPr>
        <p:spPr>
          <a:xfrm>
            <a:off x="8026400" y="3298939"/>
            <a:ext cx="34036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200" b="1">
                <a:solidFill>
                  <a:srgbClr val="101F2E"/>
                </a:solidFill>
                <a:latin typeface="Aptos"/>
              </a:rPr>
              <a:t>INDICATIVO TOTAL DE CRÉDITO</a:t>
            </a:r>
          </a:p>
        </p:txBody>
      </p:sp>
      <p:sp>
        <p:nvSpPr>
          <p:cNvPr id="216" name="Credit Total Value"/>
          <p:cNvSpPr txBox="1"/>
          <p:nvPr/>
        </p:nvSpPr>
        <p:spPr>
          <a:xfrm>
            <a:off x="8026400" y="3578339"/>
            <a:ext cx="3556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2800" b="1">
                <a:solidFill>
                  <a:srgbClr val="101F2E"/>
                </a:solidFill>
                <a:latin typeface="Aptos SemiBold"/>
              </a:rPr>
              <a:t>{{CRED_TOTAL}}</a:t>
            </a:r>
          </a:p>
        </p:txBody>
      </p:sp>
      <p:sp>
        <p:nvSpPr>
          <p:cNvPr id="217" name="Credit Rule"/>
          <p:cNvSpPr/>
          <p:nvPr/>
        </p:nvSpPr>
        <p:spPr>
          <a:xfrm>
            <a:off x="8026400" y="4213339"/>
            <a:ext cx="508000" cy="38100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218" name="Credit Note"/>
          <p:cNvSpPr txBox="1"/>
          <p:nvPr/>
        </p:nvSpPr>
        <p:spPr>
          <a:xfrm>
            <a:off x="8026400" y="4391139"/>
            <a:ext cx="3403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1400" b="0">
                <a:solidFill>
                  <a:srgbClr val="101F2E"/>
                </a:solidFill>
                <a:latin typeface="Aptos"/>
              </a:rPr>
              <a:t>Valor potencial identificado na frente de recuperação de créditos.</a:t>
            </a:r>
          </a:p>
        </p:txBody>
      </p:sp>
      <p:pic>
        <p:nvPicPr>
          <p:cNvPr id="7" name="Gráfico 6" descr="Escudo com marca de verificação com preenchimento sólido">
            <a:hlinkClick r:id="" action="ppaction://noaction"/>
            <a:extLst>
              <a:ext uri="{FF2B5EF4-FFF2-40B4-BE49-F238E27FC236}">
                <a16:creationId xmlns:a16="http://schemas.microsoft.com/office/drawing/2014/main" id="{5C52CE06-7255-7013-9264-CB50E9952F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858274" y="1503680"/>
            <a:ext cx="320040" cy="320040"/>
          </a:xfrm>
          <a:prstGeom prst="rect">
            <a:avLst/>
          </a:prstGeom>
        </p:spPr>
      </p:pic>
      <p:pic>
        <p:nvPicPr>
          <p:cNvPr id="305" name="CONC_CIVEL_ICONE" descr="Cíve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900" y="2870200"/>
            <a:ext cx="355600" cy="342900"/>
          </a:xfrm>
          <a:prstGeom prst="rect">
            <a:avLst/>
          </a:prstGeom>
        </p:spPr>
      </p:pic>
      <p:sp>
        <p:nvSpPr>
          <p:cNvPr id="303" name="CONC_CIVEL_BARRA"/>
          <p:cNvSpPr/>
          <p:nvPr/>
        </p:nvSpPr>
        <p:spPr>
          <a:xfrm>
            <a:off x="1219200" y="3302000"/>
            <a:ext cx="786130" cy="101600"/>
          </a:xfrm>
          <a:prstGeom prst="roundRect">
            <a:avLst>
              <a:gd name="adj" fmla="val 6000"/>
            </a:avLst>
          </a:prstGeom>
          <a:solidFill>
            <a:srgbClr val="D5B170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306" name="CONC_REEST_NOME"/>
          <p:cNvSpPr txBox="1"/>
          <p:nvPr/>
        </p:nvSpPr>
        <p:spPr>
          <a:xfrm>
            <a:off x="1219200" y="1930400"/>
            <a:ext cx="2794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600" b="0" dirty="0">
                <a:solidFill>
                  <a:srgbClr val="101F2E"/>
                </a:solidFill>
                <a:latin typeface="Aptos"/>
              </a:rPr>
              <a:t>Reestruturação</a:t>
            </a:r>
          </a:p>
        </p:txBody>
      </p:sp>
      <p:sp>
        <p:nvSpPr>
          <p:cNvPr id="307" name="CONC_REEST_VALOR"/>
          <p:cNvSpPr txBox="1"/>
          <p:nvPr/>
        </p:nvSpPr>
        <p:spPr>
          <a:xfrm>
            <a:off x="4064000" y="1930400"/>
            <a:ext cx="3149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pt-BR" sz="1600" b="1" dirty="0">
                <a:solidFill>
                  <a:srgbClr val="101F2E"/>
                </a:solidFill>
                <a:latin typeface="Aptos SemiBold"/>
              </a:rPr>
              <a:t>{{CONC_REEST_VALOR}}</a:t>
            </a:r>
          </a:p>
        </p:txBody>
      </p:sp>
      <p:sp>
        <p:nvSpPr>
          <p:cNvPr id="308" name="CONC_REEST_TRILHO"/>
          <p:cNvSpPr/>
          <p:nvPr/>
        </p:nvSpPr>
        <p:spPr>
          <a:xfrm>
            <a:off x="1219200" y="2209800"/>
            <a:ext cx="5994400" cy="101600"/>
          </a:xfrm>
          <a:prstGeom prst="roundRect">
            <a:avLst>
              <a:gd name="adj" fmla="val 6000"/>
            </a:avLst>
          </a:prstGeom>
          <a:solidFill>
            <a:srgbClr val="E6DFD3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309" name="CONC_REEST_BARRA"/>
          <p:cNvSpPr/>
          <p:nvPr/>
        </p:nvSpPr>
        <p:spPr>
          <a:xfrm>
            <a:off x="1219200" y="2209800"/>
            <a:ext cx="2997200" cy="101600"/>
          </a:xfrm>
          <a:prstGeom prst="roundRect">
            <a:avLst>
              <a:gd name="adj" fmla="val 6000"/>
            </a:avLst>
          </a:prstGeom>
          <a:solidFill>
            <a:srgbClr val="D5B170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310" name="CONC_REEST_PCT"/>
          <p:cNvSpPr txBox="1"/>
          <p:nvPr/>
        </p:nvSpPr>
        <p:spPr>
          <a:xfrm>
            <a:off x="1219200" y="23368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1200" b="0" dirty="0">
                <a:solidFill>
                  <a:srgbClr val="101F2E"/>
                </a:solidFill>
                <a:latin typeface="Aptos"/>
              </a:rPr>
              <a:t>{{CONC_REEST_PCT}}</a:t>
            </a:r>
          </a:p>
        </p:txBody>
      </p:sp>
      <p:pic>
        <p:nvPicPr>
          <p:cNvPr id="311" name="CONC_REEST_ICONE" descr="Seta circular com preenchimento sólid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3900" y="1976880"/>
            <a:ext cx="355600" cy="355600"/>
          </a:xfrm>
          <a:prstGeom prst="rect">
            <a:avLst/>
          </a:prstGeom>
        </p:spPr>
      </p:pic>
      <p:sp>
        <p:nvSpPr>
          <p:cNvPr id="312" name="CONC_TRIB_NOME"/>
          <p:cNvSpPr txBox="1"/>
          <p:nvPr/>
        </p:nvSpPr>
        <p:spPr>
          <a:xfrm>
            <a:off x="1219200" y="1930400"/>
            <a:ext cx="27940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600" b="0" dirty="0">
                <a:solidFill>
                  <a:srgbClr val="101F2E"/>
                </a:solidFill>
                <a:latin typeface="Aptos"/>
              </a:rPr>
              <a:t>Tributário</a:t>
            </a:r>
          </a:p>
        </p:txBody>
      </p:sp>
      <p:sp>
        <p:nvSpPr>
          <p:cNvPr id="313" name="CONC_TRIB_VALOR"/>
          <p:cNvSpPr txBox="1"/>
          <p:nvPr/>
        </p:nvSpPr>
        <p:spPr>
          <a:xfrm>
            <a:off x="4064000" y="1930400"/>
            <a:ext cx="31496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pt-BR" sz="1600" b="1" dirty="0">
                <a:solidFill>
                  <a:srgbClr val="101F2E"/>
                </a:solidFill>
                <a:latin typeface="Aptos SemiBold"/>
              </a:rPr>
              <a:t>{{CONC_TRIB_VALOR}}</a:t>
            </a:r>
          </a:p>
        </p:txBody>
      </p:sp>
      <p:sp>
        <p:nvSpPr>
          <p:cNvPr id="314" name="CONC_TRIB_TRILHO"/>
          <p:cNvSpPr/>
          <p:nvPr/>
        </p:nvSpPr>
        <p:spPr>
          <a:xfrm>
            <a:off x="1219200" y="2209800"/>
            <a:ext cx="5994400" cy="101600"/>
          </a:xfrm>
          <a:prstGeom prst="roundRect">
            <a:avLst>
              <a:gd name="adj" fmla="val 6000"/>
            </a:avLst>
          </a:prstGeom>
          <a:solidFill>
            <a:srgbClr val="E6DFD3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315" name="CONC_TRIB_BARRA"/>
          <p:cNvSpPr/>
          <p:nvPr/>
        </p:nvSpPr>
        <p:spPr>
          <a:xfrm>
            <a:off x="1219200" y="2209800"/>
            <a:ext cx="2997200" cy="101600"/>
          </a:xfrm>
          <a:prstGeom prst="roundRect">
            <a:avLst>
              <a:gd name="adj" fmla="val 6000"/>
            </a:avLst>
          </a:prstGeom>
          <a:solidFill>
            <a:srgbClr val="D5B170"/>
          </a:solidFill>
          <a:ln>
            <a:noFill/>
          </a:ln>
        </p:spPr>
        <p:txBody>
          <a:bodyPr rtlCol="0" anchor="ctr"/>
          <a:lstStyle/>
          <a:p>
            <a:endParaRPr lang="pt-BR">
              <a:solidFill>
                <a:srgbClr val="101F2E"/>
              </a:solidFill>
            </a:endParaRPr>
          </a:p>
        </p:txBody>
      </p:sp>
      <p:sp>
        <p:nvSpPr>
          <p:cNvPr id="316" name="CONC_TRIB_PCT"/>
          <p:cNvSpPr txBox="1"/>
          <p:nvPr/>
        </p:nvSpPr>
        <p:spPr>
          <a:xfrm>
            <a:off x="1219200" y="23368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BR" sz="1200" b="0" dirty="0">
                <a:solidFill>
                  <a:srgbClr val="101F2E"/>
                </a:solidFill>
                <a:latin typeface="Aptos"/>
              </a:rPr>
              <a:t>{{CONC_TRIB_PCT}}</a:t>
            </a:r>
          </a:p>
        </p:txBody>
      </p:sp>
      <p:pic>
        <p:nvPicPr>
          <p:cNvPr id="317" name="CONC_TRIB_ICON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5970" y="1957424"/>
            <a:ext cx="25146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810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B4356-D7C7-6DB6-4832-7104DF4EE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C355C098-786F-82DF-7B0C-663C481BB5EE}"/>
              </a:ext>
            </a:extLst>
          </p:cNvPr>
          <p:cNvSpPr/>
          <p:nvPr/>
        </p:nvSpPr>
        <p:spPr>
          <a:xfrm>
            <a:off x="-4" y="0"/>
            <a:ext cx="12192000" cy="6858000"/>
          </a:xfrm>
          <a:prstGeom prst="rect">
            <a:avLst/>
          </a:prstGeom>
          <a:solidFill>
            <a:srgbClr val="FCF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Espaço Reservado para Conteúdo 12">
            <a:extLst>
              <a:ext uri="{FF2B5EF4-FFF2-40B4-BE49-F238E27FC236}">
                <a16:creationId xmlns:a16="http://schemas.microsoft.com/office/drawing/2014/main" id="{017932FF-6775-1260-F5BE-2DF9D698F4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7" t="1560" r="3524" b="1716"/>
          <a:stretch>
            <a:fillRect/>
          </a:stretch>
        </p:blipFill>
        <p:spPr>
          <a:xfrm rot="5400000">
            <a:off x="2667001" y="-2679144"/>
            <a:ext cx="6858002" cy="1219200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1389A615-BE8B-887F-B444-198F527B8157}"/>
              </a:ext>
            </a:extLst>
          </p:cNvPr>
          <p:cNvSpPr/>
          <p:nvPr/>
        </p:nvSpPr>
        <p:spPr>
          <a:xfrm>
            <a:off x="675767" y="399833"/>
            <a:ext cx="57840" cy="485456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LIDE_SOCIOS">
            <a:extLst>
              <a:ext uri="{FF2B5EF4-FFF2-40B4-BE49-F238E27FC236}">
                <a16:creationId xmlns:a16="http://schemas.microsoft.com/office/drawing/2014/main" id="{A8737DF3-2ADA-554F-31B9-324E8EAFC800}"/>
              </a:ext>
            </a:extLst>
          </p:cNvPr>
          <p:cNvSpPr txBox="1"/>
          <p:nvPr/>
        </p:nvSpPr>
        <p:spPr>
          <a:xfrm>
            <a:off x="733607" y="346688"/>
            <a:ext cx="466430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200" b="1" dirty="0">
                <a:solidFill>
                  <a:srgbClr val="101F2E"/>
                </a:solidFill>
                <a:latin typeface="Lato" panose="020F0502020204030203" pitchFamily="34" charset="0"/>
              </a:rPr>
              <a:t>Sócios</a:t>
            </a:r>
          </a:p>
        </p:txBody>
      </p:sp>
      <p:sp>
        <p:nvSpPr>
          <p:cNvPr id="34" name="Retângulo: Cantos Superiores Arredondados 33">
            <a:extLst>
              <a:ext uri="{FF2B5EF4-FFF2-40B4-BE49-F238E27FC236}">
                <a16:creationId xmlns:a16="http://schemas.microsoft.com/office/drawing/2014/main" id="{AD9853BA-2E99-DEDC-69D1-60F3617F5D0C}"/>
              </a:ext>
            </a:extLst>
          </p:cNvPr>
          <p:cNvSpPr/>
          <p:nvPr/>
        </p:nvSpPr>
        <p:spPr>
          <a:xfrm>
            <a:off x="4242608" y="5743522"/>
            <a:ext cx="3706762" cy="1126621"/>
          </a:xfrm>
          <a:prstGeom prst="round2SameRect">
            <a:avLst>
              <a:gd name="adj1" fmla="val 18197"/>
              <a:gd name="adj2" fmla="val 0"/>
            </a:avLst>
          </a:prstGeom>
          <a:gradFill>
            <a:gsLst>
              <a:gs pos="100000">
                <a:srgbClr val="D5B170">
                  <a:alpha val="44000"/>
                </a:srgbClr>
              </a:gs>
              <a:gs pos="76000">
                <a:srgbClr val="D5B170">
                  <a:alpha val="45000"/>
                </a:srgbClr>
              </a:gs>
              <a:gs pos="0">
                <a:srgbClr val="D5B170">
                  <a:alpha val="10000"/>
                </a:srgbClr>
              </a:gs>
            </a:gsLst>
            <a:lin ang="5400000" scaled="1"/>
          </a:gradFill>
          <a:ln>
            <a:solidFill>
              <a:srgbClr val="D5B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Superiores Arredondados 31">
            <a:extLst>
              <a:ext uri="{FF2B5EF4-FFF2-40B4-BE49-F238E27FC236}">
                <a16:creationId xmlns:a16="http://schemas.microsoft.com/office/drawing/2014/main" id="{453A3AB2-A19C-5775-FF39-135621D9D165}"/>
              </a:ext>
            </a:extLst>
          </p:cNvPr>
          <p:cNvSpPr/>
          <p:nvPr/>
        </p:nvSpPr>
        <p:spPr>
          <a:xfrm>
            <a:off x="4242610" y="5980324"/>
            <a:ext cx="3706762" cy="889819"/>
          </a:xfrm>
          <a:prstGeom prst="round2SameRect">
            <a:avLst>
              <a:gd name="adj1" fmla="val 34347"/>
              <a:gd name="adj2" fmla="val 0"/>
            </a:avLst>
          </a:prstGeom>
          <a:solidFill>
            <a:srgbClr val="D5B170"/>
          </a:solidFill>
          <a:ln>
            <a:gradFill>
              <a:gsLst>
                <a:gs pos="100000">
                  <a:srgbClr val="D5B170">
                    <a:alpha val="38000"/>
                  </a:srgbClr>
                </a:gs>
                <a:gs pos="0">
                  <a:srgbClr val="D5B170">
                    <a:alpha val="43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51F0822-2577-84F9-7E84-6582964BF192}"/>
              </a:ext>
            </a:extLst>
          </p:cNvPr>
          <p:cNvSpPr txBox="1"/>
          <p:nvPr/>
        </p:nvSpPr>
        <p:spPr>
          <a:xfrm>
            <a:off x="4916128" y="5731375"/>
            <a:ext cx="2259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101F2E"/>
                </a:solidFill>
              </a:rPr>
              <a:t>Clique nos ícones para interagir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BE606D22-4C9F-9539-486E-DF7B41BCCFA5}"/>
              </a:ext>
            </a:extLst>
          </p:cNvPr>
          <p:cNvSpPr txBox="1"/>
          <p:nvPr/>
        </p:nvSpPr>
        <p:spPr>
          <a:xfrm>
            <a:off x="5397911" y="6492875"/>
            <a:ext cx="1415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solidFill>
                  <a:srgbClr val="FCF9F5"/>
                </a:solidFill>
              </a:rPr>
              <a:t>@bismarchipires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D6FB0D52-E969-C8DB-253C-90D6291F7990}"/>
              </a:ext>
            </a:extLst>
          </p:cNvPr>
          <p:cNvCxnSpPr/>
          <p:nvPr/>
        </p:nvCxnSpPr>
        <p:spPr>
          <a:xfrm>
            <a:off x="5090111" y="5979493"/>
            <a:ext cx="1911958" cy="0"/>
          </a:xfrm>
          <a:prstGeom prst="line">
            <a:avLst/>
          </a:prstGeom>
          <a:ln>
            <a:gradFill>
              <a:gsLst>
                <a:gs pos="100000">
                  <a:srgbClr val="D5B170">
                    <a:alpha val="0"/>
                  </a:srgbClr>
                </a:gs>
                <a:gs pos="38000">
                  <a:srgbClr val="F0E3CC"/>
                </a:gs>
                <a:gs pos="70000">
                  <a:srgbClr val="E7D3AE"/>
                </a:gs>
                <a:gs pos="54400">
                  <a:schemeClr val="bg1"/>
                </a:gs>
                <a:gs pos="0">
                  <a:srgbClr val="D5B17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0E1A10C4-7329-6872-6F9E-B68775820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134" y="6154242"/>
            <a:ext cx="280914" cy="28091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7B704E7-1201-E937-3CDA-12B4D02F0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318" y="6154083"/>
            <a:ext cx="266133" cy="318806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0E51A7F-9AE4-FAF7-1CC6-EBD087030D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810" y="6137727"/>
            <a:ext cx="313945" cy="313945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BAF5471E-0FF2-7240-F10C-706CB45C14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118" y="6165159"/>
            <a:ext cx="262129" cy="259081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47D9A1C4-360B-6295-4701-29BC4FE7BA8E}"/>
              </a:ext>
            </a:extLst>
          </p:cNvPr>
          <p:cNvGrpSpPr/>
          <p:nvPr/>
        </p:nvGrpSpPr>
        <p:grpSpPr>
          <a:xfrm>
            <a:off x="2741099" y="1218937"/>
            <a:ext cx="6709803" cy="4339668"/>
            <a:chOff x="2806983" y="1218937"/>
            <a:chExt cx="6709803" cy="4339668"/>
          </a:xfrm>
        </p:grpSpPr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537F6431-480C-EA67-2A9D-6A1F698C0074}"/>
                </a:ext>
              </a:extLst>
            </p:cNvPr>
            <p:cNvGrpSpPr/>
            <p:nvPr/>
          </p:nvGrpSpPr>
          <p:grpSpPr>
            <a:xfrm>
              <a:off x="7002069" y="1278151"/>
              <a:ext cx="2514717" cy="4280454"/>
              <a:chOff x="7520803" y="1164595"/>
              <a:chExt cx="2514717" cy="4280454"/>
            </a:xfrm>
          </p:grpSpPr>
          <p:pic>
            <p:nvPicPr>
              <p:cNvPr id="25" name="Imagem 24">
                <a:extLst>
                  <a:ext uri="{FF2B5EF4-FFF2-40B4-BE49-F238E27FC236}">
                    <a16:creationId xmlns:a16="http://schemas.microsoft.com/office/drawing/2014/main" id="{117F6D66-0365-81EB-1C67-7A5BE21A6E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178" t="-72" r="2811" b="-199"/>
              <a:stretch>
                <a:fillRect/>
              </a:stretch>
            </p:blipFill>
            <p:spPr>
              <a:xfrm>
                <a:off x="7520803" y="1164595"/>
                <a:ext cx="2504666" cy="4280454"/>
              </a:xfrm>
              <a:prstGeom prst="roundRect">
                <a:avLst/>
              </a:prstGeom>
            </p:spPr>
          </p:pic>
          <p:sp>
            <p:nvSpPr>
              <p:cNvPr id="29" name="Retângulo: Cantos Arredondados 28">
                <a:extLst>
                  <a:ext uri="{FF2B5EF4-FFF2-40B4-BE49-F238E27FC236}">
                    <a16:creationId xmlns:a16="http://schemas.microsoft.com/office/drawing/2014/main" id="{9694F2FE-1674-35FE-66B1-A81F88F5A3B5}"/>
                  </a:ext>
                </a:extLst>
              </p:cNvPr>
              <p:cNvSpPr/>
              <p:nvPr/>
            </p:nvSpPr>
            <p:spPr>
              <a:xfrm>
                <a:off x="7530859" y="1164596"/>
                <a:ext cx="2504661" cy="4280453"/>
              </a:xfrm>
              <a:prstGeom prst="roundRect">
                <a:avLst/>
              </a:prstGeom>
              <a:gradFill>
                <a:gsLst>
                  <a:gs pos="80000">
                    <a:srgbClr val="101F2E">
                      <a:alpha val="49000"/>
                    </a:srgbClr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1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101F2E"/>
                  </a:gs>
                </a:gsLst>
                <a:lin ang="5400000" scaled="1"/>
              </a:gradFill>
              <a:ln w="6350">
                <a:solidFill>
                  <a:srgbClr val="D5B170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" name="Retângulo: Cantos Arredondados 18">
                <a:extLst>
                  <a:ext uri="{FF2B5EF4-FFF2-40B4-BE49-F238E27FC236}">
                    <a16:creationId xmlns:a16="http://schemas.microsoft.com/office/drawing/2014/main" id="{AB7F6E1C-4252-BD70-D368-DA3C000530D5}"/>
                  </a:ext>
                </a:extLst>
              </p:cNvPr>
              <p:cNvSpPr/>
              <p:nvPr/>
            </p:nvSpPr>
            <p:spPr>
              <a:xfrm>
                <a:off x="7649913" y="4673708"/>
                <a:ext cx="2160105" cy="322363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D5B1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>
                    <a:latin typeface="Aptos Light" panose="020B0004020202020204" pitchFamily="34" charset="0"/>
                  </a:rPr>
                  <a:t>Ricardo V. Pires</a:t>
                </a:r>
              </a:p>
            </p:txBody>
          </p:sp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18DD6EC2-FA9B-722F-DFBB-21A12CC2D5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42903" y="5117825"/>
                <a:ext cx="202200" cy="203974"/>
              </a:xfrm>
              <a:prstGeom prst="rect">
                <a:avLst/>
              </a:prstGeom>
            </p:spPr>
          </p:pic>
          <p:pic>
            <p:nvPicPr>
              <p:cNvPr id="10" name="Imagem 9">
                <a:extLst>
                  <a:ext uri="{FF2B5EF4-FFF2-40B4-BE49-F238E27FC236}">
                    <a16:creationId xmlns:a16="http://schemas.microsoft.com/office/drawing/2014/main" id="{22035CEB-EE46-01DB-59A2-7FC9C14B2E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81729" y="5093794"/>
                <a:ext cx="203974" cy="203974"/>
              </a:xfrm>
              <a:prstGeom prst="rect">
                <a:avLst/>
              </a:prstGeom>
            </p:spPr>
          </p:pic>
          <p:pic>
            <p:nvPicPr>
              <p:cNvPr id="24" name="Imagem 23">
                <a:extLst>
                  <a:ext uri="{FF2B5EF4-FFF2-40B4-BE49-F238E27FC236}">
                    <a16:creationId xmlns:a16="http://schemas.microsoft.com/office/drawing/2014/main" id="{DFD1EC54-1418-92D7-1F40-E44F463545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22329" y="5146919"/>
                <a:ext cx="202200" cy="159982"/>
              </a:xfrm>
              <a:prstGeom prst="rect">
                <a:avLst/>
              </a:prstGeom>
            </p:spPr>
          </p:pic>
        </p:grp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68FCD2B0-51DE-4D82-D726-D1CB0E105AA8}"/>
                </a:ext>
              </a:extLst>
            </p:cNvPr>
            <p:cNvGrpSpPr/>
            <p:nvPr/>
          </p:nvGrpSpPr>
          <p:grpSpPr>
            <a:xfrm>
              <a:off x="2806983" y="1218937"/>
              <a:ext cx="2514720" cy="4288929"/>
              <a:chOff x="1838836" y="1156120"/>
              <a:chExt cx="2514720" cy="4288929"/>
            </a:xfrm>
          </p:grpSpPr>
          <p:pic>
            <p:nvPicPr>
              <p:cNvPr id="27" name="Imagem 26">
                <a:extLst>
                  <a:ext uri="{FF2B5EF4-FFF2-40B4-BE49-F238E27FC236}">
                    <a16:creationId xmlns:a16="http://schemas.microsoft.com/office/drawing/2014/main" id="{66A9A4F8-AB6E-6865-9F77-F6D74814EF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289" t="25917" r="10784" b="29384"/>
              <a:stretch>
                <a:fillRect/>
              </a:stretch>
            </p:blipFill>
            <p:spPr>
              <a:xfrm rot="16200000">
                <a:off x="950941" y="2044015"/>
                <a:ext cx="4280453" cy="2504664"/>
              </a:xfrm>
              <a:prstGeom prst="roundRect">
                <a:avLst/>
              </a:prstGeom>
            </p:spPr>
          </p:pic>
          <p:sp>
            <p:nvSpPr>
              <p:cNvPr id="12" name="Retângulo: Cantos Arredondados 11">
                <a:extLst>
                  <a:ext uri="{FF2B5EF4-FFF2-40B4-BE49-F238E27FC236}">
                    <a16:creationId xmlns:a16="http://schemas.microsoft.com/office/drawing/2014/main" id="{3B89A9C1-705A-A602-1262-834FA4D94150}"/>
                  </a:ext>
                </a:extLst>
              </p:cNvPr>
              <p:cNvSpPr/>
              <p:nvPr/>
            </p:nvSpPr>
            <p:spPr>
              <a:xfrm>
                <a:off x="1848895" y="1164596"/>
                <a:ext cx="2504661" cy="4280453"/>
              </a:xfrm>
              <a:prstGeom prst="roundRect">
                <a:avLst/>
              </a:prstGeom>
              <a:gradFill>
                <a:gsLst>
                  <a:gs pos="80000">
                    <a:srgbClr val="101F2E">
                      <a:alpha val="49000"/>
                    </a:srgbClr>
                  </a:gs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31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rgbClr val="101F2E"/>
                  </a:gs>
                </a:gsLst>
                <a:lin ang="5400000" scaled="1"/>
              </a:gradFill>
              <a:ln w="6350">
                <a:solidFill>
                  <a:srgbClr val="D5B170">
                    <a:alpha val="46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F3B2E7B5-AA9C-25D9-86C2-5498798DECAC}"/>
                  </a:ext>
                </a:extLst>
              </p:cNvPr>
              <p:cNvSpPr/>
              <p:nvPr/>
            </p:nvSpPr>
            <p:spPr>
              <a:xfrm>
                <a:off x="1985704" y="4673707"/>
                <a:ext cx="2160105" cy="322363"/>
              </a:xfrm>
              <a:prstGeom prst="roundRect">
                <a:avLst>
                  <a:gd name="adj" fmla="val 50000"/>
                </a:avLst>
              </a:prstGeom>
              <a:noFill/>
              <a:ln w="6350">
                <a:solidFill>
                  <a:srgbClr val="D5B1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>
                    <a:latin typeface="Aptos Light" panose="020B0004020202020204" pitchFamily="34" charset="0"/>
                  </a:rPr>
                  <a:t>Gustavo Bismarchi</a:t>
                </a:r>
              </a:p>
            </p:txBody>
          </p:sp>
          <p:pic>
            <p:nvPicPr>
              <p:cNvPr id="28" name="Imagem 27">
                <a:extLst>
                  <a:ext uri="{FF2B5EF4-FFF2-40B4-BE49-F238E27FC236}">
                    <a16:creationId xmlns:a16="http://schemas.microsoft.com/office/drawing/2014/main" id="{BC7E9E32-8239-519B-C5C3-A9CCC8B35C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92373" y="5108692"/>
                <a:ext cx="202200" cy="203974"/>
              </a:xfrm>
              <a:prstGeom prst="rect">
                <a:avLst/>
              </a:prstGeom>
            </p:spPr>
          </p:pic>
          <p:pic>
            <p:nvPicPr>
              <p:cNvPr id="33" name="Imagem 32">
                <a:extLst>
                  <a:ext uri="{FF2B5EF4-FFF2-40B4-BE49-F238E27FC236}">
                    <a16:creationId xmlns:a16="http://schemas.microsoft.com/office/drawing/2014/main" id="{2D02F742-53E1-0445-C6E9-6E2CAAAFDF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31199" y="5084661"/>
                <a:ext cx="203974" cy="203974"/>
              </a:xfrm>
              <a:prstGeom prst="rect">
                <a:avLst/>
              </a:prstGeom>
            </p:spPr>
          </p:pic>
          <p:pic>
            <p:nvPicPr>
              <p:cNvPr id="38" name="Imagem 37">
                <a:extLst>
                  <a:ext uri="{FF2B5EF4-FFF2-40B4-BE49-F238E27FC236}">
                    <a16:creationId xmlns:a16="http://schemas.microsoft.com/office/drawing/2014/main" id="{5DC803AF-85D3-5824-BCA1-4270698AB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71799" y="5137786"/>
                <a:ext cx="202200" cy="159982"/>
              </a:xfrm>
              <a:prstGeom prst="rect">
                <a:avLst/>
              </a:prstGeom>
            </p:spPr>
          </p:pic>
        </p:grpSp>
      </p:grpSp>
      <p:pic>
        <p:nvPicPr>
          <p:cNvPr id="47" name="Imagem 46">
            <a:extLst>
              <a:ext uri="{FF2B5EF4-FFF2-40B4-BE49-F238E27FC236}">
                <a16:creationId xmlns:a16="http://schemas.microsoft.com/office/drawing/2014/main" id="{1AD36A02-4CBE-FB1D-DE96-07D68A0A0A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611" y="6111602"/>
            <a:ext cx="313944" cy="3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25338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tângulo 2">
            <a:extLst>
              <a:ext uri="{FF2B5EF4-FFF2-40B4-BE49-F238E27FC236}">
                <a16:creationId xmlns:a16="http://schemas.microsoft.com/office/drawing/2014/main" id="{1E929E3A-FB73-ECCE-C254-45D728BCD385}"/>
              </a:ext>
            </a:extLst>
          </p:cNvPr>
          <p:cNvSpPr/>
          <p:nvPr/>
        </p:nvSpPr>
        <p:spPr>
          <a:xfrm>
            <a:off x="0" y="-98385"/>
            <a:ext cx="12273023" cy="6956385"/>
          </a:xfrm>
          <a:prstGeom prst="rect">
            <a:avLst/>
          </a:prstGeom>
          <a:solidFill>
            <a:srgbClr val="EBE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32472A8-9E26-017C-AD68-ECCEFF52D27A}"/>
              </a:ext>
            </a:extLst>
          </p:cNvPr>
          <p:cNvSpPr/>
          <p:nvPr/>
        </p:nvSpPr>
        <p:spPr>
          <a:xfrm>
            <a:off x="7406640" y="109728"/>
            <a:ext cx="4626864" cy="640080"/>
          </a:xfrm>
          <a:prstGeom prst="roundRect">
            <a:avLst>
              <a:gd name="adj" fmla="val 14012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7" name="SLIDE_LISTA">
            <a:extLst>
              <a:ext uri="{FF2B5EF4-FFF2-40B4-BE49-F238E27FC236}">
                <a16:creationId xmlns:a16="http://schemas.microsoft.com/office/drawing/2014/main" id="{0C451E3D-F69E-F9BF-4AEC-943453D63FF8}"/>
              </a:ext>
            </a:extLst>
          </p:cNvPr>
          <p:cNvSpPr txBox="1"/>
          <p:nvPr/>
        </p:nvSpPr>
        <p:spPr>
          <a:xfrm>
            <a:off x="533248" y="181286"/>
            <a:ext cx="121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rgbClr val="101F2E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{{LISTA_AREA}}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4408662-9885-C861-59C8-7275DF9D6140}"/>
              </a:ext>
            </a:extLst>
          </p:cNvPr>
          <p:cNvSpPr/>
          <p:nvPr/>
        </p:nvSpPr>
        <p:spPr>
          <a:xfrm>
            <a:off x="490536" y="285375"/>
            <a:ext cx="45719" cy="438151"/>
          </a:xfrm>
          <a:prstGeom prst="rect">
            <a:avLst/>
          </a:prstGeom>
          <a:solidFill>
            <a:srgbClr val="D5B1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  <a:latin typeface="Aptos" panose="020B0004020202020204" pitchFamily="34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F0A0AFE6-6188-A0D0-A1AE-A254FE63E008}"/>
              </a:ext>
            </a:extLst>
          </p:cNvPr>
          <p:cNvSpPr/>
          <p:nvPr/>
        </p:nvSpPr>
        <p:spPr>
          <a:xfrm>
            <a:off x="7498079" y="173736"/>
            <a:ext cx="512064" cy="512064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343FC55-A50F-1A72-7D95-165A91793122}"/>
              </a:ext>
            </a:extLst>
          </p:cNvPr>
          <p:cNvSpPr txBox="1"/>
          <p:nvPr/>
        </p:nvSpPr>
        <p:spPr>
          <a:xfrm>
            <a:off x="8065008" y="283464"/>
            <a:ext cx="192024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{{LISTA_L_VALOR}}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9679602-1EC7-6491-94D4-E91F038A823D}"/>
              </a:ext>
            </a:extLst>
          </p:cNvPr>
          <p:cNvSpPr txBox="1"/>
          <p:nvPr/>
        </p:nvSpPr>
        <p:spPr>
          <a:xfrm>
            <a:off x="9985248" y="228600"/>
            <a:ext cx="201168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01F2E"/>
                </a:solidFill>
              </a:rPr>
              <a:t>{{LISTA_VALOR}}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598E0DBE-A2FB-A3ED-6E45-94681F52A321}"/>
              </a:ext>
            </a:extLst>
          </p:cNvPr>
          <p:cNvCxnSpPr>
            <a:cxnSpLocks/>
          </p:cNvCxnSpPr>
          <p:nvPr/>
        </p:nvCxnSpPr>
        <p:spPr>
          <a:xfrm>
            <a:off x="9930384" y="201168"/>
            <a:ext cx="0" cy="457200"/>
          </a:xfrm>
          <a:prstGeom prst="line">
            <a:avLst/>
          </a:prstGeom>
          <a:ln>
            <a:solidFill>
              <a:srgbClr val="D5B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CF89854D-1450-DBD3-AFD0-BBA1EED1467A}"/>
              </a:ext>
            </a:extLst>
          </p:cNvPr>
          <p:cNvSpPr/>
          <p:nvPr/>
        </p:nvSpPr>
        <p:spPr>
          <a:xfrm>
            <a:off x="155448" y="896112"/>
            <a:ext cx="11878056" cy="5815584"/>
          </a:xfrm>
          <a:prstGeom prst="roundRect">
            <a:avLst>
              <a:gd name="adj" fmla="val 9038"/>
            </a:avLst>
          </a:prstGeom>
          <a:solidFill>
            <a:srgbClr val="FCF9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8D0357B4-8FAE-1563-0E9C-2A9EFE8E8982}"/>
              </a:ext>
            </a:extLst>
          </p:cNvPr>
          <p:cNvSpPr/>
          <p:nvPr/>
        </p:nvSpPr>
        <p:spPr>
          <a:xfrm>
            <a:off x="274320" y="1005840"/>
            <a:ext cx="512064" cy="512064"/>
          </a:xfrm>
          <a:prstGeom prst="ellipse">
            <a:avLst/>
          </a:prstGeom>
          <a:solidFill>
            <a:srgbClr val="D5B17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01F2E"/>
              </a:solidFill>
            </a:endParaRP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CDBD625D-EEA0-78A2-65B8-EB7392B4BEAF}"/>
              </a:ext>
            </a:extLst>
          </p:cNvPr>
          <p:cNvSpPr txBox="1"/>
          <p:nvPr/>
        </p:nvSpPr>
        <p:spPr>
          <a:xfrm>
            <a:off x="868680" y="1097280"/>
            <a:ext cx="5486400" cy="292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101F2E"/>
                </a:solidFill>
              </a:rPr>
              <a:t>{{LISTA_TITULO}}</a:t>
            </a:r>
          </a:p>
        </p:txBody>
      </p:sp>
      <p:pic>
        <p:nvPicPr>
          <p:cNvPr id="182" name="Gráfico 181" descr="Engrenagem única com preenchimento sólido">
            <a:extLst>
              <a:ext uri="{FF2B5EF4-FFF2-40B4-BE49-F238E27FC236}">
                <a16:creationId xmlns:a16="http://schemas.microsoft.com/office/drawing/2014/main" id="{0DFAF29E-CE68-FED1-FDC4-1B3AFE825C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184" y="1060704"/>
            <a:ext cx="402336" cy="402336"/>
          </a:xfrm>
          <a:prstGeom prst="rect">
            <a:avLst/>
          </a:prstGeom>
        </p:spPr>
      </p:pic>
      <p:pic>
        <p:nvPicPr>
          <p:cNvPr id="194" name="Gráfico 193" descr="Moedas com preenchimento sólido">
            <a:extLst>
              <a:ext uri="{FF2B5EF4-FFF2-40B4-BE49-F238E27FC236}">
                <a16:creationId xmlns:a16="http://schemas.microsoft.com/office/drawing/2014/main" id="{66646BF9-D14C-8871-4D8D-F4CB0BC0B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2088" y="237744"/>
            <a:ext cx="384048" cy="384048"/>
          </a:xfrm>
          <a:prstGeom prst="rect">
            <a:avLst/>
          </a:prstGeom>
        </p:spPr>
      </p:pic>
      <p:graphicFrame>
        <p:nvGraphicFramePr>
          <p:cNvPr id="52" name="TBL_LISTA">
            <a:extLst>
              <a:ext uri="{FF2B5EF4-FFF2-40B4-BE49-F238E27FC236}">
                <a16:creationId xmlns:a16="http://schemas.microsoft.com/office/drawing/2014/main" id="{AF715C4D-10E0-8471-7A22-D8EB274B367E}"/>
              </a:ext>
            </a:extLst>
          </p:cNvPr>
          <p:cNvGraphicFramePr>
            <a:graphicFrameLocks noGrp="1"/>
          </p:cNvGraphicFramePr>
          <p:nvPr/>
        </p:nvGraphicFramePr>
        <p:xfrm>
          <a:off x="365760" y="1627632"/>
          <a:ext cx="11457432" cy="2293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3425333494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74473294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330039978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899618709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3613435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900" dirty="0"/>
                        <a:t>Processo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{{LISTA_L_PARTE_A}}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{{LISTA_L_PARTE_B}}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{{LISTA_L_VALOR_COL}}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{{LISTA_L_INFO}}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431372"/>
                  </a:ext>
                </a:extLst>
              </a:tr>
              <a:tr h="402001">
                <a:tc>
                  <a:txBody>
                    <a:bodyPr/>
                    <a:lstStyle/>
                    <a:p>
                      <a:r>
                        <a:rPr lang="pt-BR" sz="800" dirty="0"/>
                        <a:t>{{row.processo}}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{{row.parteA}}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{{row.parteB}}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{{row.valor}}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{{row.info}}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2240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73DDAF-58EC-48F1-9398-57268EDE333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623dbee-50c1-42a0-aa66-1614e12dbf0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2502</Words>
  <Application>Microsoft Office PowerPoint</Application>
  <PresentationFormat>Widescreen</PresentationFormat>
  <Paragraphs>496</Paragraphs>
  <Slides>24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2" baseType="lpstr">
      <vt:lpstr>Aptos</vt:lpstr>
      <vt:lpstr>Aptos Black</vt:lpstr>
      <vt:lpstr>Aptos Display</vt:lpstr>
      <vt:lpstr>Aptos Light</vt:lpstr>
      <vt:lpstr>Aptos SemiBold</vt:lpstr>
      <vt:lpstr>Arial</vt:lpstr>
      <vt:lpstr>Lato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Marques Silva</dc:creator>
  <cp:lastModifiedBy>Leonardo Marques Silva</cp:lastModifiedBy>
  <cp:revision>1</cp:revision>
  <dcterms:created xsi:type="dcterms:W3CDTF">2026-10-20T13:30:59Z</dcterms:created>
  <dcterms:modified xsi:type="dcterms:W3CDTF">2026-10-20T13:49:06Z</dcterms:modified>
</cp:coreProperties>
</file>